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embeddedFontLst>
    <p:embeddedFont>
      <p:font typeface="Garamond" panose="02020404030301010803" pitchFamily="18" charset="0"/>
      <p:regular r:id="rId31"/>
      <p:bold r:id="rId32"/>
      <p:italic r:id="rId33"/>
      <p:boldItalic r:id="rId34"/>
    </p:embeddedFont>
    <p:embeddedFont>
      <p:font typeface="Noto Sans" panose="020B0502040504020204" pitchFamily="34" charset="0"/>
      <p:regular r:id="rId35"/>
      <p:bold r:id="rId36"/>
      <p:italic r:id="rId37"/>
      <p:boldItalic r:id="rId38"/>
    </p:embeddedFont>
    <p:embeddedFont>
      <p:font typeface="Roboto Mono" panose="00000009000000000000" pitchFamily="49"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81F1B4-83E2-4D3B-8345-693ECB83A873}">
  <a:tblStyle styleId="{FC81F1B4-83E2-4D3B-8345-693ECB83A87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046" autoAdjust="0"/>
  </p:normalViewPr>
  <p:slideViewPr>
    <p:cSldViewPr snapToGrid="0">
      <p:cViewPr varScale="1">
        <p:scale>
          <a:sx n="70" d="100"/>
          <a:sy n="70" d="100"/>
        </p:scale>
        <p:origin x="906"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a:t>Discussion </a:t>
            </a:r>
            <a:r>
              <a:rPr lang="en-US" sz="1100" b="1" dirty="0"/>
              <a:t>Post:</a:t>
            </a:r>
            <a:endParaRPr sz="1100" b="1" dirty="0"/>
          </a:p>
          <a:p>
            <a:pPr marL="0" lvl="0" indent="0" algn="l" rtl="0">
              <a:lnSpc>
                <a:spcPct val="115000"/>
              </a:lnSpc>
              <a:spcBef>
                <a:spcPts val="1200"/>
              </a:spcBef>
              <a:spcAft>
                <a:spcPts val="0"/>
              </a:spcAft>
              <a:buNone/>
            </a:pPr>
            <a:r>
              <a:rPr lang="en-US" sz="1100" dirty="0"/>
              <a:t>will generate a 1–2 page summary document based on our presentation slides using Overleaf.</a:t>
            </a:r>
            <a:endParaRPr sz="1100" dirty="0"/>
          </a:p>
          <a:p>
            <a:pPr marL="0" lvl="0" indent="0" algn="l" rtl="0">
              <a:lnSpc>
                <a:spcPct val="115000"/>
              </a:lnSpc>
              <a:spcBef>
                <a:spcPts val="1200"/>
              </a:spcBef>
              <a:spcAft>
                <a:spcPts val="0"/>
              </a:spcAft>
              <a:buNone/>
            </a:pPr>
            <a:r>
              <a:rPr lang="en-US" sz="1100" dirty="0"/>
              <a:t>will share the Overleaf link by Sunday.</a:t>
            </a:r>
            <a:endParaRPr sz="1100" dirty="0"/>
          </a:p>
          <a:p>
            <a:pPr marL="0" lvl="0" indent="0" algn="l" rtl="0">
              <a:lnSpc>
                <a:spcPct val="115000"/>
              </a:lnSpc>
              <a:spcBef>
                <a:spcPts val="1200"/>
              </a:spcBef>
              <a:spcAft>
                <a:spcPts val="0"/>
              </a:spcAft>
              <a:buClr>
                <a:schemeClr val="dk1"/>
              </a:buClr>
              <a:buSzPts val="1100"/>
              <a:buFont typeface="Arial"/>
              <a:buNone/>
            </a:pPr>
            <a:r>
              <a:rPr lang="en-US" sz="1100" b="1" dirty="0"/>
              <a:t>Code Submission:</a:t>
            </a:r>
            <a:endParaRPr sz="1100" b="1" dirty="0"/>
          </a:p>
          <a:p>
            <a:pPr marL="0" lvl="0" indent="0" algn="l" rtl="0">
              <a:lnSpc>
                <a:spcPct val="115000"/>
              </a:lnSpc>
              <a:spcBef>
                <a:spcPts val="1200"/>
              </a:spcBef>
              <a:spcAft>
                <a:spcPts val="0"/>
              </a:spcAft>
              <a:buNone/>
            </a:pPr>
            <a:r>
              <a:rPr lang="en-US" sz="1100" dirty="0"/>
              <a:t>No need to translate or combine the code files.</a:t>
            </a:r>
            <a:endParaRPr sz="1100" dirty="0"/>
          </a:p>
          <a:p>
            <a:pPr marL="0" lvl="0" indent="0" algn="l" rtl="0">
              <a:lnSpc>
                <a:spcPct val="115000"/>
              </a:lnSpc>
              <a:spcBef>
                <a:spcPts val="1200"/>
              </a:spcBef>
              <a:spcAft>
                <a:spcPts val="0"/>
              </a:spcAft>
              <a:buNone/>
            </a:pPr>
            <a:r>
              <a:rPr lang="en-US" sz="1100" dirty="0"/>
              <a:t>ill submit the two main code files separately, along with a README file explaining the purpose of each code (e.g., EDA, XGBoost modeling, etc.).</a:t>
            </a:r>
            <a:endParaRPr sz="1100" dirty="0"/>
          </a:p>
          <a:p>
            <a:pPr marL="0" lvl="0" indent="0" algn="l" rtl="0">
              <a:lnSpc>
                <a:spcPct val="115000"/>
              </a:lnSpc>
              <a:spcBef>
                <a:spcPts val="1200"/>
              </a:spcBef>
              <a:spcAft>
                <a:spcPts val="0"/>
              </a:spcAft>
              <a:buClr>
                <a:schemeClr val="dk1"/>
              </a:buClr>
              <a:buSzPts val="1100"/>
              <a:buFont typeface="Arial"/>
              <a:buNone/>
            </a:pPr>
            <a:endParaRPr sz="1100" dirty="0"/>
          </a:p>
          <a:p>
            <a:pPr marL="0" lvl="0" indent="0" algn="l" rtl="0">
              <a:spcBef>
                <a:spcPts val="0"/>
              </a:spcBef>
              <a:spcAft>
                <a:spcPts val="0"/>
              </a:spcAft>
              <a:buNone/>
            </a:pPr>
            <a:endParaRPr dirty="0"/>
          </a:p>
        </p:txBody>
      </p:sp>
      <p:sp>
        <p:nvSpPr>
          <p:cNvPr id="89" name="Google Shape;8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5157c4be45_1_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g35157c4be45_1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100"/>
              <a:buFont typeface="Arial"/>
              <a:buNone/>
            </a:pPr>
            <a:r>
              <a:rPr lang="en-US"/>
              <a:t>it’s real-world data, including survey questionnaires, so many records had wrong values or missing values … (very dirty)</a:t>
            </a:r>
            <a:endParaRPr/>
          </a:p>
          <a:p>
            <a:pPr marL="0" lvl="0" indent="0" algn="l" rtl="0">
              <a:spcBef>
                <a:spcPts val="0"/>
              </a:spcBef>
              <a:spcAft>
                <a:spcPts val="0"/>
              </a:spcAft>
              <a:buClr>
                <a:srgbClr val="000000"/>
              </a:buClr>
              <a:buSzPts val="1100"/>
              <a:buFont typeface="Arial"/>
              <a:buNone/>
            </a:pPr>
            <a:endParaRPr/>
          </a:p>
          <a:p>
            <a:pPr marL="0" lvl="0" indent="0" algn="l" rtl="0">
              <a:spcBef>
                <a:spcPts val="0"/>
              </a:spcBef>
              <a:spcAft>
                <a:spcPts val="0"/>
              </a:spcAft>
              <a:buClr>
                <a:srgbClr val="000000"/>
              </a:buClr>
              <a:buSzPts val="1100"/>
              <a:buFont typeface="Arial"/>
              <a:buNone/>
            </a:pPr>
            <a:r>
              <a:rPr lang="en-US"/>
              <a:t>for the presenter, you can also mention a bit that unlike modern ML methods like trees or neural nets, GLM needs some feature engineering to break the non-linearity and boost the performance.</a:t>
            </a:r>
            <a:endParaRPr/>
          </a:p>
          <a:p>
            <a:pPr marL="0" lvl="0" indent="0" algn="l" rtl="0">
              <a:spcBef>
                <a:spcPts val="0"/>
              </a:spcBef>
              <a:spcAft>
                <a:spcPts val="0"/>
              </a:spcAft>
              <a:buClr>
                <a:srgbClr val="000000"/>
              </a:buClr>
              <a:buSzPts val="1100"/>
              <a:buFont typeface="Arial"/>
              <a:buNone/>
            </a:pPr>
            <a:endParaRPr/>
          </a:p>
          <a:p>
            <a:pPr marL="0" lvl="0" indent="0" algn="l" rtl="0">
              <a:spcBef>
                <a:spcPts val="0"/>
              </a:spcBef>
              <a:spcAft>
                <a:spcPts val="0"/>
              </a:spcAft>
              <a:buClr>
                <a:srgbClr val="000000"/>
              </a:buClr>
              <a:buSzPts val="1100"/>
              <a:buFont typeface="Arial"/>
              <a:buNone/>
            </a:pPr>
            <a:endParaRPr/>
          </a:p>
          <a:p>
            <a:pPr marL="0" lvl="0" indent="0" algn="l" rtl="0">
              <a:spcBef>
                <a:spcPts val="0"/>
              </a:spcBef>
              <a:spcAft>
                <a:spcPts val="0"/>
              </a:spcAft>
              <a:buClr>
                <a:srgbClr val="000000"/>
              </a:buClr>
              <a:buSzPts val="1100"/>
              <a:buFont typeface="Arial"/>
              <a:buNone/>
            </a:pPr>
            <a:r>
              <a:rPr lang="en-US"/>
              <a:t>cheatsheet: weekday_sleep_timing (binary: low_risk vs high_risk, 18:00-23:00 vs 24:00-17:00)</a:t>
            </a:r>
            <a:endParaRPr/>
          </a:p>
        </p:txBody>
      </p:sp>
      <p:sp>
        <p:nvSpPr>
          <p:cNvPr id="143" name="Google Shape;14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1"/>
          </a:p>
          <a:p>
            <a:pPr marL="0" lvl="0" indent="0" algn="l" rtl="0">
              <a:spcBef>
                <a:spcPts val="0"/>
              </a:spcBef>
              <a:spcAft>
                <a:spcPts val="0"/>
              </a:spcAft>
              <a:buNone/>
            </a:pPr>
            <a:r>
              <a:rPr lang="en-US"/>
              <a:t>Cheat sheet for questions:</a:t>
            </a:r>
            <a:endParaRPr/>
          </a:p>
          <a:p>
            <a:pPr marL="0" lvl="0" indent="0" algn="l" rtl="0">
              <a:spcBef>
                <a:spcPts val="0"/>
              </a:spcBef>
              <a:spcAft>
                <a:spcPts val="0"/>
              </a:spcAft>
              <a:buClr>
                <a:schemeClr val="dk1"/>
              </a:buClr>
              <a:buSzPts val="1100"/>
              <a:buFont typeface="Arial"/>
              <a:buNone/>
            </a:pPr>
            <a:r>
              <a:rPr lang="en-US" b="1"/>
              <a:t>Parameter instability</a:t>
            </a:r>
            <a:endParaRPr b="1"/>
          </a:p>
          <a:p>
            <a:pPr marL="0" lvl="0" indent="0" algn="l" rtl="0">
              <a:spcBef>
                <a:spcPts val="0"/>
              </a:spcBef>
              <a:spcAft>
                <a:spcPts val="0"/>
              </a:spcAft>
              <a:buNone/>
            </a:pPr>
            <a:r>
              <a:rPr lang="en-US"/>
              <a:t>Parameter instability occurs in multicollinearity because small changes in the data can lead to large, unpredictable shifts in coefficient estimates. Since correlated predictors contain overlapping information, the model struggles to allocate effects between them, making coefficient values highly sensitive to minor data variations and potentially changing sign or magnitude dramatically with small dataset changes.</a:t>
            </a:r>
            <a:endParaRPr/>
          </a:p>
          <a:p>
            <a:pPr marL="0" lvl="0" indent="0" algn="l" rtl="0">
              <a:spcBef>
                <a:spcPts val="0"/>
              </a:spcBef>
              <a:spcAft>
                <a:spcPts val="0"/>
              </a:spcAft>
              <a:buNone/>
            </a:pPr>
            <a:endParaRPr/>
          </a:p>
          <a:p>
            <a:pPr marL="0" lvl="0" indent="0" algn="l" rtl="0">
              <a:spcBef>
                <a:spcPts val="0"/>
              </a:spcBef>
              <a:spcAft>
                <a:spcPts val="0"/>
              </a:spcAft>
              <a:buNone/>
            </a:pPr>
            <a:r>
              <a:rPr lang="en-US" b="1"/>
              <a:t>Inflated standard errors</a:t>
            </a:r>
            <a:endParaRPr b="1"/>
          </a:p>
          <a:p>
            <a:pPr marL="0" lvl="0" indent="0" algn="l" rtl="0">
              <a:spcBef>
                <a:spcPts val="0"/>
              </a:spcBef>
              <a:spcAft>
                <a:spcPts val="0"/>
              </a:spcAft>
              <a:buNone/>
            </a:pPr>
            <a:r>
              <a:rPr lang="en-US"/>
              <a:t>Multicollinearity inflates standard errors because the model cannot precisely estimate which of the correlated variables is causing the effect on the dependent variable, increasing uncertainty in coefficient estimates. This uncertainty is reflected in larger standard errors.</a:t>
            </a:r>
            <a:endParaRPr/>
          </a:p>
          <a:p>
            <a:pPr marL="0" lvl="0" indent="0" algn="l" rtl="0">
              <a:spcBef>
                <a:spcPts val="0"/>
              </a:spcBef>
              <a:spcAft>
                <a:spcPts val="0"/>
              </a:spcAft>
              <a:buNone/>
            </a:pPr>
            <a:endParaRPr/>
          </a:p>
          <a:p>
            <a:pPr marL="0" lvl="0" indent="0" algn="l" rtl="0">
              <a:spcBef>
                <a:spcPts val="0"/>
              </a:spcBef>
              <a:spcAft>
                <a:spcPts val="0"/>
              </a:spcAft>
              <a:buNone/>
            </a:pPr>
            <a:r>
              <a:rPr lang="en-US" b="1"/>
              <a:t>Interpretation problems</a:t>
            </a:r>
            <a:endParaRPr b="1"/>
          </a:p>
          <a:p>
            <a:pPr marL="0" lvl="0" indent="0" algn="l" rtl="0">
              <a:spcBef>
                <a:spcPts val="0"/>
              </a:spcBef>
              <a:spcAft>
                <a:spcPts val="0"/>
              </a:spcAft>
              <a:buNone/>
            </a:pPr>
            <a:r>
              <a:rPr lang="en-US"/>
              <a:t>Multicollinearity makes it impossible to isolate the independent effect of each predictor. When variables are highly correlated, you cannot interpret a coefficient as representing the effect of changing one variable while holding others constant, since changing one correlated variable inherently changes others.</a:t>
            </a:r>
            <a:endParaRPr/>
          </a:p>
        </p:txBody>
      </p:sp>
      <p:sp>
        <p:nvSpPr>
          <p:cNvPr id="164" name="Google Shape;16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4f6fcf3ad8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4f6fcf3ad8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Next, we did EDA for the selected features.</a:t>
            </a:r>
            <a:endParaRPr/>
          </a:p>
          <a:p>
            <a:pPr marL="0" lvl="0" indent="0" algn="l" rtl="0">
              <a:spcBef>
                <a:spcPts val="0"/>
              </a:spcBef>
              <a:spcAft>
                <a:spcPts val="0"/>
              </a:spcAft>
              <a:buNone/>
            </a:pPr>
            <a:r>
              <a:rPr lang="en-US" b="1"/>
              <a:t>// 1) For numerical features,</a:t>
            </a:r>
            <a:r>
              <a:rPr lang="en-US"/>
              <a:t> we checked their distribution, median, outliers, and density using violin and strip plots. To compare Class 1 and 0, we first ran a normality test with Shapiro-Wilk. If the data was normal, we used a T-test to compare their means. If non-normal, we used the Mann-Whitney U test to compare their distribution based on medians. We also checked correlations and VIF for multicollinearity.</a:t>
            </a:r>
            <a:endParaRPr/>
          </a:p>
          <a:p>
            <a:pPr marL="0" lvl="0" indent="0" algn="l" rtl="0">
              <a:spcBef>
                <a:spcPts val="0"/>
              </a:spcBef>
              <a:spcAft>
                <a:spcPts val="0"/>
              </a:spcAft>
              <a:buNone/>
            </a:pPr>
            <a:r>
              <a:rPr lang="en-US"/>
              <a:t>// → Here, we found that bedtime, age, and smoking status are important for sleep deprivation (Class 1).</a:t>
            </a:r>
            <a:endParaRPr/>
          </a:p>
          <a:p>
            <a:pPr marL="0" lvl="0" indent="0" algn="l" rtl="0">
              <a:spcBef>
                <a:spcPts val="0"/>
              </a:spcBef>
              <a:spcAft>
                <a:spcPts val="0"/>
              </a:spcAft>
              <a:buNone/>
            </a:pPr>
            <a:r>
              <a:rPr lang="en-US" b="1"/>
              <a:t>// 2) For categorical features,</a:t>
            </a:r>
            <a:r>
              <a:rPr lang="en-US"/>
              <a:t> we used the Chi-squared test to check overall significance. To find which categories matter most, we also looked at standardized residuals from the test. This showed which categories drive that significance, especially for Class 1.</a:t>
            </a:r>
            <a:endParaRPr/>
          </a:p>
          <a:p>
            <a:pPr marL="0" lvl="0" indent="0" algn="l" rtl="0">
              <a:spcBef>
                <a:spcPts val="0"/>
              </a:spcBef>
              <a:spcAft>
                <a:spcPts val="0"/>
              </a:spcAft>
              <a:buNone/>
            </a:pPr>
            <a:r>
              <a:rPr lang="en-US"/>
              <a:t>// → For instance, current smokers, weight change status, and high sedentary level came out to be key for sleep deprivation (Class 1).</a:t>
            </a:r>
            <a:endParaRPr/>
          </a:p>
          <a:p>
            <a:pPr marL="0" lvl="0" indent="0" algn="l" rtl="0">
              <a:spcBef>
                <a:spcPts val="0"/>
              </a:spcBef>
              <a:spcAft>
                <a:spcPts val="0"/>
              </a:spcAft>
              <a:buNone/>
            </a:pPr>
            <a:r>
              <a:rPr lang="en-US"/>
              <a:t>// And we also utilized these important features to build our naive model.</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a:t>—--------------------</a:t>
            </a:r>
            <a:endParaRPr/>
          </a:p>
          <a:p>
            <a:pPr marL="0" lvl="0" indent="0" algn="l" rtl="0">
              <a:spcBef>
                <a:spcPts val="0"/>
              </a:spcBef>
              <a:spcAft>
                <a:spcPts val="0"/>
              </a:spcAft>
              <a:buClr>
                <a:schemeClr val="dk1"/>
              </a:buClr>
              <a:buSzPts val="1100"/>
              <a:buFont typeface="Arial"/>
              <a:buNone/>
            </a:pPr>
            <a:r>
              <a:rPr lang="en-US" sz="1100" b="1"/>
              <a:t>Shapiro-Wilk Test</a:t>
            </a:r>
            <a:r>
              <a:rPr lang="en-US" sz="1100"/>
              <a:t>: Tests if data follows a normal distribution (bell-shaped curve). If p-value is low, data is non-normal.</a:t>
            </a:r>
            <a:endParaRPr sz="1100"/>
          </a:p>
          <a:p>
            <a:pPr marL="0" lvl="0" indent="0" algn="l" rtl="0">
              <a:spcBef>
                <a:spcPts val="0"/>
              </a:spcBef>
              <a:spcAft>
                <a:spcPts val="0"/>
              </a:spcAft>
              <a:buClr>
                <a:schemeClr val="dk1"/>
              </a:buClr>
              <a:buSzPts val="1100"/>
              <a:buFont typeface="Arial"/>
              <a:buNone/>
            </a:pPr>
            <a:r>
              <a:rPr lang="en-US" sz="1100" b="1"/>
              <a:t>T-test</a:t>
            </a:r>
            <a:r>
              <a:rPr lang="en-US" sz="1100"/>
              <a:t>: Compares means of two groups (Class 1 vs. Class 0) for normal data. Low p-value means means are different.</a:t>
            </a:r>
            <a:endParaRPr sz="1100"/>
          </a:p>
          <a:p>
            <a:pPr marL="0" lvl="0" indent="0" algn="l" rtl="0">
              <a:spcBef>
                <a:spcPts val="0"/>
              </a:spcBef>
              <a:spcAft>
                <a:spcPts val="0"/>
              </a:spcAft>
              <a:buClr>
                <a:schemeClr val="dk1"/>
              </a:buClr>
              <a:buSzPts val="1100"/>
              <a:buFont typeface="Arial"/>
              <a:buNone/>
            </a:pPr>
            <a:r>
              <a:rPr lang="en-US" sz="1100" b="1"/>
              <a:t>Mann-Whitney U Test</a:t>
            </a:r>
            <a:r>
              <a:rPr lang="en-US" sz="1100"/>
              <a:t>: Compares medians of two groups for non-normal data. Low p-value means medians differ.</a:t>
            </a:r>
            <a:endParaRPr sz="1100"/>
          </a:p>
          <a:p>
            <a:pPr marL="0" lvl="0" indent="0" algn="l" rtl="0">
              <a:spcBef>
                <a:spcPts val="0"/>
              </a:spcBef>
              <a:spcAft>
                <a:spcPts val="0"/>
              </a:spcAft>
              <a:buClr>
                <a:schemeClr val="dk1"/>
              </a:buClr>
              <a:buSzPts val="1100"/>
              <a:buFont typeface="Arial"/>
              <a:buNone/>
            </a:pPr>
            <a:r>
              <a:rPr lang="en-US" sz="1100" b="1"/>
              <a:t>VIF (Variance Inflation Factor)</a:t>
            </a:r>
            <a:r>
              <a:rPr lang="en-US" sz="1100"/>
              <a:t>: Checks if features are too correlated (multicollinearity). High VIF (&gt;5) means features may cause issues.</a:t>
            </a:r>
            <a:endParaRPr sz="1100"/>
          </a:p>
          <a:p>
            <a:pPr marL="0" lvl="0" indent="0" algn="l" rtl="0">
              <a:spcBef>
                <a:spcPts val="0"/>
              </a:spcBef>
              <a:spcAft>
                <a:spcPts val="0"/>
              </a:spcAft>
              <a:buClr>
                <a:schemeClr val="dk1"/>
              </a:buClr>
              <a:buSzPts val="1100"/>
              <a:buFont typeface="Arial"/>
              <a:buNone/>
            </a:pPr>
            <a:r>
              <a:rPr lang="en-US" sz="1100" b="1"/>
              <a:t>Chi-squared Test</a:t>
            </a:r>
            <a:r>
              <a:rPr lang="en-US" sz="1100"/>
              <a:t>: Tests if a categorical feature is related to the target (Class 1 or 0). Low p-value means the feature is important.</a:t>
            </a:r>
            <a:endParaRPr sz="1100"/>
          </a:p>
          <a:p>
            <a:pPr marL="0" lvl="0" indent="0" algn="l" rtl="0">
              <a:spcBef>
                <a:spcPts val="0"/>
              </a:spcBef>
              <a:spcAft>
                <a:spcPts val="0"/>
              </a:spcAft>
              <a:buNone/>
            </a:pPr>
            <a:r>
              <a:rPr lang="en-US" sz="1100" b="1"/>
              <a:t>Standardized Residuals (Chi-squared)</a:t>
            </a:r>
            <a:r>
              <a:rPr lang="en-US" sz="1100"/>
              <a:t>: Shows which categories differ from expected counts. Positive residuals mean a category (e.g., "Non-Hispanic Black") appears more often in Class 1 than expected. Negative residuals mean less often. Larger residuals indicate stronger differences.</a:t>
            </a:r>
            <a:endParaRPr/>
          </a:p>
        </p:txBody>
      </p:sp>
      <p:sp>
        <p:nvSpPr>
          <p:cNvPr id="176" name="Google Shape;176;g34f6fcf3ad8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06af21729_4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06af21729_4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We found bedtime is the most important feature for sleep deprivation. This plot shows the proportion of sleep-deprived people by sleep start time, from 0 to 24 hours.</a:t>
            </a:r>
            <a:endParaRPr/>
          </a:p>
          <a:p>
            <a:pPr marL="0" lvl="0" indent="0" algn="l" rtl="0">
              <a:spcBef>
                <a:spcPts val="0"/>
              </a:spcBef>
              <a:spcAft>
                <a:spcPts val="0"/>
              </a:spcAft>
              <a:buNone/>
            </a:pPr>
            <a:r>
              <a:rPr lang="en-US"/>
              <a:t>// You might wonder if bedtime could leak information since our target, sleep deprivation, is based on sleep hours. But bedtime is only the start time of sleep, not the duration. Sleep deprivation depends on total sleep hours, which needs both start time and wake time. Bedtime alone doesn’t reveal the target, so there’s no leakage.</a:t>
            </a:r>
            <a:endParaRPr/>
          </a:p>
          <a:p>
            <a:pPr marL="0" lvl="0" indent="0" algn="l" rtl="0">
              <a:spcBef>
                <a:spcPts val="0"/>
              </a:spcBef>
              <a:spcAft>
                <a:spcPts val="0"/>
              </a:spcAft>
              <a:buNone/>
            </a:pPr>
            <a:r>
              <a:rPr lang="en-US"/>
              <a:t>// We also split bedtime into 24-hour bins, the same for train and test data. This keeps bins consistent and prevents any leakage.</a:t>
            </a: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a:p>
            <a:pPr marL="0" lvl="0" indent="0" algn="l" rtl="0">
              <a:spcBef>
                <a:spcPts val="0"/>
              </a:spcBef>
              <a:spcAft>
                <a:spcPts val="0"/>
              </a:spcAft>
              <a:buNone/>
            </a:pPr>
            <a:r>
              <a:rPr lang="en-US"/>
              <a:t>Question: Any possible leakage? Did you split it based on full data or train data only?</a:t>
            </a:r>
            <a:endParaRPr/>
          </a:p>
          <a:p>
            <a:pPr marL="0" lvl="0" indent="0" algn="l" rtl="0">
              <a:spcBef>
                <a:spcPts val="0"/>
              </a:spcBef>
              <a:spcAft>
                <a:spcPts val="0"/>
              </a:spcAft>
              <a:buNone/>
            </a:pPr>
            <a:r>
              <a:rPr lang="en-US"/>
              <a:t>Answer: There should be no leakage since we split it to 24 hours bin, because technically no different binning decision between train only and full data. 24 hours bin is still 24 hours with exactly same granularity and position.</a:t>
            </a:r>
            <a:endParaRPr/>
          </a:p>
        </p:txBody>
      </p:sp>
      <p:sp>
        <p:nvSpPr>
          <p:cNvPr id="195" name="Google Shape;195;g3506af21729_4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506af21729_4_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506af21729_4_9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Females have higher sleep deprivation rates than males in the High Risk category (55% vs 49%)</a:t>
            </a:r>
            <a:endParaRPr/>
          </a:p>
          <a:p>
            <a:pPr marL="0" lvl="0" indent="0" algn="l" rtl="0">
              <a:spcBef>
                <a:spcPts val="0"/>
              </a:spcBef>
              <a:spcAft>
                <a:spcPts val="0"/>
              </a:spcAft>
              <a:buNone/>
            </a:pPr>
            <a:r>
              <a:rPr lang="en-US"/>
              <a:t>// However, males have higher sleep deprivation rates than females in the Low Risk category (21% vs 17%)</a:t>
            </a:r>
            <a:endParaRPr/>
          </a:p>
          <a:p>
            <a:pPr marL="0" lvl="0" indent="0" algn="l" rtl="0">
              <a:spcBef>
                <a:spcPts val="0"/>
              </a:spcBef>
              <a:spcAft>
                <a:spcPts val="0"/>
              </a:spcAft>
              <a:buNone/>
            </a:pPr>
            <a:r>
              <a:rPr lang="en-US"/>
              <a:t>// This visualization is particularly useful because it clearly shows how the effect of gender on sleep deprivation is not constant but varies depending on the sleep timing category.</a:t>
            </a:r>
            <a:endParaRPr/>
          </a:p>
          <a:p>
            <a:pPr marL="0" lvl="0" indent="0" algn="l" rtl="0">
              <a:spcBef>
                <a:spcPts val="0"/>
              </a:spcBef>
              <a:spcAft>
                <a:spcPts val="0"/>
              </a:spcAft>
              <a:buNone/>
            </a:pPr>
            <a:r>
              <a:rPr lang="en-US"/>
              <a:t>// The crossing pattern (females higher in one category, males higher in the other) suggests an interaction between these variables.</a:t>
            </a:r>
            <a:endParaRPr/>
          </a:p>
        </p:txBody>
      </p:sp>
      <p:sp>
        <p:nvSpPr>
          <p:cNvPr id="207" name="Google Shape;207;g3506af21729_4_9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50588a107c_1_7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100"/>
              <a:buFont typeface="Arial"/>
              <a:buNone/>
            </a:pPr>
            <a:r>
              <a:rPr lang="en-US"/>
              <a:t>We added new features to improve our models. First, we created a global feature: [waist-to-height ratio] that helps all models.</a:t>
            </a:r>
            <a:endParaRPr/>
          </a:p>
          <a:p>
            <a:pPr marL="0" lvl="0" indent="0" algn="l" rtl="0">
              <a:spcBef>
                <a:spcPts val="0"/>
              </a:spcBef>
              <a:spcAft>
                <a:spcPts val="0"/>
              </a:spcAft>
              <a:buClr>
                <a:srgbClr val="000000"/>
              </a:buClr>
              <a:buSzPts val="1100"/>
              <a:buFont typeface="Arial"/>
              <a:buNone/>
            </a:pPr>
            <a:r>
              <a:rPr lang="en-US"/>
              <a:t>// For our GLM, we added specific features to boost performance. Unlike tree-based models or neural networks, GLMs need feature engineering to handle non-linear patterns.</a:t>
            </a:r>
            <a:endParaRPr/>
          </a:p>
          <a:p>
            <a:pPr marL="0" lvl="0" indent="0" algn="l" rtl="0">
              <a:spcBef>
                <a:spcPts val="0"/>
              </a:spcBef>
              <a:spcAft>
                <a:spcPts val="0"/>
              </a:spcAft>
              <a:buClr>
                <a:srgbClr val="000000"/>
              </a:buClr>
              <a:buSzPts val="1100"/>
              <a:buFont typeface="Arial"/>
              <a:buNone/>
            </a:pPr>
            <a:r>
              <a:rPr lang="en-US"/>
              <a:t>// So, we first created a binary feature named [weekday_sleep_timing]. It splits sleep start times into, for example, low-risk, from 6 PM to 11 PM, and high-risk, from midnight to 5 PM.</a:t>
            </a:r>
            <a:endParaRPr/>
          </a:p>
          <a:p>
            <a:pPr marL="0" lvl="0" indent="0" algn="l" rtl="0">
              <a:spcBef>
                <a:spcPts val="0"/>
              </a:spcBef>
              <a:spcAft>
                <a:spcPts val="0"/>
              </a:spcAft>
              <a:buClr>
                <a:srgbClr val="000000"/>
              </a:buClr>
              <a:buSzPts val="1100"/>
              <a:buFont typeface="Arial"/>
              <a:buNone/>
            </a:pPr>
            <a:r>
              <a:rPr lang="en-US"/>
              <a:t>// We also added interaction features, such as [weekday_sleep_timing] with race, gender, and education.</a:t>
            </a:r>
            <a:endParaRPr/>
          </a:p>
          <a:p>
            <a:pPr marL="0" lvl="0" indent="0" algn="l" rtl="0">
              <a:spcBef>
                <a:spcPts val="0"/>
              </a:spcBef>
              <a:spcAft>
                <a:spcPts val="0"/>
              </a:spcAft>
              <a:buClr>
                <a:srgbClr val="000000"/>
              </a:buClr>
              <a:buSzPts val="1100"/>
              <a:buFont typeface="Arial"/>
              <a:buNone/>
            </a:pPr>
            <a:r>
              <a:rPr lang="en-US"/>
              <a:t>// And these variables also helped our GLM models.</a:t>
            </a:r>
            <a:endParaRPr/>
          </a:p>
          <a:p>
            <a:pPr marL="0" lvl="0" indent="0" algn="l" rtl="0">
              <a:spcBef>
                <a:spcPts val="0"/>
              </a:spcBef>
              <a:spcAft>
                <a:spcPts val="0"/>
              </a:spcAft>
              <a:buClr>
                <a:srgbClr val="000000"/>
              </a:buClr>
              <a:buSzPts val="1100"/>
              <a:buFont typeface="Arial"/>
              <a:buNone/>
            </a:pPr>
            <a:endParaRPr/>
          </a:p>
          <a:p>
            <a:pPr marL="0" lvl="0" indent="0" algn="l" rtl="0">
              <a:spcBef>
                <a:spcPts val="0"/>
              </a:spcBef>
              <a:spcAft>
                <a:spcPts val="0"/>
              </a:spcAft>
              <a:buClr>
                <a:srgbClr val="000000"/>
              </a:buClr>
              <a:buSzPts val="1100"/>
              <a:buFont typeface="Arial"/>
              <a:buNone/>
            </a:pPr>
            <a:r>
              <a:rPr lang="en-US"/>
              <a:t>Note: There is two sleep timing variable. The first one is 24-hour binning, the second one is binary variable specifically to capture interaction.</a:t>
            </a:r>
            <a:endParaRPr/>
          </a:p>
          <a:p>
            <a:pPr marL="0" lvl="0" indent="0" algn="l" rtl="0">
              <a:spcBef>
                <a:spcPts val="0"/>
              </a:spcBef>
              <a:spcAft>
                <a:spcPts val="0"/>
              </a:spcAft>
              <a:buClr>
                <a:srgbClr val="000000"/>
              </a:buClr>
              <a:buSzPts val="1100"/>
              <a:buFont typeface="Arial"/>
              <a:buNone/>
            </a:pPr>
            <a:endParaRPr/>
          </a:p>
          <a:p>
            <a:pPr marL="0" lvl="0" indent="0" algn="l" rtl="0">
              <a:spcBef>
                <a:spcPts val="0"/>
              </a:spcBef>
              <a:spcAft>
                <a:spcPts val="0"/>
              </a:spcAft>
              <a:buClr>
                <a:schemeClr val="dk1"/>
              </a:buClr>
              <a:buSzPts val="1100"/>
              <a:buFont typeface="Arial"/>
              <a:buNone/>
            </a:pPr>
            <a:r>
              <a:rPr lang="en-US"/>
              <a:t>—--------------------</a:t>
            </a:r>
            <a:endParaRPr/>
          </a:p>
          <a:p>
            <a:pPr marL="0" lvl="0" indent="0" algn="l" rtl="0">
              <a:spcBef>
                <a:spcPts val="0"/>
              </a:spcBef>
              <a:spcAft>
                <a:spcPts val="0"/>
              </a:spcAft>
              <a:buClr>
                <a:srgbClr val="000000"/>
              </a:buClr>
              <a:buSzPts val="1100"/>
              <a:buFont typeface="Arial"/>
              <a:buNone/>
            </a:pPr>
            <a:r>
              <a:rPr lang="en-US"/>
              <a:t>for the presenter, you can also mention a bit that unlike modern ML methods like trees or neural nets, GLM needs some feature engineering to break the non-linearity and boost the performance.</a:t>
            </a:r>
            <a:endParaRPr/>
          </a:p>
          <a:p>
            <a:pPr marL="0" lvl="0" indent="0" algn="l" rtl="0">
              <a:spcBef>
                <a:spcPts val="0"/>
              </a:spcBef>
              <a:spcAft>
                <a:spcPts val="0"/>
              </a:spcAft>
              <a:buClr>
                <a:srgbClr val="000000"/>
              </a:buClr>
              <a:buSzPts val="1100"/>
              <a:buFont typeface="Arial"/>
              <a:buNone/>
            </a:pPr>
            <a:r>
              <a:rPr lang="en-US"/>
              <a:t>cheatsheet: weekday_sleep_timing (binary: low_risk vs high_risk, 18:00-23:00 vs 24:00-17:00)</a:t>
            </a:r>
            <a:endParaRPr/>
          </a:p>
        </p:txBody>
      </p:sp>
      <p:sp>
        <p:nvSpPr>
          <p:cNvPr id="218" name="Google Shape;218;g350588a107c_1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Then, we started with our rule-based baseline model.</a:t>
            </a:r>
            <a:endParaRPr/>
          </a:p>
          <a:p>
            <a:pPr marL="0" lvl="0" indent="0" algn="l" rtl="0">
              <a:spcBef>
                <a:spcPts val="0"/>
              </a:spcBef>
              <a:spcAft>
                <a:spcPts val="0"/>
              </a:spcAft>
              <a:buNone/>
            </a:pPr>
            <a:r>
              <a:rPr lang="en-US"/>
              <a:t>// We first built a simple naive model using rules from our EDA. The conditions include: 1) bedtime between midnight and 8 AM, 2) age between 30 and 60, 3) current smoker, and 4) very high sedentary level.</a:t>
            </a:r>
            <a:endParaRPr/>
          </a:p>
          <a:p>
            <a:pPr marL="0" lvl="0" indent="0" algn="l" rtl="0">
              <a:spcBef>
                <a:spcPts val="0"/>
              </a:spcBef>
              <a:spcAft>
                <a:spcPts val="0"/>
              </a:spcAft>
              <a:buNone/>
            </a:pPr>
            <a:r>
              <a:rPr lang="en-US"/>
              <a:t>// For prediction, if two or more conditions are true, we assign Class 1 (sleep deprived), as this threshold balances sensitivity and specificity based on EDA insights. Otherwise, we predict Class 0.</a:t>
            </a:r>
            <a:endParaRPr/>
          </a:p>
          <a:p>
            <a:pPr marL="0" lvl="0" indent="0" algn="l" rtl="0">
              <a:spcBef>
                <a:spcPts val="0"/>
              </a:spcBef>
              <a:spcAft>
                <a:spcPts val="0"/>
              </a:spcAft>
              <a:buNone/>
            </a:pPr>
            <a:r>
              <a:rPr lang="en-US"/>
              <a:t>// Then, we evaluated this model with 5-fold cross-validation. The results are like this with AUC of 0.65.</a:t>
            </a:r>
            <a:endParaRPr/>
          </a:p>
        </p:txBody>
      </p:sp>
      <p:sp>
        <p:nvSpPr>
          <p:cNvPr id="229" name="Google Shape;2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Next, we used XGBoost classifier. </a:t>
            </a:r>
            <a:endParaRPr/>
          </a:p>
          <a:p>
            <a:pPr marL="0" lvl="0" indent="0" algn="l" rtl="0">
              <a:spcBef>
                <a:spcPts val="0"/>
              </a:spcBef>
              <a:spcAft>
                <a:spcPts val="0"/>
              </a:spcAft>
              <a:buNone/>
            </a:pPr>
            <a:r>
              <a:rPr lang="en-US"/>
              <a:t>// XGBoost is a powerful boosting algorithm, and we thought is perfect for handling our imbalanced data. Since Class 1 is only about 22%, we increased the weight for the minority class, balancing it with Class 0.</a:t>
            </a:r>
            <a:endParaRPr/>
          </a:p>
          <a:p>
            <a:pPr marL="0" lvl="0" indent="0" algn="l" rtl="0">
              <a:spcBef>
                <a:spcPts val="0"/>
              </a:spcBef>
              <a:spcAft>
                <a:spcPts val="0"/>
              </a:spcAft>
              <a:buNone/>
            </a:pPr>
            <a:r>
              <a:rPr lang="en-US"/>
              <a:t>// Then, we tuned hyperparameters using a grid search with 5-fold cross-validation. We tested max depth, learning rate, number of estimators, and class weights, selecting the best, based on F1-score for Class 1.</a:t>
            </a:r>
            <a:endParaRPr/>
          </a:p>
          <a:p>
            <a:pPr marL="0" lvl="0" indent="0" algn="l" rtl="0">
              <a:spcBef>
                <a:spcPts val="0"/>
              </a:spcBef>
              <a:spcAft>
                <a:spcPts val="0"/>
              </a:spcAft>
              <a:buNone/>
            </a:pPr>
            <a:r>
              <a:rPr lang="en-US"/>
              <a:t>// With the best model, 5-fold cross-validation gave us an AUC of 0.77, recall of 0.69, and F1-score of 0.52. And especially seeing the recall, we’re catching most sleep-deprived cases, which is critical for health applications.</a:t>
            </a:r>
            <a:endParaRPr/>
          </a:p>
          <a:p>
            <a:pPr marL="0" lvl="0" indent="0" algn="l" rtl="0">
              <a:spcBef>
                <a:spcPts val="0"/>
              </a:spcBef>
              <a:spcAft>
                <a:spcPts val="0"/>
              </a:spcAft>
              <a:buNone/>
            </a:pPr>
            <a:r>
              <a:rPr lang="en-US"/>
              <a:t>// And also, compared to our baseline, XGBoost significantly improved performance.</a:t>
            </a:r>
            <a:endParaRPr/>
          </a:p>
        </p:txBody>
      </p:sp>
      <p:sp>
        <p:nvSpPr>
          <p:cNvPr id="241" name="Google Shape;2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We also tried a neural network model, specifically MLP.</a:t>
            </a:r>
            <a:endParaRPr/>
          </a:p>
          <a:p>
            <a:pPr marL="0" lvl="0" indent="0" algn="l" rtl="0">
              <a:spcBef>
                <a:spcPts val="0"/>
              </a:spcBef>
              <a:spcAft>
                <a:spcPts val="0"/>
              </a:spcAft>
              <a:buNone/>
            </a:pPr>
            <a:r>
              <a:rPr lang="en-US"/>
              <a:t>// While XGBoost and Random Forest are great for getting high accuracy, MLPs are really good at picking up subtle, complex patterns in data. Since sleep deprivation is influenced by so many different factors—like bedtime, lifestyle, and more—we thought an MLP could help us capture those tricky relationships.</a:t>
            </a:r>
            <a:endParaRPr/>
          </a:p>
          <a:p>
            <a:pPr marL="0" lvl="0" indent="0" algn="l" rtl="0">
              <a:spcBef>
                <a:spcPts val="0"/>
              </a:spcBef>
              <a:spcAft>
                <a:spcPts val="0"/>
              </a:spcAft>
              <a:buNone/>
            </a:pPr>
            <a:r>
              <a:rPr lang="en-US"/>
              <a:t>// For our model, we kept it simple with a single hidden layer and tested different setups, like 50, 100 units structure. We also played around with tuning parameters like L2 weight and testing various activations. To deal with class imbalance, we used random oversampling, and then optimized using 5-fold cross-validation and Grid Search to find the best combination.</a:t>
            </a:r>
            <a:endParaRPr/>
          </a:p>
          <a:p>
            <a:pPr marL="0" lvl="0" indent="0" algn="l" rtl="0">
              <a:spcBef>
                <a:spcPts val="0"/>
              </a:spcBef>
              <a:spcAft>
                <a:spcPts val="0"/>
              </a:spcAft>
              <a:buNone/>
            </a:pPr>
            <a:r>
              <a:rPr lang="en-US"/>
              <a:t>// In the end, the results were pretty solid. Compared to our baseline, the MLP did a better job at catching those complex patterns.</a:t>
            </a:r>
            <a:endParaRPr/>
          </a:p>
          <a:p>
            <a:pPr marL="0" lvl="0" indent="0" algn="l" rtl="0">
              <a:spcBef>
                <a:spcPts val="0"/>
              </a:spcBef>
              <a:spcAft>
                <a:spcPts val="0"/>
              </a:spcAft>
              <a:buNone/>
            </a:pPr>
            <a:endParaRPr/>
          </a:p>
        </p:txBody>
      </p:sp>
      <p:sp>
        <p:nvSpPr>
          <p:cNvPr id="253" name="Google Shape;25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Next, in our stacking ensemble model,</a:t>
            </a:r>
            <a:endParaRPr/>
          </a:p>
          <a:p>
            <a:pPr marL="0" lvl="0" indent="0" algn="l" rtl="0">
              <a:spcBef>
                <a:spcPts val="0"/>
              </a:spcBef>
              <a:spcAft>
                <a:spcPts val="0"/>
              </a:spcAft>
              <a:buNone/>
            </a:pPr>
            <a:r>
              <a:rPr lang="en-US"/>
              <a:t>// </a:t>
            </a:r>
            <a:r>
              <a:rPr lang="en-US" b="1"/>
              <a:t>1) We used three base models</a:t>
            </a:r>
            <a:r>
              <a:rPr lang="en-US"/>
              <a:t>: 1) Random Forest, 2) LightGBM, and 3) SVM. And the three models work together to make strong predictions for target.</a:t>
            </a:r>
            <a:endParaRPr/>
          </a:p>
          <a:p>
            <a:pPr marL="0" lvl="0" indent="0" algn="l" rtl="0">
              <a:spcBef>
                <a:spcPts val="0"/>
              </a:spcBef>
              <a:spcAft>
                <a:spcPts val="0"/>
              </a:spcAft>
              <a:buNone/>
            </a:pPr>
            <a:r>
              <a:rPr lang="en-US"/>
              <a:t>// </a:t>
            </a:r>
            <a:r>
              <a:rPr lang="en-US" b="1"/>
              <a:t>2)</a:t>
            </a:r>
            <a:r>
              <a:rPr lang="en-US"/>
              <a:t> </a:t>
            </a:r>
            <a:r>
              <a:rPr lang="en-US" b="1"/>
              <a:t>For meta-data</a:t>
            </a:r>
            <a:r>
              <a:rPr lang="en-US"/>
              <a:t>, we used 5-fold stacking. Each base model generated out-of-fold probabilities for Class 1. We combined these probabilities with the top 10 original features that were selected, like bedtime and age. Then, we scaled the meta-data to ensure stability for the next step.</a:t>
            </a:r>
            <a:endParaRPr/>
          </a:p>
          <a:p>
            <a:pPr marL="0" lvl="0" indent="0" algn="l" rtl="0">
              <a:spcBef>
                <a:spcPts val="0"/>
              </a:spcBef>
              <a:spcAft>
                <a:spcPts val="0"/>
              </a:spcAft>
              <a:buNone/>
            </a:pPr>
            <a:r>
              <a:rPr lang="en-US"/>
              <a:t>// 3) </a:t>
            </a:r>
            <a:r>
              <a:rPr lang="en-US" b="1"/>
              <a:t>Lastly</a:t>
            </a:r>
            <a:r>
              <a:rPr lang="en-US"/>
              <a:t>, we used Logistic Regression as our meta-model. It takes the meta-data from the second step and makes the final training and predictions.</a:t>
            </a:r>
            <a:endParaRPr/>
          </a:p>
          <a:p>
            <a:pPr marL="0" lvl="0" indent="0" algn="l" rtl="0">
              <a:spcBef>
                <a:spcPts val="0"/>
              </a:spcBef>
              <a:spcAft>
                <a:spcPts val="0"/>
              </a:spcAft>
              <a:buNone/>
            </a:pPr>
            <a:r>
              <a:rPr lang="en-US"/>
              <a:t>// This stacking approach, leveraging diverse models, boosted performance and was effective for our imbalanced data.</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a:t>—--------------------</a:t>
            </a:r>
            <a:endParaRPr/>
          </a:p>
          <a:p>
            <a:pPr marL="0" lvl="0" indent="0" algn="l" rtl="0">
              <a:spcBef>
                <a:spcPts val="0"/>
              </a:spcBef>
              <a:spcAft>
                <a:spcPts val="0"/>
              </a:spcAft>
              <a:buNone/>
            </a:pPr>
            <a:r>
              <a:rPr lang="en-US" b="1"/>
              <a:t>Random Forest</a:t>
            </a:r>
            <a:r>
              <a:rPr lang="en-US"/>
              <a:t>: Chosen for its robustness and ability to handle noisy data. It combines many decision trees to reduce overfitting and works well with mixed feature types (numerical and categorical).</a:t>
            </a:r>
            <a:endParaRPr/>
          </a:p>
          <a:p>
            <a:pPr marL="0" lvl="0" indent="0" algn="l" rtl="0">
              <a:spcBef>
                <a:spcPts val="0"/>
              </a:spcBef>
              <a:spcAft>
                <a:spcPts val="0"/>
              </a:spcAft>
              <a:buNone/>
            </a:pPr>
            <a:r>
              <a:rPr lang="en-US" b="1"/>
              <a:t>LightGBM</a:t>
            </a:r>
            <a:r>
              <a:rPr lang="en-US"/>
              <a:t>: Selected for its speed and high accuracy in imbalanced datasets. It uses gradient boosting to focus on hard-to-predict cases, like our minority Class 1 (sleep deprivation).</a:t>
            </a:r>
            <a:endParaRPr/>
          </a:p>
          <a:p>
            <a:pPr marL="0" lvl="0" indent="0" algn="l" rtl="0">
              <a:spcBef>
                <a:spcPts val="0"/>
              </a:spcBef>
              <a:spcAft>
                <a:spcPts val="0"/>
              </a:spcAft>
              <a:buNone/>
            </a:pPr>
            <a:r>
              <a:rPr lang="en-US" b="1"/>
              <a:t>SVM (Support Vector Machine)</a:t>
            </a:r>
            <a:r>
              <a:rPr lang="en-US"/>
              <a:t>: Picked for its strength in finding complex patterns in high-dimensional data. It excels at separating classes with clear boundaries, even with imbalanced data.</a:t>
            </a:r>
            <a:endParaRPr/>
          </a:p>
        </p:txBody>
      </p:sp>
      <p:sp>
        <p:nvSpPr>
          <p:cNvPr id="265" name="Google Shape;2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BIC is generally more conservative than AIC. So it has tendency to produce in less complex model.</a:t>
            </a:r>
            <a:endParaRPr/>
          </a:p>
          <a:p>
            <a:pPr marL="0" lvl="0" indent="0" algn="l" rtl="0">
              <a:spcBef>
                <a:spcPts val="0"/>
              </a:spcBef>
              <a:spcAft>
                <a:spcPts val="0"/>
              </a:spcAft>
              <a:buNone/>
            </a:pPr>
            <a:endParaRPr/>
          </a:p>
          <a:p>
            <a:pPr marL="0" lvl="0" indent="0" algn="l" rtl="0">
              <a:spcBef>
                <a:spcPts val="0"/>
              </a:spcBef>
              <a:spcAft>
                <a:spcPts val="0"/>
              </a:spcAft>
              <a:buNone/>
            </a:pPr>
            <a:r>
              <a:rPr lang="en-US"/>
              <a:t>Backward selection tend to produce in more complex model, since it gives chance for every variable to perform. However, this is not a guarantee. Sometimes backward can produce in more simpler model.</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a:t>Regularization penalize the coefficient which means it introduce a shrinkage bias. This violates the maximum likelihood estimation on GLM, which means the coefficient cannot be used for direct interpretation like GLM. If the intention for regularization is as feature selection, what you can do is select the feature based on regularization, but revert back the coefficient so it allows for direct coefficient interpretation.</a:t>
            </a:r>
            <a:endParaRPr/>
          </a:p>
          <a:p>
            <a:pPr marL="0" lvl="0" indent="0" algn="l" rtl="0">
              <a:spcBef>
                <a:spcPts val="0"/>
              </a:spcBef>
              <a:spcAft>
                <a:spcPts val="0"/>
              </a:spcAft>
              <a:buNone/>
            </a:pPr>
            <a:endParaRPr/>
          </a:p>
          <a:p>
            <a:pPr marL="0" lvl="0" indent="0" algn="l" rtl="0">
              <a:spcBef>
                <a:spcPts val="0"/>
              </a:spcBef>
              <a:spcAft>
                <a:spcPts val="0"/>
              </a:spcAft>
              <a:buNone/>
            </a:pPr>
            <a:r>
              <a:rPr lang="en-US"/>
              <a:t>For GLM, we select the BIC Forward since it is the least complex model with comparable performance metrics.</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a:t>Also, if we look at the Untuned GLM, it is nice to see how a feature engineering can boost GLM’s performance.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a:t>cheatsheet: weekday_sleep_timing (binary: low_risk vs high_risk, 18:00-23:00 vs 24:00-17:00)</a:t>
            </a:r>
            <a:endParaRPr/>
          </a:p>
          <a:p>
            <a:pPr marL="0" lvl="0" indent="0" algn="l" rtl="0">
              <a:spcBef>
                <a:spcPts val="0"/>
              </a:spcBef>
              <a:spcAft>
                <a:spcPts val="0"/>
              </a:spcAft>
              <a:buNone/>
            </a:pPr>
            <a:endParaRPr/>
          </a:p>
          <a:p>
            <a:pPr marL="0" lvl="0" indent="0" algn="l" rtl="0">
              <a:spcBef>
                <a:spcPts val="0"/>
              </a:spcBef>
              <a:spcAft>
                <a:spcPts val="0"/>
              </a:spcAft>
              <a:buNone/>
            </a:pPr>
            <a:r>
              <a:rPr lang="en-US"/>
              <a:t>Features specific to boost the GLM prediction:</a:t>
            </a:r>
            <a:endParaRPr/>
          </a:p>
          <a:p>
            <a:pPr marL="0" lvl="0" indent="0" algn="l" rtl="0">
              <a:spcBef>
                <a:spcPts val="0"/>
              </a:spcBef>
              <a:spcAft>
                <a:spcPts val="0"/>
              </a:spcAft>
              <a:buNone/>
            </a:pPr>
            <a:r>
              <a:rPr lang="en-US"/>
              <a:t>binarization to breakdown the non-linearity: weekday_sleep_timing_cat</a:t>
            </a:r>
            <a:endParaRPr/>
          </a:p>
          <a:p>
            <a:pPr marL="0" lvl="0" indent="0" algn="l" rtl="0">
              <a:spcBef>
                <a:spcPts val="0"/>
              </a:spcBef>
              <a:spcAft>
                <a:spcPts val="0"/>
              </a:spcAft>
              <a:buNone/>
            </a:pPr>
            <a:r>
              <a:rPr lang="en-US"/>
              <a:t>binary: for interaction simplification purpose only</a:t>
            </a:r>
            <a:endParaRPr/>
          </a:p>
          <a:p>
            <a:pPr marL="0" lvl="0" indent="0" algn="l" rtl="0">
              <a:spcBef>
                <a:spcPts val="0"/>
              </a:spcBef>
              <a:spcAft>
                <a:spcPts val="0"/>
              </a:spcAft>
              <a:buNone/>
            </a:pPr>
            <a:r>
              <a:rPr lang="en-US"/>
              <a:t>interaction: weekday_sleep_timing x race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unlike modern ML methods like trees or neural nets, GLM needs some feature engineering to break the non-linearity and boost the performance.</a:t>
            </a:r>
            <a:endParaRPr/>
          </a:p>
        </p:txBody>
      </p:sp>
      <p:sp>
        <p:nvSpPr>
          <p:cNvPr id="285" name="Google Shape;28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The deviance residual for GLM model shows pattern that is:</a:t>
            </a:r>
            <a:endParaRPr/>
          </a:p>
          <a:p>
            <a:pPr marL="457200" lvl="0" indent="-317500" algn="l" rtl="0">
              <a:spcBef>
                <a:spcPts val="0"/>
              </a:spcBef>
              <a:spcAft>
                <a:spcPts val="0"/>
              </a:spcAft>
              <a:buSzPts val="1400"/>
              <a:buAutoNum type="arabicPeriod"/>
            </a:pPr>
            <a:r>
              <a:rPr lang="en-US"/>
              <a:t>The average trends of deviance residual against fitted values (red line) is close to zero</a:t>
            </a:r>
            <a:endParaRPr/>
          </a:p>
          <a:p>
            <a:pPr marL="457200" lvl="0" indent="-317500" algn="l" rtl="0">
              <a:spcBef>
                <a:spcPts val="0"/>
              </a:spcBef>
              <a:spcAft>
                <a:spcPts val="0"/>
              </a:spcAft>
              <a:buSzPts val="1400"/>
              <a:buAutoNum type="arabicPeriod"/>
            </a:pPr>
            <a:r>
              <a:rPr lang="en-US"/>
              <a:t>Symmetrical spread residual above and below zero</a:t>
            </a:r>
            <a:endParaRPr/>
          </a:p>
          <a:p>
            <a:pPr marL="457200" lvl="0" indent="-317500" algn="l" rtl="0">
              <a:spcBef>
                <a:spcPts val="0"/>
              </a:spcBef>
              <a:spcAft>
                <a:spcPts val="0"/>
              </a:spcAft>
              <a:buSzPts val="1400"/>
              <a:buAutoNum type="arabicPeriod"/>
            </a:pPr>
            <a:r>
              <a:rPr lang="en-US"/>
              <a:t>No-obvious non-linear pattern in the residuals</a:t>
            </a:r>
            <a:endParaRPr/>
          </a:p>
          <a:p>
            <a:pPr marL="0" lvl="0" indent="0" algn="l" rtl="0">
              <a:spcBef>
                <a:spcPts val="0"/>
              </a:spcBef>
              <a:spcAft>
                <a:spcPts val="0"/>
              </a:spcAft>
              <a:buNone/>
            </a:pPr>
            <a:endParaRPr/>
          </a:p>
          <a:p>
            <a:pPr marL="0" lvl="0" indent="0" algn="l" rtl="0">
              <a:spcBef>
                <a:spcPts val="0"/>
              </a:spcBef>
              <a:spcAft>
                <a:spcPts val="0"/>
              </a:spcAft>
              <a:buNone/>
            </a:pPr>
            <a:r>
              <a:rPr lang="en-US"/>
              <a:t>Which indicates that the GLM model is homoscedastic and the current distribution assumption and link function are adequate. There is no need to change to different distribution family nor non-canonical link.</a:t>
            </a:r>
            <a:endParaRPr/>
          </a:p>
          <a:p>
            <a:pPr marL="0" lvl="0" indent="0" algn="l" rtl="0">
              <a:spcBef>
                <a:spcPts val="0"/>
              </a:spcBef>
              <a:spcAft>
                <a:spcPts val="0"/>
              </a:spcAft>
              <a:buNone/>
            </a:pPr>
            <a:endParaRPr/>
          </a:p>
          <a:p>
            <a:pPr marL="0" lvl="0" indent="0" algn="l" rtl="0">
              <a:spcBef>
                <a:spcPts val="0"/>
              </a:spcBef>
              <a:spcAft>
                <a:spcPts val="0"/>
              </a:spcAft>
              <a:buNone/>
            </a:pPr>
            <a:r>
              <a:rPr lang="en-US"/>
              <a:t>Also, this is actually a very good graphs to show the purpose of logistic link. We can see that the linear predictor is unbounded, logistic link helps to ensure our prediction is within valid probability interval (0,1).</a:t>
            </a:r>
            <a:endParaRPr/>
          </a:p>
          <a:p>
            <a:pPr marL="0" lvl="0" indent="0" algn="l" rtl="0">
              <a:spcBef>
                <a:spcPts val="0"/>
              </a:spcBef>
              <a:spcAft>
                <a:spcPts val="0"/>
              </a:spcAft>
              <a:buNone/>
            </a:pPr>
            <a:endParaRPr/>
          </a:p>
          <a:p>
            <a:pPr marL="0" lvl="0" indent="0" algn="l" rtl="0">
              <a:spcBef>
                <a:spcPts val="0"/>
              </a:spcBef>
              <a:spcAft>
                <a:spcPts val="0"/>
              </a:spcAft>
              <a:buNone/>
            </a:pPr>
            <a:r>
              <a:rPr lang="en-US"/>
              <a:t>Note that in the left side, it is a perfect prediction where the model perfectly predicts the outcome (either 0 or 1).</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FYI:</a:t>
            </a:r>
            <a:endParaRPr/>
          </a:p>
          <a:p>
            <a:pPr marL="0" lvl="0" indent="0" algn="l" rtl="0">
              <a:spcBef>
                <a:spcPts val="0"/>
              </a:spcBef>
              <a:spcAft>
                <a:spcPts val="0"/>
              </a:spcAft>
              <a:buNone/>
            </a:pPr>
            <a:r>
              <a:rPr lang="en-US"/>
              <a:t>alternative link -&gt; probit, complementary log-log</a:t>
            </a:r>
            <a:endParaRPr/>
          </a:p>
          <a:p>
            <a:pPr marL="0" lvl="0" indent="0" algn="l" rtl="0">
              <a:spcBef>
                <a:spcPts val="0"/>
              </a:spcBef>
              <a:spcAft>
                <a:spcPts val="0"/>
              </a:spcAft>
              <a:buNone/>
            </a:pPr>
            <a:r>
              <a:rPr lang="en-US"/>
              <a:t>alternative distribution -&gt; beta-binomial</a:t>
            </a:r>
            <a:endParaRPr/>
          </a:p>
        </p:txBody>
      </p:sp>
      <p:sp>
        <p:nvSpPr>
          <p:cNvPr id="293" name="Google Shape;29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50d71b7473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Transformed linear predictor. FYI.</a:t>
            </a:r>
            <a:endParaRPr/>
          </a:p>
        </p:txBody>
      </p:sp>
      <p:sp>
        <p:nvSpPr>
          <p:cNvPr id="300" name="Google Shape;300;g350d71b7473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In here, we can see, the modern ML methods, they don’t require significant feature engineering to perform well. However, a finely-tuned GLM can also perform as well as more modern ML technique.</a:t>
            </a:r>
            <a:endParaRPr/>
          </a:p>
          <a:p>
            <a:pPr marL="0" lvl="0" indent="0" algn="l" rtl="0">
              <a:spcBef>
                <a:spcPts val="0"/>
              </a:spcBef>
              <a:spcAft>
                <a:spcPts val="0"/>
              </a:spcAft>
              <a:buNone/>
            </a:pPr>
            <a:endParaRPr/>
          </a:p>
          <a:p>
            <a:pPr marL="0" lvl="0" indent="0" algn="l" rtl="0">
              <a:spcBef>
                <a:spcPts val="0"/>
              </a:spcBef>
              <a:spcAft>
                <a:spcPts val="0"/>
              </a:spcAft>
              <a:buNone/>
            </a:pPr>
            <a:r>
              <a:rPr lang="en-US"/>
              <a:t>We select GLM with BIC Forward as our final model. There is no material differences between a finely-tuned GLM and more advanced ML models. In here, choosing GLM will give us easier interpretation and GLM itself is one of the model with the least complexity.</a:t>
            </a:r>
            <a:endParaRPr/>
          </a:p>
          <a:p>
            <a:pPr marL="0" lvl="0" indent="0" algn="l" rtl="0">
              <a:spcBef>
                <a:spcPts val="0"/>
              </a:spcBef>
              <a:spcAft>
                <a:spcPts val="0"/>
              </a:spcAft>
              <a:buNone/>
            </a:pPr>
            <a:endParaRPr/>
          </a:p>
          <a:p>
            <a:pPr marL="0" lvl="0" indent="0" algn="l" rtl="0">
              <a:spcBef>
                <a:spcPts val="0"/>
              </a:spcBef>
              <a:spcAft>
                <a:spcPts val="0"/>
              </a:spcAft>
              <a:buNone/>
            </a:pPr>
            <a:r>
              <a:rPr lang="en-US"/>
              <a:t>In short, when the interpretation is less matter, you can just use RF or Boosted Trees for easier implementation. But, when interpretation is crucial, whenever possible, try to fit GLM.</a:t>
            </a:r>
            <a:endParaRPr/>
          </a:p>
        </p:txBody>
      </p:sp>
      <p:sp>
        <p:nvSpPr>
          <p:cNvPr id="307" name="Google Shape;30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506af21729_4_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cross-validation results and the training-test results for our selected GLM model.</a:t>
            </a:r>
            <a:endParaRPr/>
          </a:p>
          <a:p>
            <a:pPr marL="0" lvl="0" indent="0" algn="l" rtl="0">
              <a:spcBef>
                <a:spcPts val="0"/>
              </a:spcBef>
              <a:spcAft>
                <a:spcPts val="0"/>
              </a:spcAft>
              <a:buNone/>
            </a:pPr>
            <a:r>
              <a:rPr lang="en-US"/>
              <a:t>The reason we showed you this is we want to ensure, you are confident that our model have stable performance and not overfitting.</a:t>
            </a:r>
            <a:endParaRPr/>
          </a:p>
        </p:txBody>
      </p:sp>
      <p:sp>
        <p:nvSpPr>
          <p:cNvPr id="318" name="Google Shape;318;g3506af21729_4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506af21729_4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Threshold can be adjusted according to problem definition. For example, if the target objective is a health screening tool, then we might want to raise sensitivity at the cost of misclassifying as false positive. This can be done by reducing your threshold. Similarly, if you need to maximize the specificity, then you raise the threshold.</a:t>
            </a:r>
            <a:endParaRPr/>
          </a:p>
        </p:txBody>
      </p:sp>
      <p:sp>
        <p:nvSpPr>
          <p:cNvPr id="330" name="Google Shape;330;g3506af21729_4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This is some tools that is useful for interpretation purpose. This is not adding significant values if GLM is chosen. The most crucial one is shapley values and partial dependence plot.</a:t>
            </a:r>
            <a:endParaRPr/>
          </a:p>
          <a:p>
            <a:pPr marL="0" lvl="0" indent="0" algn="l" rtl="0">
              <a:spcBef>
                <a:spcPts val="0"/>
              </a:spcBef>
              <a:spcAft>
                <a:spcPts val="0"/>
              </a:spcAft>
              <a:buNone/>
            </a:pPr>
            <a:endParaRPr/>
          </a:p>
          <a:p>
            <a:pPr marL="0" lvl="0" indent="0" algn="l" rtl="0">
              <a:spcBef>
                <a:spcPts val="0"/>
              </a:spcBef>
              <a:spcAft>
                <a:spcPts val="0"/>
              </a:spcAft>
              <a:buNone/>
            </a:pPr>
            <a:r>
              <a:rPr lang="en-US"/>
              <a:t>cheatsheet:</a:t>
            </a:r>
            <a:endParaRPr/>
          </a:p>
          <a:p>
            <a:pPr marL="0" lvl="0" indent="0" algn="l" rtl="0">
              <a:spcBef>
                <a:spcPts val="0"/>
              </a:spcBef>
              <a:spcAft>
                <a:spcPts val="0"/>
              </a:spcAft>
              <a:buNone/>
            </a:pPr>
            <a:r>
              <a:rPr lang="en-US"/>
              <a:t>Shapley: quantitative importance of features</a:t>
            </a:r>
            <a:endParaRPr/>
          </a:p>
          <a:p>
            <a:pPr marL="0" lvl="0" indent="0" algn="l" rtl="0">
              <a:spcBef>
                <a:spcPts val="0"/>
              </a:spcBef>
              <a:spcAft>
                <a:spcPts val="0"/>
              </a:spcAft>
              <a:buNone/>
            </a:pPr>
            <a:r>
              <a:rPr lang="en-US"/>
              <a:t>PDP: how those features influence predictions across their range of values</a:t>
            </a:r>
            <a:endParaRPr/>
          </a:p>
        </p:txBody>
      </p:sp>
      <p:sp>
        <p:nvSpPr>
          <p:cNvPr id="341" name="Google Shape;34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506af21729_4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506af21729_4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This is our high-level conclusion. Sleeping start hours have the most impactful effect on sleep deprivation odds.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Our conclusion in here is not very technical, because it is intended to support the decision maker with clear information. In our case, we can clearly say how each variable affecting sleep deprivation odds. For example, based on the result, the CEO can encourage HR department to focus on promoting sleep health, with more targeted approach and clear quantifiable performance metric.</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We also found that Black individuals had higher odds of sleep deprivation risk compared to other groups. This suggests there might be factors that may affect the sleep health, like access to healthcare, work schedules, genetics, we don’t know.. And this is worth to investigate for future research.</a:t>
            </a:r>
            <a:endParaRPr/>
          </a:p>
          <a:p>
            <a:pPr marL="0" lvl="0" indent="0" algn="l" rtl="0">
              <a:spcBef>
                <a:spcPts val="0"/>
              </a:spcBef>
              <a:spcAft>
                <a:spcPts val="0"/>
              </a:spcAft>
              <a:buNone/>
            </a:pPr>
            <a:endParaRPr/>
          </a:p>
          <a:p>
            <a:pPr marL="0" lvl="0" indent="0" algn="l" rtl="0">
              <a:spcBef>
                <a:spcPts val="0"/>
              </a:spcBef>
              <a:spcAft>
                <a:spcPts val="0"/>
              </a:spcAft>
              <a:buNone/>
            </a:pPr>
            <a:r>
              <a:rPr lang="en-US"/>
              <a:t>Is it ethical to use race as predictor? It is more unethical to exclude the race, since it’s basically dismissing a potential of underlying issue that might require intervention.</a:t>
            </a:r>
            <a:endParaRPr/>
          </a:p>
        </p:txBody>
      </p:sp>
      <p:sp>
        <p:nvSpPr>
          <p:cNvPr id="353" name="Google Shape;353;g3506af21729_4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endParaRPr/>
          </a:p>
        </p:txBody>
      </p:sp>
      <p:sp>
        <p:nvSpPr>
          <p:cNvPr id="388" name="Google Shape;38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5134bbf56f_2_1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g35134bbf56f_2_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5134bbf56f_2_1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g35134bbf56f_2_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C3512"/>
              </a:buClr>
              <a:buSzPts val="6000"/>
              <a:buFont typeface="Play"/>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9" name="Google Shape;19;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0C3512"/>
              </a:buClr>
              <a:buSzPts val="2400"/>
              <a:buNone/>
              <a:defRPr sz="2400"/>
            </a:lvl1pPr>
            <a:lvl2pPr lvl="1" algn="ctr">
              <a:lnSpc>
                <a:spcPct val="90000"/>
              </a:lnSpc>
              <a:spcBef>
                <a:spcPts val="500"/>
              </a:spcBef>
              <a:spcAft>
                <a:spcPts val="0"/>
              </a:spcAft>
              <a:buClr>
                <a:srgbClr val="0C3512"/>
              </a:buClr>
              <a:buSzPts val="2000"/>
              <a:buNone/>
              <a:defRPr sz="2000"/>
            </a:lvl2pPr>
            <a:lvl3pPr lvl="2" algn="ctr">
              <a:lnSpc>
                <a:spcPct val="90000"/>
              </a:lnSpc>
              <a:spcBef>
                <a:spcPts val="500"/>
              </a:spcBef>
              <a:spcAft>
                <a:spcPts val="0"/>
              </a:spcAft>
              <a:buClr>
                <a:srgbClr val="0C3512"/>
              </a:buClr>
              <a:buSzPts val="1800"/>
              <a:buNone/>
              <a:defRPr sz="1800"/>
            </a:lvl3pPr>
            <a:lvl4pPr lvl="3" algn="ctr">
              <a:lnSpc>
                <a:spcPct val="90000"/>
              </a:lnSpc>
              <a:spcBef>
                <a:spcPts val="500"/>
              </a:spcBef>
              <a:spcAft>
                <a:spcPts val="0"/>
              </a:spcAft>
              <a:buClr>
                <a:srgbClr val="0C3512"/>
              </a:buClr>
              <a:buSzPts val="1600"/>
              <a:buNone/>
              <a:defRPr sz="1600"/>
            </a:lvl4pPr>
            <a:lvl5pPr lvl="4" algn="ctr">
              <a:lnSpc>
                <a:spcPct val="90000"/>
              </a:lnSpc>
              <a:spcBef>
                <a:spcPts val="500"/>
              </a:spcBef>
              <a:spcAft>
                <a:spcPts val="0"/>
              </a:spcAft>
              <a:buClr>
                <a:srgbClr val="0C351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2"/>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rgbClr val="0C3512"/>
              </a:buClr>
              <a:buSzPts val="4400"/>
              <a:buFont typeface="Play"/>
              <a:buNone/>
              <a:defRPr>
                <a:solidFill>
                  <a:srgbClr val="0C3512"/>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5" name="Google Shape;25;p3"/>
          <p:cNvSpPr txBox="1">
            <a:spLocks noGrp="1"/>
          </p:cNvSpPr>
          <p:nvPr>
            <p:ph type="body" idx="1"/>
          </p:nvPr>
        </p:nvSpPr>
        <p:spPr>
          <a:xfrm>
            <a:off x="406550" y="986900"/>
            <a:ext cx="11394300" cy="4926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C3512"/>
              </a:buClr>
              <a:buSzPts val="1800"/>
              <a:buChar char="•"/>
              <a:defRPr>
                <a:solidFill>
                  <a:srgbClr val="0C3512"/>
                </a:solidFill>
              </a:defRPr>
            </a:lvl1pPr>
            <a:lvl2pPr marL="914400" lvl="1" indent="-330200" algn="l">
              <a:lnSpc>
                <a:spcPct val="90000"/>
              </a:lnSpc>
              <a:spcBef>
                <a:spcPts val="500"/>
              </a:spcBef>
              <a:spcAft>
                <a:spcPts val="0"/>
              </a:spcAft>
              <a:buClr>
                <a:srgbClr val="0C3512"/>
              </a:buClr>
              <a:buSzPts val="1600"/>
              <a:buChar char="•"/>
              <a:defRPr>
                <a:solidFill>
                  <a:srgbClr val="0C3512"/>
                </a:solidFill>
              </a:defRPr>
            </a:lvl2pPr>
            <a:lvl3pPr marL="1371600" lvl="2" indent="-317500" algn="l">
              <a:lnSpc>
                <a:spcPct val="90000"/>
              </a:lnSpc>
              <a:spcBef>
                <a:spcPts val="500"/>
              </a:spcBef>
              <a:spcAft>
                <a:spcPts val="0"/>
              </a:spcAft>
              <a:buClr>
                <a:srgbClr val="0C3512"/>
              </a:buClr>
              <a:buSzPts val="1400"/>
              <a:buChar char="•"/>
              <a:defRPr>
                <a:solidFill>
                  <a:srgbClr val="0C3512"/>
                </a:solidFill>
              </a:defRPr>
            </a:lvl3pPr>
            <a:lvl4pPr marL="1828800" lvl="3" indent="-304800" algn="l">
              <a:lnSpc>
                <a:spcPct val="90000"/>
              </a:lnSpc>
              <a:spcBef>
                <a:spcPts val="500"/>
              </a:spcBef>
              <a:spcAft>
                <a:spcPts val="0"/>
              </a:spcAft>
              <a:buClr>
                <a:srgbClr val="0C3512"/>
              </a:buClr>
              <a:buSzPts val="1200"/>
              <a:buChar char="•"/>
              <a:defRPr>
                <a:solidFill>
                  <a:srgbClr val="0C3512"/>
                </a:solidFill>
              </a:defRPr>
            </a:lvl4pPr>
            <a:lvl5pPr marL="2286000" lvl="4" indent="-292100" algn="l">
              <a:lnSpc>
                <a:spcPct val="90000"/>
              </a:lnSpc>
              <a:spcBef>
                <a:spcPts val="500"/>
              </a:spcBef>
              <a:spcAft>
                <a:spcPts val="0"/>
              </a:spcAft>
              <a:buClr>
                <a:srgbClr val="0C3512"/>
              </a:buClr>
              <a:buSzPts val="1000"/>
              <a:buChar char="•"/>
              <a:defRPr>
                <a:solidFill>
                  <a:srgbClr val="0C3512"/>
                </a:solidFill>
              </a:defRPr>
            </a:lvl5pPr>
            <a:lvl6pPr marL="2743200" lvl="5" indent="-292100" algn="l">
              <a:lnSpc>
                <a:spcPct val="90000"/>
              </a:lnSpc>
              <a:spcBef>
                <a:spcPts val="500"/>
              </a:spcBef>
              <a:spcAft>
                <a:spcPts val="0"/>
              </a:spcAft>
              <a:buClr>
                <a:schemeClr val="dk1"/>
              </a:buClr>
              <a:buSzPts val="1000"/>
              <a:buChar char="•"/>
              <a:defRPr sz="1000"/>
            </a:lvl6pPr>
            <a:lvl7pPr marL="3200400" lvl="6" indent="-292100" algn="l">
              <a:lnSpc>
                <a:spcPct val="90000"/>
              </a:lnSpc>
              <a:spcBef>
                <a:spcPts val="500"/>
              </a:spcBef>
              <a:spcAft>
                <a:spcPts val="0"/>
              </a:spcAft>
              <a:buClr>
                <a:schemeClr val="dk1"/>
              </a:buClr>
              <a:buSzPts val="1000"/>
              <a:buChar char="•"/>
              <a:defRPr/>
            </a:lvl7pPr>
            <a:lvl8pPr marL="3657600" lvl="7" indent="-292100" algn="l">
              <a:lnSpc>
                <a:spcPct val="90000"/>
              </a:lnSpc>
              <a:spcBef>
                <a:spcPts val="500"/>
              </a:spcBef>
              <a:spcAft>
                <a:spcPts val="0"/>
              </a:spcAft>
              <a:buClr>
                <a:schemeClr val="dk1"/>
              </a:buClr>
              <a:buSzPts val="1000"/>
              <a:buChar char="•"/>
              <a:defRPr/>
            </a:lvl8pPr>
            <a:lvl9pPr marL="4114800" lvl="8" indent="-292100" algn="l">
              <a:lnSpc>
                <a:spcPct val="90000"/>
              </a:lnSpc>
              <a:spcBef>
                <a:spcPts val="500"/>
              </a:spcBef>
              <a:spcAft>
                <a:spcPts val="0"/>
              </a:spcAft>
              <a:buClr>
                <a:schemeClr val="dk1"/>
              </a:buClr>
              <a:buSzPts val="1000"/>
              <a:buChar char="•"/>
              <a:defRPr/>
            </a:lvl9pPr>
          </a:lstStyle>
          <a:p>
            <a:endParaRPr/>
          </a:p>
        </p:txBody>
      </p:sp>
      <p:sp>
        <p:nvSpPr>
          <p:cNvPr id="26" name="Google Shape;26;p3"/>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rgbClr val="0C3512"/>
              </a:buClr>
              <a:buSzPts val="6000"/>
              <a:buFont typeface="Play"/>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1" name="Google Shape;31;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2" name="Google Shape;32;p4"/>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4019909" y="209550"/>
            <a:ext cx="7333889" cy="620922"/>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rgbClr val="0C3512"/>
              </a:buClr>
              <a:buSzPts val="18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7" name="Google Shape;37;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C3512"/>
              </a:buClr>
              <a:buSzPts val="1800"/>
              <a:buChar char="•"/>
              <a:defRPr/>
            </a:lvl1pPr>
            <a:lvl2pPr marL="914400" lvl="1" indent="-342900" algn="l">
              <a:lnSpc>
                <a:spcPct val="90000"/>
              </a:lnSpc>
              <a:spcBef>
                <a:spcPts val="500"/>
              </a:spcBef>
              <a:spcAft>
                <a:spcPts val="0"/>
              </a:spcAft>
              <a:buClr>
                <a:srgbClr val="0C3512"/>
              </a:buClr>
              <a:buSzPts val="1800"/>
              <a:buChar char="•"/>
              <a:defRPr/>
            </a:lvl2pPr>
            <a:lvl3pPr marL="1371600" lvl="2" indent="-342900" algn="l">
              <a:lnSpc>
                <a:spcPct val="90000"/>
              </a:lnSpc>
              <a:spcBef>
                <a:spcPts val="500"/>
              </a:spcBef>
              <a:spcAft>
                <a:spcPts val="0"/>
              </a:spcAft>
              <a:buClr>
                <a:srgbClr val="0C3512"/>
              </a:buClr>
              <a:buSzPts val="1800"/>
              <a:buChar char="•"/>
              <a:defRPr/>
            </a:lvl3pPr>
            <a:lvl4pPr marL="1828800" lvl="3" indent="-342900" algn="l">
              <a:lnSpc>
                <a:spcPct val="90000"/>
              </a:lnSpc>
              <a:spcBef>
                <a:spcPts val="500"/>
              </a:spcBef>
              <a:spcAft>
                <a:spcPts val="0"/>
              </a:spcAft>
              <a:buClr>
                <a:srgbClr val="0C3512"/>
              </a:buClr>
              <a:buSzPts val="1800"/>
              <a:buChar char="•"/>
              <a:defRPr/>
            </a:lvl4pPr>
            <a:lvl5pPr marL="2286000" lvl="4" indent="-342900" algn="l">
              <a:lnSpc>
                <a:spcPct val="90000"/>
              </a:lnSpc>
              <a:spcBef>
                <a:spcPts val="500"/>
              </a:spcBef>
              <a:spcAft>
                <a:spcPts val="0"/>
              </a:spcAft>
              <a:buClr>
                <a:srgbClr val="0C351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C3512"/>
              </a:buClr>
              <a:buSzPts val="1800"/>
              <a:buChar char="•"/>
              <a:defRPr/>
            </a:lvl1pPr>
            <a:lvl2pPr marL="914400" lvl="1" indent="-342900" algn="l">
              <a:lnSpc>
                <a:spcPct val="90000"/>
              </a:lnSpc>
              <a:spcBef>
                <a:spcPts val="500"/>
              </a:spcBef>
              <a:spcAft>
                <a:spcPts val="0"/>
              </a:spcAft>
              <a:buClr>
                <a:srgbClr val="0C3512"/>
              </a:buClr>
              <a:buSzPts val="1800"/>
              <a:buChar char="•"/>
              <a:defRPr/>
            </a:lvl2pPr>
            <a:lvl3pPr marL="1371600" lvl="2" indent="-342900" algn="l">
              <a:lnSpc>
                <a:spcPct val="90000"/>
              </a:lnSpc>
              <a:spcBef>
                <a:spcPts val="500"/>
              </a:spcBef>
              <a:spcAft>
                <a:spcPts val="0"/>
              </a:spcAft>
              <a:buClr>
                <a:srgbClr val="0C3512"/>
              </a:buClr>
              <a:buSzPts val="1800"/>
              <a:buChar char="•"/>
              <a:defRPr/>
            </a:lvl3pPr>
            <a:lvl4pPr marL="1828800" lvl="3" indent="-342900" algn="l">
              <a:lnSpc>
                <a:spcPct val="90000"/>
              </a:lnSpc>
              <a:spcBef>
                <a:spcPts val="500"/>
              </a:spcBef>
              <a:spcAft>
                <a:spcPts val="0"/>
              </a:spcAft>
              <a:buClr>
                <a:srgbClr val="0C3512"/>
              </a:buClr>
              <a:buSzPts val="1800"/>
              <a:buChar char="•"/>
              <a:defRPr/>
            </a:lvl4pPr>
            <a:lvl5pPr marL="2286000" lvl="4" indent="-342900" algn="l">
              <a:lnSpc>
                <a:spcPct val="90000"/>
              </a:lnSpc>
              <a:spcBef>
                <a:spcPts val="500"/>
              </a:spcBef>
              <a:spcAft>
                <a:spcPts val="0"/>
              </a:spcAft>
              <a:buClr>
                <a:srgbClr val="0C351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rgbClr val="0C3512"/>
              </a:buClr>
              <a:buSzPts val="18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44" name="Google Shape;44;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C3512"/>
              </a:buClr>
              <a:buSzPts val="2400"/>
              <a:buNone/>
              <a:defRPr sz="2400" b="1"/>
            </a:lvl1pPr>
            <a:lvl2pPr marL="914400" lvl="1" indent="-228600" algn="l">
              <a:lnSpc>
                <a:spcPct val="90000"/>
              </a:lnSpc>
              <a:spcBef>
                <a:spcPts val="500"/>
              </a:spcBef>
              <a:spcAft>
                <a:spcPts val="0"/>
              </a:spcAft>
              <a:buClr>
                <a:srgbClr val="0C3512"/>
              </a:buClr>
              <a:buSzPts val="2000"/>
              <a:buNone/>
              <a:defRPr sz="2000" b="1"/>
            </a:lvl2pPr>
            <a:lvl3pPr marL="1371600" lvl="2" indent="-228600" algn="l">
              <a:lnSpc>
                <a:spcPct val="90000"/>
              </a:lnSpc>
              <a:spcBef>
                <a:spcPts val="500"/>
              </a:spcBef>
              <a:spcAft>
                <a:spcPts val="0"/>
              </a:spcAft>
              <a:buClr>
                <a:srgbClr val="0C3512"/>
              </a:buClr>
              <a:buSzPts val="1800"/>
              <a:buNone/>
              <a:defRPr sz="1800" b="1"/>
            </a:lvl3pPr>
            <a:lvl4pPr marL="1828800" lvl="3" indent="-228600" algn="l">
              <a:lnSpc>
                <a:spcPct val="90000"/>
              </a:lnSpc>
              <a:spcBef>
                <a:spcPts val="500"/>
              </a:spcBef>
              <a:spcAft>
                <a:spcPts val="0"/>
              </a:spcAft>
              <a:buClr>
                <a:srgbClr val="0C3512"/>
              </a:buClr>
              <a:buSzPts val="1600"/>
              <a:buNone/>
              <a:defRPr sz="1600" b="1"/>
            </a:lvl4pPr>
            <a:lvl5pPr marL="2286000" lvl="4" indent="-228600" algn="l">
              <a:lnSpc>
                <a:spcPct val="90000"/>
              </a:lnSpc>
              <a:spcBef>
                <a:spcPts val="500"/>
              </a:spcBef>
              <a:spcAft>
                <a:spcPts val="0"/>
              </a:spcAft>
              <a:buClr>
                <a:srgbClr val="0C3512"/>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C3512"/>
              </a:buClr>
              <a:buSzPts val="1800"/>
              <a:buChar char="•"/>
              <a:defRPr/>
            </a:lvl1pPr>
            <a:lvl2pPr marL="914400" lvl="1" indent="-342900" algn="l">
              <a:lnSpc>
                <a:spcPct val="90000"/>
              </a:lnSpc>
              <a:spcBef>
                <a:spcPts val="500"/>
              </a:spcBef>
              <a:spcAft>
                <a:spcPts val="0"/>
              </a:spcAft>
              <a:buClr>
                <a:srgbClr val="0C3512"/>
              </a:buClr>
              <a:buSzPts val="1800"/>
              <a:buChar char="•"/>
              <a:defRPr/>
            </a:lvl2pPr>
            <a:lvl3pPr marL="1371600" lvl="2" indent="-342900" algn="l">
              <a:lnSpc>
                <a:spcPct val="90000"/>
              </a:lnSpc>
              <a:spcBef>
                <a:spcPts val="500"/>
              </a:spcBef>
              <a:spcAft>
                <a:spcPts val="0"/>
              </a:spcAft>
              <a:buClr>
                <a:srgbClr val="0C3512"/>
              </a:buClr>
              <a:buSzPts val="1800"/>
              <a:buChar char="•"/>
              <a:defRPr/>
            </a:lvl3pPr>
            <a:lvl4pPr marL="1828800" lvl="3" indent="-342900" algn="l">
              <a:lnSpc>
                <a:spcPct val="90000"/>
              </a:lnSpc>
              <a:spcBef>
                <a:spcPts val="500"/>
              </a:spcBef>
              <a:spcAft>
                <a:spcPts val="0"/>
              </a:spcAft>
              <a:buClr>
                <a:srgbClr val="0C3512"/>
              </a:buClr>
              <a:buSzPts val="1800"/>
              <a:buChar char="•"/>
              <a:defRPr/>
            </a:lvl4pPr>
            <a:lvl5pPr marL="2286000" lvl="4" indent="-342900" algn="l">
              <a:lnSpc>
                <a:spcPct val="90000"/>
              </a:lnSpc>
              <a:spcBef>
                <a:spcPts val="500"/>
              </a:spcBef>
              <a:spcAft>
                <a:spcPts val="0"/>
              </a:spcAft>
              <a:buClr>
                <a:srgbClr val="0C351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C3512"/>
              </a:buClr>
              <a:buSzPts val="2400"/>
              <a:buNone/>
              <a:defRPr sz="2400" b="1"/>
            </a:lvl1pPr>
            <a:lvl2pPr marL="914400" lvl="1" indent="-228600" algn="l">
              <a:lnSpc>
                <a:spcPct val="90000"/>
              </a:lnSpc>
              <a:spcBef>
                <a:spcPts val="500"/>
              </a:spcBef>
              <a:spcAft>
                <a:spcPts val="0"/>
              </a:spcAft>
              <a:buClr>
                <a:srgbClr val="0C3512"/>
              </a:buClr>
              <a:buSzPts val="2000"/>
              <a:buNone/>
              <a:defRPr sz="2000" b="1"/>
            </a:lvl2pPr>
            <a:lvl3pPr marL="1371600" lvl="2" indent="-228600" algn="l">
              <a:lnSpc>
                <a:spcPct val="90000"/>
              </a:lnSpc>
              <a:spcBef>
                <a:spcPts val="500"/>
              </a:spcBef>
              <a:spcAft>
                <a:spcPts val="0"/>
              </a:spcAft>
              <a:buClr>
                <a:srgbClr val="0C3512"/>
              </a:buClr>
              <a:buSzPts val="1800"/>
              <a:buNone/>
              <a:defRPr sz="1800" b="1"/>
            </a:lvl3pPr>
            <a:lvl4pPr marL="1828800" lvl="3" indent="-228600" algn="l">
              <a:lnSpc>
                <a:spcPct val="90000"/>
              </a:lnSpc>
              <a:spcBef>
                <a:spcPts val="500"/>
              </a:spcBef>
              <a:spcAft>
                <a:spcPts val="0"/>
              </a:spcAft>
              <a:buClr>
                <a:srgbClr val="0C3512"/>
              </a:buClr>
              <a:buSzPts val="1600"/>
              <a:buNone/>
              <a:defRPr sz="1600" b="1"/>
            </a:lvl4pPr>
            <a:lvl5pPr marL="2286000" lvl="4" indent="-228600" algn="l">
              <a:lnSpc>
                <a:spcPct val="90000"/>
              </a:lnSpc>
              <a:spcBef>
                <a:spcPts val="500"/>
              </a:spcBef>
              <a:spcAft>
                <a:spcPts val="0"/>
              </a:spcAft>
              <a:buClr>
                <a:srgbClr val="0C3512"/>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C3512"/>
              </a:buClr>
              <a:buSzPts val="1800"/>
              <a:buChar char="•"/>
              <a:defRPr/>
            </a:lvl1pPr>
            <a:lvl2pPr marL="914400" lvl="1" indent="-342900" algn="l">
              <a:lnSpc>
                <a:spcPct val="90000"/>
              </a:lnSpc>
              <a:spcBef>
                <a:spcPts val="500"/>
              </a:spcBef>
              <a:spcAft>
                <a:spcPts val="0"/>
              </a:spcAft>
              <a:buClr>
                <a:srgbClr val="0C3512"/>
              </a:buClr>
              <a:buSzPts val="1800"/>
              <a:buChar char="•"/>
              <a:defRPr/>
            </a:lvl2pPr>
            <a:lvl3pPr marL="1371600" lvl="2" indent="-342900" algn="l">
              <a:lnSpc>
                <a:spcPct val="90000"/>
              </a:lnSpc>
              <a:spcBef>
                <a:spcPts val="500"/>
              </a:spcBef>
              <a:spcAft>
                <a:spcPts val="0"/>
              </a:spcAft>
              <a:buClr>
                <a:srgbClr val="0C3512"/>
              </a:buClr>
              <a:buSzPts val="1800"/>
              <a:buChar char="•"/>
              <a:defRPr/>
            </a:lvl3pPr>
            <a:lvl4pPr marL="1828800" lvl="3" indent="-342900" algn="l">
              <a:lnSpc>
                <a:spcPct val="90000"/>
              </a:lnSpc>
              <a:spcBef>
                <a:spcPts val="500"/>
              </a:spcBef>
              <a:spcAft>
                <a:spcPts val="0"/>
              </a:spcAft>
              <a:buClr>
                <a:srgbClr val="0C3512"/>
              </a:buClr>
              <a:buSzPts val="1800"/>
              <a:buChar char="•"/>
              <a:defRPr/>
            </a:lvl4pPr>
            <a:lvl5pPr marL="2286000" lvl="4" indent="-342900" algn="l">
              <a:lnSpc>
                <a:spcPct val="90000"/>
              </a:lnSpc>
              <a:spcBef>
                <a:spcPts val="500"/>
              </a:spcBef>
              <a:spcAft>
                <a:spcPts val="0"/>
              </a:spcAft>
              <a:buClr>
                <a:srgbClr val="0C351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4019909" y="209550"/>
            <a:ext cx="7333889" cy="620922"/>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rgbClr val="0C3512"/>
              </a:buClr>
              <a:buSzPts val="18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53" name="Google Shape;53;p7"/>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rgbClr val="0C3512"/>
              </a:buClr>
              <a:buSzPts val="3200"/>
              <a:buFont typeface="Play"/>
              <a:buNone/>
              <a:defRPr sz="32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62" name="Google Shape;62;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0C3512"/>
              </a:buClr>
              <a:buSzPts val="3200"/>
              <a:buChar char="•"/>
              <a:defRPr sz="3200"/>
            </a:lvl1pPr>
            <a:lvl2pPr marL="914400" lvl="1" indent="-406400" algn="l">
              <a:lnSpc>
                <a:spcPct val="90000"/>
              </a:lnSpc>
              <a:spcBef>
                <a:spcPts val="500"/>
              </a:spcBef>
              <a:spcAft>
                <a:spcPts val="0"/>
              </a:spcAft>
              <a:buClr>
                <a:srgbClr val="0C3512"/>
              </a:buClr>
              <a:buSzPts val="2800"/>
              <a:buChar char="•"/>
              <a:defRPr sz="2800"/>
            </a:lvl2pPr>
            <a:lvl3pPr marL="1371600" lvl="2" indent="-381000" algn="l">
              <a:lnSpc>
                <a:spcPct val="90000"/>
              </a:lnSpc>
              <a:spcBef>
                <a:spcPts val="500"/>
              </a:spcBef>
              <a:spcAft>
                <a:spcPts val="0"/>
              </a:spcAft>
              <a:buClr>
                <a:srgbClr val="0C3512"/>
              </a:buClr>
              <a:buSzPts val="2400"/>
              <a:buChar char="•"/>
              <a:defRPr sz="2400"/>
            </a:lvl3pPr>
            <a:lvl4pPr marL="1828800" lvl="3" indent="-355600" algn="l">
              <a:lnSpc>
                <a:spcPct val="90000"/>
              </a:lnSpc>
              <a:spcBef>
                <a:spcPts val="500"/>
              </a:spcBef>
              <a:spcAft>
                <a:spcPts val="0"/>
              </a:spcAft>
              <a:buClr>
                <a:srgbClr val="0C3512"/>
              </a:buClr>
              <a:buSzPts val="2000"/>
              <a:buChar char="•"/>
              <a:defRPr sz="2000"/>
            </a:lvl4pPr>
            <a:lvl5pPr marL="2286000" lvl="4" indent="-355600" algn="l">
              <a:lnSpc>
                <a:spcPct val="90000"/>
              </a:lnSpc>
              <a:spcBef>
                <a:spcPts val="500"/>
              </a:spcBef>
              <a:spcAft>
                <a:spcPts val="0"/>
              </a:spcAft>
              <a:buClr>
                <a:srgbClr val="0C3512"/>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C3512"/>
              </a:buClr>
              <a:buSzPts val="1600"/>
              <a:buNone/>
              <a:defRPr sz="1600"/>
            </a:lvl1pPr>
            <a:lvl2pPr marL="914400" lvl="1" indent="-228600" algn="l">
              <a:lnSpc>
                <a:spcPct val="90000"/>
              </a:lnSpc>
              <a:spcBef>
                <a:spcPts val="500"/>
              </a:spcBef>
              <a:spcAft>
                <a:spcPts val="0"/>
              </a:spcAft>
              <a:buClr>
                <a:srgbClr val="0C3512"/>
              </a:buClr>
              <a:buSzPts val="1400"/>
              <a:buNone/>
              <a:defRPr sz="1400"/>
            </a:lvl2pPr>
            <a:lvl3pPr marL="1371600" lvl="2" indent="-228600" algn="l">
              <a:lnSpc>
                <a:spcPct val="90000"/>
              </a:lnSpc>
              <a:spcBef>
                <a:spcPts val="500"/>
              </a:spcBef>
              <a:spcAft>
                <a:spcPts val="0"/>
              </a:spcAft>
              <a:buClr>
                <a:srgbClr val="0C3512"/>
              </a:buClr>
              <a:buSzPts val="1200"/>
              <a:buNone/>
              <a:defRPr sz="1200"/>
            </a:lvl3pPr>
            <a:lvl4pPr marL="1828800" lvl="3" indent="-228600" algn="l">
              <a:lnSpc>
                <a:spcPct val="90000"/>
              </a:lnSpc>
              <a:spcBef>
                <a:spcPts val="500"/>
              </a:spcBef>
              <a:spcAft>
                <a:spcPts val="0"/>
              </a:spcAft>
              <a:buClr>
                <a:srgbClr val="0C3512"/>
              </a:buClr>
              <a:buSzPts val="1000"/>
              <a:buNone/>
              <a:defRPr sz="1000"/>
            </a:lvl4pPr>
            <a:lvl5pPr marL="2286000" lvl="4" indent="-228600" algn="l">
              <a:lnSpc>
                <a:spcPct val="90000"/>
              </a:lnSpc>
              <a:spcBef>
                <a:spcPts val="500"/>
              </a:spcBef>
              <a:spcAft>
                <a:spcPts val="0"/>
              </a:spcAft>
              <a:buClr>
                <a:srgbClr val="0C3512"/>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9"/>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rgbClr val="0C3512"/>
              </a:buClr>
              <a:buSzPts val="3200"/>
              <a:buFont typeface="Play"/>
              <a:buNone/>
              <a:defRPr sz="32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69" name="Google Shape;69;p10"/>
          <p:cNvSpPr>
            <a:spLocks noGrp="1"/>
          </p:cNvSpPr>
          <p:nvPr>
            <p:ph type="pic" idx="2"/>
          </p:nvPr>
        </p:nvSpPr>
        <p:spPr>
          <a:xfrm>
            <a:off x="5183188" y="987425"/>
            <a:ext cx="6172200" cy="4873625"/>
          </a:xfrm>
          <a:prstGeom prst="rect">
            <a:avLst/>
          </a:prstGeom>
          <a:noFill/>
          <a:ln>
            <a:noFill/>
          </a:ln>
        </p:spPr>
      </p:sp>
      <p:sp>
        <p:nvSpPr>
          <p:cNvPr id="70" name="Google Shape;70;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C3512"/>
              </a:buClr>
              <a:buSzPts val="1600"/>
              <a:buNone/>
              <a:defRPr sz="1600"/>
            </a:lvl1pPr>
            <a:lvl2pPr marL="914400" lvl="1" indent="-228600" algn="l">
              <a:lnSpc>
                <a:spcPct val="90000"/>
              </a:lnSpc>
              <a:spcBef>
                <a:spcPts val="500"/>
              </a:spcBef>
              <a:spcAft>
                <a:spcPts val="0"/>
              </a:spcAft>
              <a:buClr>
                <a:srgbClr val="0C3512"/>
              </a:buClr>
              <a:buSzPts val="1400"/>
              <a:buNone/>
              <a:defRPr sz="1400"/>
            </a:lvl2pPr>
            <a:lvl3pPr marL="1371600" lvl="2" indent="-228600" algn="l">
              <a:lnSpc>
                <a:spcPct val="90000"/>
              </a:lnSpc>
              <a:spcBef>
                <a:spcPts val="500"/>
              </a:spcBef>
              <a:spcAft>
                <a:spcPts val="0"/>
              </a:spcAft>
              <a:buClr>
                <a:srgbClr val="0C3512"/>
              </a:buClr>
              <a:buSzPts val="1200"/>
              <a:buNone/>
              <a:defRPr sz="1200"/>
            </a:lvl3pPr>
            <a:lvl4pPr marL="1828800" lvl="3" indent="-228600" algn="l">
              <a:lnSpc>
                <a:spcPct val="90000"/>
              </a:lnSpc>
              <a:spcBef>
                <a:spcPts val="500"/>
              </a:spcBef>
              <a:spcAft>
                <a:spcPts val="0"/>
              </a:spcAft>
              <a:buClr>
                <a:srgbClr val="0C3512"/>
              </a:buClr>
              <a:buSzPts val="1000"/>
              <a:buNone/>
              <a:defRPr sz="1000"/>
            </a:lvl4pPr>
            <a:lvl5pPr marL="2286000" lvl="4" indent="-228600" algn="l">
              <a:lnSpc>
                <a:spcPct val="90000"/>
              </a:lnSpc>
              <a:spcBef>
                <a:spcPts val="500"/>
              </a:spcBef>
              <a:spcAft>
                <a:spcPts val="0"/>
              </a:spcAft>
              <a:buClr>
                <a:srgbClr val="0C3512"/>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0"/>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4019909" y="209550"/>
            <a:ext cx="7333889" cy="620922"/>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rgbClr val="0C3512"/>
              </a:buClr>
              <a:buSzPts val="18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76" name="Google Shape;76;p11"/>
          <p:cNvSpPr txBox="1">
            <a:spLocks noGrp="1"/>
          </p:cNvSpPr>
          <p:nvPr>
            <p:ph type="body" idx="1"/>
          </p:nvPr>
        </p:nvSpPr>
        <p:spPr>
          <a:xfrm rot="5400000">
            <a:off x="3619552" y="-1821124"/>
            <a:ext cx="4952897"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C3512"/>
              </a:buClr>
              <a:buSzPts val="1800"/>
              <a:buChar char="•"/>
              <a:defRPr/>
            </a:lvl1pPr>
            <a:lvl2pPr marL="914400" lvl="1" indent="-342900" algn="l">
              <a:lnSpc>
                <a:spcPct val="90000"/>
              </a:lnSpc>
              <a:spcBef>
                <a:spcPts val="500"/>
              </a:spcBef>
              <a:spcAft>
                <a:spcPts val="0"/>
              </a:spcAft>
              <a:buClr>
                <a:srgbClr val="0C3512"/>
              </a:buClr>
              <a:buSzPts val="1800"/>
              <a:buChar char="•"/>
              <a:defRPr/>
            </a:lvl2pPr>
            <a:lvl3pPr marL="1371600" lvl="2" indent="-342900" algn="l">
              <a:lnSpc>
                <a:spcPct val="90000"/>
              </a:lnSpc>
              <a:spcBef>
                <a:spcPts val="500"/>
              </a:spcBef>
              <a:spcAft>
                <a:spcPts val="0"/>
              </a:spcAft>
              <a:buClr>
                <a:srgbClr val="0C3512"/>
              </a:buClr>
              <a:buSzPts val="1800"/>
              <a:buChar char="•"/>
              <a:defRPr/>
            </a:lvl3pPr>
            <a:lvl4pPr marL="1828800" lvl="3" indent="-342900" algn="l">
              <a:lnSpc>
                <a:spcPct val="90000"/>
              </a:lnSpc>
              <a:spcBef>
                <a:spcPts val="500"/>
              </a:spcBef>
              <a:spcAft>
                <a:spcPts val="0"/>
              </a:spcAft>
              <a:buClr>
                <a:srgbClr val="0C3512"/>
              </a:buClr>
              <a:buSzPts val="1800"/>
              <a:buChar char="•"/>
              <a:defRPr/>
            </a:lvl4pPr>
            <a:lvl5pPr marL="2286000" lvl="4" indent="-342900" algn="l">
              <a:lnSpc>
                <a:spcPct val="90000"/>
              </a:lnSpc>
              <a:spcBef>
                <a:spcPts val="500"/>
              </a:spcBef>
              <a:spcAft>
                <a:spcPts val="0"/>
              </a:spcAft>
              <a:buClr>
                <a:srgbClr val="0C351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1"/>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rgbClr val="0C3512"/>
              </a:buClr>
              <a:buSzPts val="18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82" name="Google Shape;82;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C3512"/>
              </a:buClr>
              <a:buSzPts val="1800"/>
              <a:buChar char="•"/>
              <a:defRPr/>
            </a:lvl1pPr>
            <a:lvl2pPr marL="914400" lvl="1" indent="-342900" algn="l">
              <a:lnSpc>
                <a:spcPct val="90000"/>
              </a:lnSpc>
              <a:spcBef>
                <a:spcPts val="500"/>
              </a:spcBef>
              <a:spcAft>
                <a:spcPts val="0"/>
              </a:spcAft>
              <a:buClr>
                <a:srgbClr val="0C3512"/>
              </a:buClr>
              <a:buSzPts val="1800"/>
              <a:buChar char="•"/>
              <a:defRPr/>
            </a:lvl2pPr>
            <a:lvl3pPr marL="1371600" lvl="2" indent="-342900" algn="l">
              <a:lnSpc>
                <a:spcPct val="90000"/>
              </a:lnSpc>
              <a:spcBef>
                <a:spcPts val="500"/>
              </a:spcBef>
              <a:spcAft>
                <a:spcPts val="0"/>
              </a:spcAft>
              <a:buClr>
                <a:srgbClr val="0C3512"/>
              </a:buClr>
              <a:buSzPts val="1800"/>
              <a:buChar char="•"/>
              <a:defRPr/>
            </a:lvl3pPr>
            <a:lvl4pPr marL="1828800" lvl="3" indent="-342900" algn="l">
              <a:lnSpc>
                <a:spcPct val="90000"/>
              </a:lnSpc>
              <a:spcBef>
                <a:spcPts val="500"/>
              </a:spcBef>
              <a:spcAft>
                <a:spcPts val="0"/>
              </a:spcAft>
              <a:buClr>
                <a:srgbClr val="0C3512"/>
              </a:buClr>
              <a:buSzPts val="1800"/>
              <a:buChar char="•"/>
              <a:defRPr/>
            </a:lvl4pPr>
            <a:lvl5pPr marL="2286000" lvl="4" indent="-342900" algn="l">
              <a:lnSpc>
                <a:spcPct val="90000"/>
              </a:lnSpc>
              <a:spcBef>
                <a:spcPts val="500"/>
              </a:spcBef>
              <a:spcAft>
                <a:spcPts val="0"/>
              </a:spcAft>
              <a:buClr>
                <a:srgbClr val="0C351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2"/>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6492875"/>
            <a:ext cx="12192000" cy="365125"/>
          </a:xfrm>
          <a:prstGeom prst="rect">
            <a:avLst/>
          </a:prstGeom>
          <a:solidFill>
            <a:srgbClr val="0C3512"/>
          </a:solid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000">
                <a:solidFill>
                  <a:schemeClr val="lt1"/>
                </a:solidFill>
                <a:latin typeface="Garamond"/>
                <a:ea typeface="Garamond"/>
                <a:cs typeface="Garamond"/>
                <a:sym typeface="Garamond"/>
              </a:rPr>
              <a:t>Department of Statistics and Probability</a:t>
            </a:r>
            <a:endParaRPr sz="2000">
              <a:latin typeface="Garamond"/>
              <a:ea typeface="Garamond"/>
              <a:cs typeface="Garamond"/>
              <a:sym typeface="Garamond"/>
            </a:endParaRPr>
          </a:p>
        </p:txBody>
      </p:sp>
      <p:sp>
        <p:nvSpPr>
          <p:cNvPr id="11" name="Google Shape;11;p1"/>
          <p:cNvSpPr txBox="1">
            <a:spLocks noGrp="1"/>
          </p:cNvSpPr>
          <p:nvPr>
            <p:ph type="title"/>
          </p:nvPr>
        </p:nvSpPr>
        <p:spPr>
          <a:xfrm>
            <a:off x="4019909" y="209550"/>
            <a:ext cx="7333889" cy="620922"/>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rgbClr val="0C3512"/>
              </a:buClr>
              <a:buSzPts val="2800"/>
              <a:buFont typeface="Noto Sans"/>
              <a:buNone/>
              <a:defRPr sz="2800" b="1" i="0" u="none" strike="noStrike" cap="none">
                <a:solidFill>
                  <a:srgbClr val="0C3512"/>
                </a:solidFill>
                <a:latin typeface="Noto Sans"/>
                <a:ea typeface="Noto Sans"/>
                <a:cs typeface="Noto Sans"/>
                <a:sym typeface="Noto Sans"/>
              </a:defRPr>
            </a:lvl1pPr>
            <a:lvl2pPr lvl="1">
              <a:spcBef>
                <a:spcPts val="0"/>
              </a:spcBef>
              <a:spcAft>
                <a:spcPts val="0"/>
              </a:spcAft>
              <a:buSzPts val="3500"/>
              <a:buFont typeface="Noto Sans"/>
              <a:buNone/>
              <a:defRPr sz="3500" b="1">
                <a:latin typeface="Noto Sans"/>
                <a:ea typeface="Noto Sans"/>
                <a:cs typeface="Noto Sans"/>
                <a:sym typeface="Noto Sans"/>
              </a:defRPr>
            </a:lvl2pPr>
            <a:lvl3pPr lvl="2">
              <a:spcBef>
                <a:spcPts val="0"/>
              </a:spcBef>
              <a:spcAft>
                <a:spcPts val="0"/>
              </a:spcAft>
              <a:buSzPts val="3500"/>
              <a:buFont typeface="Noto Sans"/>
              <a:buNone/>
              <a:defRPr sz="3500" b="1">
                <a:latin typeface="Noto Sans"/>
                <a:ea typeface="Noto Sans"/>
                <a:cs typeface="Noto Sans"/>
                <a:sym typeface="Noto Sans"/>
              </a:defRPr>
            </a:lvl3pPr>
            <a:lvl4pPr lvl="3">
              <a:spcBef>
                <a:spcPts val="0"/>
              </a:spcBef>
              <a:spcAft>
                <a:spcPts val="0"/>
              </a:spcAft>
              <a:buSzPts val="3500"/>
              <a:buFont typeface="Noto Sans"/>
              <a:buNone/>
              <a:defRPr sz="3500" b="1">
                <a:latin typeface="Noto Sans"/>
                <a:ea typeface="Noto Sans"/>
                <a:cs typeface="Noto Sans"/>
                <a:sym typeface="Noto Sans"/>
              </a:defRPr>
            </a:lvl4pPr>
            <a:lvl5pPr lvl="4">
              <a:spcBef>
                <a:spcPts val="0"/>
              </a:spcBef>
              <a:spcAft>
                <a:spcPts val="0"/>
              </a:spcAft>
              <a:buSzPts val="3500"/>
              <a:buFont typeface="Noto Sans"/>
              <a:buNone/>
              <a:defRPr sz="3500" b="1">
                <a:latin typeface="Noto Sans"/>
                <a:ea typeface="Noto Sans"/>
                <a:cs typeface="Noto Sans"/>
                <a:sym typeface="Noto Sans"/>
              </a:defRPr>
            </a:lvl5pPr>
            <a:lvl6pPr lvl="5">
              <a:spcBef>
                <a:spcPts val="0"/>
              </a:spcBef>
              <a:spcAft>
                <a:spcPts val="0"/>
              </a:spcAft>
              <a:buSzPts val="3500"/>
              <a:buFont typeface="Noto Sans"/>
              <a:buNone/>
              <a:defRPr sz="3500" b="1">
                <a:latin typeface="Noto Sans"/>
                <a:ea typeface="Noto Sans"/>
                <a:cs typeface="Noto Sans"/>
                <a:sym typeface="Noto Sans"/>
              </a:defRPr>
            </a:lvl6pPr>
            <a:lvl7pPr lvl="6">
              <a:spcBef>
                <a:spcPts val="0"/>
              </a:spcBef>
              <a:spcAft>
                <a:spcPts val="0"/>
              </a:spcAft>
              <a:buSzPts val="3500"/>
              <a:buFont typeface="Noto Sans"/>
              <a:buNone/>
              <a:defRPr sz="3500" b="1">
                <a:latin typeface="Noto Sans"/>
                <a:ea typeface="Noto Sans"/>
                <a:cs typeface="Noto Sans"/>
                <a:sym typeface="Noto Sans"/>
              </a:defRPr>
            </a:lvl7pPr>
            <a:lvl8pPr lvl="7">
              <a:spcBef>
                <a:spcPts val="0"/>
              </a:spcBef>
              <a:spcAft>
                <a:spcPts val="0"/>
              </a:spcAft>
              <a:buSzPts val="3500"/>
              <a:buFont typeface="Noto Sans"/>
              <a:buNone/>
              <a:defRPr sz="3500" b="1">
                <a:latin typeface="Noto Sans"/>
                <a:ea typeface="Noto Sans"/>
                <a:cs typeface="Noto Sans"/>
                <a:sym typeface="Noto Sans"/>
              </a:defRPr>
            </a:lvl8pPr>
            <a:lvl9pPr lvl="8">
              <a:spcBef>
                <a:spcPts val="0"/>
              </a:spcBef>
              <a:spcAft>
                <a:spcPts val="0"/>
              </a:spcAft>
              <a:buSzPts val="3500"/>
              <a:buFont typeface="Noto Sans"/>
              <a:buNone/>
              <a:defRPr sz="3500" b="1">
                <a:latin typeface="Noto Sans"/>
                <a:ea typeface="Noto Sans"/>
                <a:cs typeface="Noto Sans"/>
                <a:sym typeface="Noto Sans"/>
              </a:defRPr>
            </a:lvl9pPr>
          </a:lstStyle>
          <a:p>
            <a:endParaRPr/>
          </a:p>
        </p:txBody>
      </p:sp>
      <p:sp>
        <p:nvSpPr>
          <p:cNvPr id="12" name="Google Shape;12;p1"/>
          <p:cNvSpPr txBox="1">
            <a:spLocks noGrp="1"/>
          </p:cNvSpPr>
          <p:nvPr>
            <p:ph type="body" idx="1"/>
          </p:nvPr>
        </p:nvSpPr>
        <p:spPr>
          <a:xfrm>
            <a:off x="415125" y="1032137"/>
            <a:ext cx="11376900" cy="48813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rgbClr val="0C3512"/>
              </a:buClr>
              <a:buSzPts val="1800"/>
              <a:buFont typeface="Noto Sans"/>
              <a:buChar char="•"/>
              <a:defRPr sz="1800" i="0" u="none" strike="noStrike" cap="none">
                <a:solidFill>
                  <a:srgbClr val="0C3512"/>
                </a:solidFill>
                <a:latin typeface="Noto Sans"/>
                <a:ea typeface="Noto Sans"/>
                <a:cs typeface="Noto Sans"/>
                <a:sym typeface="Noto Sans"/>
              </a:defRPr>
            </a:lvl1pPr>
            <a:lvl2pPr marL="914400" marR="0" lvl="1" indent="-330200" algn="l" rtl="0">
              <a:lnSpc>
                <a:spcPct val="90000"/>
              </a:lnSpc>
              <a:spcBef>
                <a:spcPts val="500"/>
              </a:spcBef>
              <a:spcAft>
                <a:spcPts val="0"/>
              </a:spcAft>
              <a:buClr>
                <a:srgbClr val="0C3512"/>
              </a:buClr>
              <a:buSzPts val="1600"/>
              <a:buFont typeface="Noto Sans"/>
              <a:buChar char="•"/>
              <a:defRPr sz="1600" i="0" u="none" strike="noStrike" cap="none">
                <a:solidFill>
                  <a:srgbClr val="0C3512"/>
                </a:solidFill>
                <a:latin typeface="Noto Sans"/>
                <a:ea typeface="Noto Sans"/>
                <a:cs typeface="Noto Sans"/>
                <a:sym typeface="Noto Sans"/>
              </a:defRPr>
            </a:lvl2pPr>
            <a:lvl3pPr marL="1371600" marR="0" lvl="2" indent="-317500" algn="l" rtl="0">
              <a:lnSpc>
                <a:spcPct val="90000"/>
              </a:lnSpc>
              <a:spcBef>
                <a:spcPts val="500"/>
              </a:spcBef>
              <a:spcAft>
                <a:spcPts val="0"/>
              </a:spcAft>
              <a:buClr>
                <a:srgbClr val="0C3512"/>
              </a:buClr>
              <a:buSzPts val="1400"/>
              <a:buFont typeface="Noto Sans"/>
              <a:buChar char="•"/>
              <a:defRPr i="0" u="none" strike="noStrike" cap="none">
                <a:solidFill>
                  <a:srgbClr val="0C3512"/>
                </a:solidFill>
                <a:latin typeface="Noto Sans"/>
                <a:ea typeface="Noto Sans"/>
                <a:cs typeface="Noto Sans"/>
                <a:sym typeface="Noto Sans"/>
              </a:defRPr>
            </a:lvl3pPr>
            <a:lvl4pPr marL="1828800" marR="0" lvl="3" indent="-304800" algn="l" rtl="0">
              <a:lnSpc>
                <a:spcPct val="90000"/>
              </a:lnSpc>
              <a:spcBef>
                <a:spcPts val="500"/>
              </a:spcBef>
              <a:spcAft>
                <a:spcPts val="0"/>
              </a:spcAft>
              <a:buClr>
                <a:srgbClr val="0C3512"/>
              </a:buClr>
              <a:buSzPts val="1200"/>
              <a:buFont typeface="Noto Sans"/>
              <a:buChar char="•"/>
              <a:defRPr sz="1200" i="0" u="none" strike="noStrike" cap="none">
                <a:solidFill>
                  <a:srgbClr val="0C3512"/>
                </a:solidFill>
                <a:latin typeface="Noto Sans"/>
                <a:ea typeface="Noto Sans"/>
                <a:cs typeface="Noto Sans"/>
                <a:sym typeface="Noto Sans"/>
              </a:defRPr>
            </a:lvl4pPr>
            <a:lvl5pPr marL="2286000" marR="0" lvl="4" indent="-292100" algn="l" rtl="0">
              <a:lnSpc>
                <a:spcPct val="90000"/>
              </a:lnSpc>
              <a:spcBef>
                <a:spcPts val="500"/>
              </a:spcBef>
              <a:spcAft>
                <a:spcPts val="0"/>
              </a:spcAft>
              <a:buClr>
                <a:srgbClr val="0C3512"/>
              </a:buClr>
              <a:buSzPts val="1000"/>
              <a:buFont typeface="Noto Sans"/>
              <a:buChar char="•"/>
              <a:defRPr sz="1000" i="0" u="none" strike="noStrike" cap="none">
                <a:solidFill>
                  <a:srgbClr val="0C3512"/>
                </a:solidFill>
                <a:latin typeface="Noto Sans"/>
                <a:ea typeface="Noto Sans"/>
                <a:cs typeface="Noto Sans"/>
                <a:sym typeface="Noto Sans"/>
              </a:defRPr>
            </a:lvl5pPr>
            <a:lvl6pPr marL="2743200" marR="0" lvl="5" indent="-292100" algn="l" rtl="0">
              <a:lnSpc>
                <a:spcPct val="90000"/>
              </a:lnSpc>
              <a:spcBef>
                <a:spcPts val="500"/>
              </a:spcBef>
              <a:spcAft>
                <a:spcPts val="0"/>
              </a:spcAft>
              <a:buClr>
                <a:schemeClr val="dk1"/>
              </a:buClr>
              <a:buSzPts val="1000"/>
              <a:buFont typeface="Noto Sans"/>
              <a:buChar char="•"/>
              <a:defRPr sz="1000" i="0" u="none" strike="noStrike" cap="none">
                <a:solidFill>
                  <a:schemeClr val="dk1"/>
                </a:solidFill>
                <a:latin typeface="Noto Sans"/>
                <a:ea typeface="Noto Sans"/>
                <a:cs typeface="Noto Sans"/>
                <a:sym typeface="Noto Sans"/>
              </a:defRPr>
            </a:lvl6pPr>
            <a:lvl7pPr marL="3200400" marR="0" lvl="6" indent="-292100" algn="l" rtl="0">
              <a:lnSpc>
                <a:spcPct val="90000"/>
              </a:lnSpc>
              <a:spcBef>
                <a:spcPts val="500"/>
              </a:spcBef>
              <a:spcAft>
                <a:spcPts val="0"/>
              </a:spcAft>
              <a:buClr>
                <a:schemeClr val="dk1"/>
              </a:buClr>
              <a:buSzPts val="1000"/>
              <a:buFont typeface="Noto Sans"/>
              <a:buChar char="•"/>
              <a:defRPr sz="1000" i="0" u="none" strike="noStrike" cap="none">
                <a:solidFill>
                  <a:schemeClr val="dk1"/>
                </a:solidFill>
                <a:latin typeface="Noto Sans"/>
                <a:ea typeface="Noto Sans"/>
                <a:cs typeface="Noto Sans"/>
                <a:sym typeface="Noto Sans"/>
              </a:defRPr>
            </a:lvl7pPr>
            <a:lvl8pPr marL="3657600" marR="0" lvl="7" indent="-292100" algn="l" rtl="0">
              <a:lnSpc>
                <a:spcPct val="90000"/>
              </a:lnSpc>
              <a:spcBef>
                <a:spcPts val="500"/>
              </a:spcBef>
              <a:spcAft>
                <a:spcPts val="0"/>
              </a:spcAft>
              <a:buClr>
                <a:schemeClr val="dk1"/>
              </a:buClr>
              <a:buSzPts val="1000"/>
              <a:buFont typeface="Noto Sans"/>
              <a:buChar char="•"/>
              <a:defRPr sz="1000" i="0" u="none" strike="noStrike" cap="none">
                <a:solidFill>
                  <a:schemeClr val="dk1"/>
                </a:solidFill>
                <a:latin typeface="Noto Sans"/>
                <a:ea typeface="Noto Sans"/>
                <a:cs typeface="Noto Sans"/>
                <a:sym typeface="Noto Sans"/>
              </a:defRPr>
            </a:lvl8pPr>
            <a:lvl9pPr marL="4114800" marR="0" lvl="8" indent="-292100" algn="l" rtl="0">
              <a:lnSpc>
                <a:spcPct val="90000"/>
              </a:lnSpc>
              <a:spcBef>
                <a:spcPts val="500"/>
              </a:spcBef>
              <a:spcAft>
                <a:spcPts val="0"/>
              </a:spcAft>
              <a:buClr>
                <a:schemeClr val="dk1"/>
              </a:buClr>
              <a:buSzPts val="1000"/>
              <a:buFont typeface="Noto Sans"/>
              <a:buChar char="•"/>
              <a:defRPr sz="1000" i="0" u="none" strike="noStrike" cap="none">
                <a:solidFill>
                  <a:schemeClr val="dk1"/>
                </a:solidFill>
                <a:latin typeface="Noto Sans"/>
                <a:ea typeface="Noto Sans"/>
                <a:cs typeface="Noto Sans"/>
                <a:sym typeface="Noto Sans"/>
              </a:defRPr>
            </a:lvl9pPr>
          </a:lstStyle>
          <a:p>
            <a:endParaRPr/>
          </a:p>
        </p:txBody>
      </p:sp>
      <p:sp>
        <p:nvSpPr>
          <p:cNvPr id="13" name="Google Shape;13;p1"/>
          <p:cNvSpPr txBox="1">
            <a:spLocks noGrp="1"/>
          </p:cNvSpPr>
          <p:nvPr>
            <p:ph type="dt" idx="10"/>
          </p:nvPr>
        </p:nvSpPr>
        <p:spPr>
          <a:xfrm>
            <a:off x="9747848" y="6492874"/>
            <a:ext cx="1010728"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Font typeface="Noto Sans"/>
              <a:buNone/>
              <a:defRPr sz="1200" i="0" u="none" strike="noStrike" cap="none">
                <a:solidFill>
                  <a:srgbClr val="757575"/>
                </a:solidFill>
                <a:latin typeface="Noto Sans"/>
                <a:ea typeface="Noto Sans"/>
                <a:cs typeface="Noto Sans"/>
                <a:sym typeface="Noto Sans"/>
              </a:defRPr>
            </a:lvl1pPr>
            <a:lvl2pPr marR="0" lvl="1"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2pPr>
            <a:lvl3pPr marR="0" lvl="2"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3pPr>
            <a:lvl4pPr marR="0" lvl="3"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4pPr>
            <a:lvl5pPr marR="0" lvl="4"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5pPr>
            <a:lvl6pPr marR="0" lvl="5"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6pPr>
            <a:lvl7pPr marR="0" lvl="6"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7pPr>
            <a:lvl8pPr marR="0" lvl="7"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8pPr>
            <a:lvl9pPr marR="0" lvl="8"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9pPr>
          </a:lstStyle>
          <a:p>
            <a:endParaRPr/>
          </a:p>
        </p:txBody>
      </p:sp>
      <p:sp>
        <p:nvSpPr>
          <p:cNvPr id="14" name="Google Shape;14;p1"/>
          <p:cNvSpPr txBox="1">
            <a:spLocks noGrp="1"/>
          </p:cNvSpPr>
          <p:nvPr>
            <p:ph type="ftr" idx="11"/>
          </p:nvPr>
        </p:nvSpPr>
        <p:spPr>
          <a:xfrm>
            <a:off x="838199" y="6042879"/>
            <a:ext cx="10515599"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Font typeface="Noto Sans"/>
              <a:buNone/>
              <a:defRPr sz="1200" i="0" u="none" strike="noStrike" cap="none">
                <a:solidFill>
                  <a:srgbClr val="757575"/>
                </a:solidFill>
                <a:latin typeface="Noto Sans"/>
                <a:ea typeface="Noto Sans"/>
                <a:cs typeface="Noto Sans"/>
                <a:sym typeface="Noto Sans"/>
              </a:defRPr>
            </a:lvl1pPr>
            <a:lvl2pPr marR="0" lvl="1"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2pPr>
            <a:lvl3pPr marR="0" lvl="2"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3pPr>
            <a:lvl4pPr marR="0" lvl="3"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4pPr>
            <a:lvl5pPr marR="0" lvl="4"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5pPr>
            <a:lvl6pPr marR="0" lvl="5"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6pPr>
            <a:lvl7pPr marR="0" lvl="6"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7pPr>
            <a:lvl8pPr marR="0" lvl="7"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8pPr>
            <a:lvl9pPr marR="0" lvl="8" algn="l" rtl="0">
              <a:spcBef>
                <a:spcPts val="0"/>
              </a:spcBef>
              <a:spcAft>
                <a:spcPts val="0"/>
              </a:spcAft>
              <a:buSzPts val="1400"/>
              <a:buFont typeface="Noto Sans"/>
              <a:buNone/>
              <a:defRPr sz="1800" i="0" u="none" strike="noStrike" cap="none">
                <a:solidFill>
                  <a:schemeClr val="dk1"/>
                </a:solidFill>
                <a:latin typeface="Noto Sans"/>
                <a:ea typeface="Noto Sans"/>
                <a:cs typeface="Noto Sans"/>
                <a:sym typeface="Noto Sans"/>
              </a:defRPr>
            </a:lvl9pPr>
          </a:lstStyle>
          <a:p>
            <a:endParaRPr/>
          </a:p>
        </p:txBody>
      </p:sp>
      <p:sp>
        <p:nvSpPr>
          <p:cNvPr id="15" name="Google Shape;15;p1"/>
          <p:cNvSpPr txBox="1">
            <a:spLocks noGrp="1"/>
          </p:cNvSpPr>
          <p:nvPr>
            <p:ph type="sldNum" idx="12"/>
          </p:nvPr>
        </p:nvSpPr>
        <p:spPr>
          <a:xfrm>
            <a:off x="10774391" y="6492875"/>
            <a:ext cx="134715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757575"/>
                </a:solidFill>
                <a:latin typeface="Noto Sans"/>
                <a:ea typeface="Noto Sans"/>
                <a:cs typeface="Noto Sans"/>
                <a:sym typeface="Noto Sans"/>
              </a:defRPr>
            </a:lvl1pPr>
            <a:lvl2pPr marL="0" marR="0" lvl="1" indent="0" algn="r" rtl="0">
              <a:spcBef>
                <a:spcPts val="0"/>
              </a:spcBef>
              <a:buNone/>
              <a:defRPr sz="1200" i="0" u="none" strike="noStrike" cap="none">
                <a:solidFill>
                  <a:srgbClr val="757575"/>
                </a:solidFill>
                <a:latin typeface="Noto Sans"/>
                <a:ea typeface="Noto Sans"/>
                <a:cs typeface="Noto Sans"/>
                <a:sym typeface="Noto Sans"/>
              </a:defRPr>
            </a:lvl2pPr>
            <a:lvl3pPr marL="0" marR="0" lvl="2" indent="0" algn="r" rtl="0">
              <a:spcBef>
                <a:spcPts val="0"/>
              </a:spcBef>
              <a:buNone/>
              <a:defRPr sz="1200" i="0" u="none" strike="noStrike" cap="none">
                <a:solidFill>
                  <a:srgbClr val="757575"/>
                </a:solidFill>
                <a:latin typeface="Noto Sans"/>
                <a:ea typeface="Noto Sans"/>
                <a:cs typeface="Noto Sans"/>
                <a:sym typeface="Noto Sans"/>
              </a:defRPr>
            </a:lvl3pPr>
            <a:lvl4pPr marL="0" marR="0" lvl="3" indent="0" algn="r" rtl="0">
              <a:spcBef>
                <a:spcPts val="0"/>
              </a:spcBef>
              <a:buNone/>
              <a:defRPr sz="1200" i="0" u="none" strike="noStrike" cap="none">
                <a:solidFill>
                  <a:srgbClr val="757575"/>
                </a:solidFill>
                <a:latin typeface="Noto Sans"/>
                <a:ea typeface="Noto Sans"/>
                <a:cs typeface="Noto Sans"/>
                <a:sym typeface="Noto Sans"/>
              </a:defRPr>
            </a:lvl4pPr>
            <a:lvl5pPr marL="0" marR="0" lvl="4" indent="0" algn="r" rtl="0">
              <a:spcBef>
                <a:spcPts val="0"/>
              </a:spcBef>
              <a:buNone/>
              <a:defRPr sz="1200" i="0" u="none" strike="noStrike" cap="none">
                <a:solidFill>
                  <a:srgbClr val="757575"/>
                </a:solidFill>
                <a:latin typeface="Noto Sans"/>
                <a:ea typeface="Noto Sans"/>
                <a:cs typeface="Noto Sans"/>
                <a:sym typeface="Noto Sans"/>
              </a:defRPr>
            </a:lvl5pPr>
            <a:lvl6pPr marL="0" marR="0" lvl="5" indent="0" algn="r" rtl="0">
              <a:spcBef>
                <a:spcPts val="0"/>
              </a:spcBef>
              <a:buNone/>
              <a:defRPr sz="1200" i="0" u="none" strike="noStrike" cap="none">
                <a:solidFill>
                  <a:srgbClr val="757575"/>
                </a:solidFill>
                <a:latin typeface="Noto Sans"/>
                <a:ea typeface="Noto Sans"/>
                <a:cs typeface="Noto Sans"/>
                <a:sym typeface="Noto Sans"/>
              </a:defRPr>
            </a:lvl6pPr>
            <a:lvl7pPr marL="0" marR="0" lvl="6" indent="0" algn="r" rtl="0">
              <a:spcBef>
                <a:spcPts val="0"/>
              </a:spcBef>
              <a:buNone/>
              <a:defRPr sz="1200" i="0" u="none" strike="noStrike" cap="none">
                <a:solidFill>
                  <a:srgbClr val="757575"/>
                </a:solidFill>
                <a:latin typeface="Noto Sans"/>
                <a:ea typeface="Noto Sans"/>
                <a:cs typeface="Noto Sans"/>
                <a:sym typeface="Noto Sans"/>
              </a:defRPr>
            </a:lvl7pPr>
            <a:lvl8pPr marL="0" marR="0" lvl="7" indent="0" algn="r" rtl="0">
              <a:spcBef>
                <a:spcPts val="0"/>
              </a:spcBef>
              <a:buNone/>
              <a:defRPr sz="1200" i="0" u="none" strike="noStrike" cap="none">
                <a:solidFill>
                  <a:srgbClr val="757575"/>
                </a:solidFill>
                <a:latin typeface="Noto Sans"/>
                <a:ea typeface="Noto Sans"/>
                <a:cs typeface="Noto Sans"/>
                <a:sym typeface="Noto Sans"/>
              </a:defRPr>
            </a:lvl8pPr>
            <a:lvl9pPr marL="0" marR="0" lvl="8" indent="0" algn="r" rtl="0">
              <a:spcBef>
                <a:spcPts val="0"/>
              </a:spcBef>
              <a:buNone/>
              <a:defRPr sz="1200" i="0" u="none" strike="noStrike" cap="none">
                <a:solidFill>
                  <a:srgbClr val="757575"/>
                </a:solidFill>
                <a:latin typeface="Noto Sans"/>
                <a:ea typeface="Noto Sans"/>
                <a:cs typeface="Noto Sans"/>
                <a:sym typeface="Noto Sans"/>
              </a:defRPr>
            </a:lvl9pPr>
          </a:lstStyle>
          <a:p>
            <a:pPr marL="0" lvl="0" indent="0" algn="r" rtl="0">
              <a:spcBef>
                <a:spcPts val="0"/>
              </a:spcBef>
              <a:spcAft>
                <a:spcPts val="0"/>
              </a:spcAft>
              <a:buNone/>
            </a:pPr>
            <a:fld id="{00000000-1234-1234-1234-123412341234}" type="slidenum">
              <a:rPr lang="en-US"/>
              <a:t>‹#›</a:t>
            </a:fld>
            <a:endParaRPr/>
          </a:p>
        </p:txBody>
      </p:sp>
      <p:pic>
        <p:nvPicPr>
          <p:cNvPr id="16" name="Google Shape;16;p1" descr="A black background with green text&#10;&#10;Description automatically generated"/>
          <p:cNvPicPr preferRelativeResize="0"/>
          <p:nvPr/>
        </p:nvPicPr>
        <p:blipFill rotWithShape="1">
          <a:blip r:embed="rId13">
            <a:alphaModFix/>
          </a:blip>
          <a:srcRect/>
          <a:stretch/>
        </p:blipFill>
        <p:spPr>
          <a:xfrm>
            <a:off x="1" y="0"/>
            <a:ext cx="3581400" cy="8953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115000"/>
              </a:lnSpc>
              <a:spcBef>
                <a:spcPts val="0"/>
              </a:spcBef>
              <a:spcAft>
                <a:spcPts val="0"/>
              </a:spcAft>
              <a:buClr>
                <a:srgbClr val="0C3512"/>
              </a:buClr>
              <a:buSzPts val="6000"/>
              <a:buFont typeface="Calibri"/>
              <a:buNone/>
            </a:pPr>
            <a:r>
              <a:rPr lang="en-US" sz="4400"/>
              <a:t>Inferring Sleep Deprivation Risk Patterns from NHANES Data</a:t>
            </a:r>
            <a:endParaRPr sz="3355"/>
          </a:p>
        </p:txBody>
      </p:sp>
      <p:sp>
        <p:nvSpPr>
          <p:cNvPr id="92" name="Google Shape;92;p1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150000"/>
              </a:lnSpc>
              <a:spcBef>
                <a:spcPts val="0"/>
              </a:spcBef>
              <a:spcAft>
                <a:spcPts val="0"/>
              </a:spcAft>
              <a:buClr>
                <a:srgbClr val="0C3512"/>
              </a:buClr>
              <a:buSzPts val="6000"/>
              <a:buNone/>
            </a:pPr>
            <a:r>
              <a:rPr lang="en-US" sz="2955"/>
              <a:t>Identifying Key Drivers of Sleep Deprivation</a:t>
            </a:r>
            <a:endParaRPr sz="2955"/>
          </a:p>
          <a:p>
            <a:pPr marL="0" lvl="0" indent="0" algn="ctr" rtl="0">
              <a:spcBef>
                <a:spcPts val="0"/>
              </a:spcBef>
              <a:spcAft>
                <a:spcPts val="0"/>
              </a:spcAft>
              <a:buClr>
                <a:srgbClr val="0C3512"/>
              </a:buClr>
              <a:buSzPts val="6000"/>
              <a:buFont typeface="Calibri"/>
              <a:buNone/>
            </a:pPr>
            <a:endParaRPr sz="1640" b="1"/>
          </a:p>
          <a:p>
            <a:pPr marL="0" lvl="0" indent="0" algn="ctr" rtl="0">
              <a:lnSpc>
                <a:spcPct val="90000"/>
              </a:lnSpc>
              <a:spcBef>
                <a:spcPts val="0"/>
              </a:spcBef>
              <a:spcAft>
                <a:spcPts val="0"/>
              </a:spcAft>
              <a:buClr>
                <a:srgbClr val="0C3512"/>
              </a:buClr>
              <a:buSzPts val="2400"/>
              <a:buNone/>
            </a:pPr>
            <a:r>
              <a:rPr lang="en-US" sz="2164"/>
              <a:t>STT 811: Applied Statistical Modeling</a:t>
            </a:r>
            <a:endParaRPr sz="2164"/>
          </a:p>
        </p:txBody>
      </p:sp>
      <p:sp>
        <p:nvSpPr>
          <p:cNvPr id="93" name="Google Shape;93;p13"/>
          <p:cNvSpPr txBox="1"/>
          <p:nvPr/>
        </p:nvSpPr>
        <p:spPr>
          <a:xfrm>
            <a:off x="5882640" y="5129843"/>
            <a:ext cx="5867400" cy="1344000"/>
          </a:xfrm>
          <a:prstGeom prst="rect">
            <a:avLst/>
          </a:prstGeom>
          <a:noFill/>
          <a:ln>
            <a:noFill/>
          </a:ln>
        </p:spPr>
        <p:txBody>
          <a:bodyPr spcFirstLastPara="1" wrap="square" lIns="91425" tIns="45700" rIns="91425" bIns="45700" anchor="b" anchorCtr="0">
            <a:normAutofit/>
          </a:bodyPr>
          <a:lstStyle/>
          <a:p>
            <a:pPr marL="0" marR="0" lvl="0" indent="0" algn="r" rtl="0">
              <a:lnSpc>
                <a:spcPct val="90000"/>
              </a:lnSpc>
              <a:spcBef>
                <a:spcPts val="0"/>
              </a:spcBef>
              <a:spcAft>
                <a:spcPts val="0"/>
              </a:spcAft>
              <a:buClr>
                <a:srgbClr val="0C3512"/>
              </a:buClr>
              <a:buSzPts val="2400"/>
              <a:buFont typeface="Arial"/>
              <a:buNone/>
            </a:pPr>
            <a:r>
              <a:rPr lang="en-US" sz="1600" b="1" i="0" u="none" strike="noStrike" cap="none">
                <a:solidFill>
                  <a:srgbClr val="0C3512"/>
                </a:solidFill>
                <a:latin typeface="Noto Sans"/>
                <a:ea typeface="Noto Sans"/>
                <a:cs typeface="Noto Sans"/>
                <a:sym typeface="Noto Sans"/>
              </a:rPr>
              <a:t>Dae Young Kim</a:t>
            </a:r>
            <a:endParaRPr sz="1600" b="1">
              <a:latin typeface="Noto Sans"/>
              <a:ea typeface="Noto Sans"/>
              <a:cs typeface="Noto Sans"/>
              <a:sym typeface="Noto Sans"/>
            </a:endParaRPr>
          </a:p>
          <a:p>
            <a:pPr marL="0" marR="0" lvl="0" indent="0" algn="r" rtl="0">
              <a:lnSpc>
                <a:spcPct val="90000"/>
              </a:lnSpc>
              <a:spcBef>
                <a:spcPts val="1000"/>
              </a:spcBef>
              <a:spcAft>
                <a:spcPts val="0"/>
              </a:spcAft>
              <a:buClr>
                <a:srgbClr val="0C3512"/>
              </a:buClr>
              <a:buSzPts val="2400"/>
              <a:buFont typeface="Arial"/>
              <a:buNone/>
            </a:pPr>
            <a:r>
              <a:rPr lang="en-US" sz="1600" b="1" i="0" u="none" strike="noStrike" cap="none">
                <a:solidFill>
                  <a:srgbClr val="0C3512"/>
                </a:solidFill>
                <a:latin typeface="Noto Sans"/>
                <a:ea typeface="Noto Sans"/>
                <a:cs typeface="Noto Sans"/>
                <a:sym typeface="Noto Sans"/>
              </a:rPr>
              <a:t>Jihoon Choi</a:t>
            </a:r>
            <a:endParaRPr sz="1600" b="1">
              <a:latin typeface="Noto Sans"/>
              <a:ea typeface="Noto Sans"/>
              <a:cs typeface="Noto Sans"/>
              <a:sym typeface="Noto Sans"/>
            </a:endParaRPr>
          </a:p>
          <a:p>
            <a:pPr marL="0" marR="0" lvl="0" indent="0" algn="r" rtl="0">
              <a:lnSpc>
                <a:spcPct val="90000"/>
              </a:lnSpc>
              <a:spcBef>
                <a:spcPts val="1000"/>
              </a:spcBef>
              <a:spcAft>
                <a:spcPts val="0"/>
              </a:spcAft>
              <a:buClr>
                <a:srgbClr val="0C3512"/>
              </a:buClr>
              <a:buSzPts val="2400"/>
              <a:buFont typeface="Arial"/>
              <a:buNone/>
            </a:pPr>
            <a:r>
              <a:rPr lang="en-US" sz="1600" b="1" i="0" u="none" strike="noStrike" cap="none">
                <a:solidFill>
                  <a:srgbClr val="0C3512"/>
                </a:solidFill>
                <a:latin typeface="Noto Sans"/>
                <a:ea typeface="Noto Sans"/>
                <a:cs typeface="Noto Sans"/>
                <a:sym typeface="Noto Sans"/>
              </a:rPr>
              <a:t>Victor Pietono</a:t>
            </a:r>
            <a:endParaRPr sz="1600" b="1">
              <a:latin typeface="Noto Sans"/>
              <a:ea typeface="Noto Sans"/>
              <a:cs typeface="Noto Sans"/>
              <a:sym typeface="No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b="1"/>
              <a:t>Outline</a:t>
            </a:r>
            <a:endParaRPr b="1"/>
          </a:p>
        </p:txBody>
      </p:sp>
      <p:sp>
        <p:nvSpPr>
          <p:cNvPr id="99" name="Google Shape;99;p14"/>
          <p:cNvSpPr txBox="1">
            <a:spLocks noGrp="1"/>
          </p:cNvSpPr>
          <p:nvPr>
            <p:ph type="body" idx="1"/>
          </p:nvPr>
        </p:nvSpPr>
        <p:spPr>
          <a:xfrm>
            <a:off x="406550" y="986900"/>
            <a:ext cx="11394300" cy="4926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C3512"/>
              </a:buClr>
              <a:buSzPts val="2400"/>
              <a:buNone/>
            </a:pPr>
            <a:endParaRPr b="1"/>
          </a:p>
          <a:p>
            <a:pPr marL="0" lvl="0" indent="0" algn="l" rtl="0">
              <a:lnSpc>
                <a:spcPct val="90000"/>
              </a:lnSpc>
              <a:spcBef>
                <a:spcPts val="0"/>
              </a:spcBef>
              <a:spcAft>
                <a:spcPts val="0"/>
              </a:spcAft>
              <a:buClr>
                <a:srgbClr val="0C3512"/>
              </a:buClr>
              <a:buSzPts val="2400"/>
              <a:buNone/>
            </a:pPr>
            <a:r>
              <a:rPr lang="en-US" b="1"/>
              <a:t>Contents</a:t>
            </a:r>
            <a:endParaRPr sz="1800"/>
          </a:p>
          <a:p>
            <a:pPr marL="228600" lvl="0" indent="-190500" algn="l" rtl="0">
              <a:lnSpc>
                <a:spcPct val="90000"/>
              </a:lnSpc>
              <a:spcBef>
                <a:spcPts val="1000"/>
              </a:spcBef>
              <a:spcAft>
                <a:spcPts val="0"/>
              </a:spcAft>
              <a:buClr>
                <a:srgbClr val="0C3512"/>
              </a:buClr>
              <a:buSzPts val="1800"/>
              <a:buAutoNum type="arabicPeriod"/>
            </a:pPr>
            <a:r>
              <a:rPr lang="en-US" sz="1800"/>
              <a:t>Introduction</a:t>
            </a:r>
            <a:endParaRPr sz="1800">
              <a:solidFill>
                <a:srgbClr val="0C3512"/>
              </a:solidFill>
            </a:endParaRPr>
          </a:p>
          <a:p>
            <a:pPr marL="228600" lvl="0" indent="-190500" algn="l" rtl="0">
              <a:lnSpc>
                <a:spcPct val="90000"/>
              </a:lnSpc>
              <a:spcBef>
                <a:spcPts val="1000"/>
              </a:spcBef>
              <a:spcAft>
                <a:spcPts val="0"/>
              </a:spcAft>
              <a:buClr>
                <a:srgbClr val="0C3512"/>
              </a:buClr>
              <a:buSzPts val="1800"/>
              <a:buAutoNum type="arabicPeriod"/>
            </a:pPr>
            <a:r>
              <a:rPr lang="en-US" sz="1800">
                <a:solidFill>
                  <a:srgbClr val="0C3512"/>
                </a:solidFill>
              </a:rPr>
              <a:t>Dataset Overview</a:t>
            </a:r>
            <a:endParaRPr sz="1800"/>
          </a:p>
          <a:p>
            <a:pPr marL="228600" lvl="0" indent="-190500" algn="l" rtl="0">
              <a:lnSpc>
                <a:spcPct val="90000"/>
              </a:lnSpc>
              <a:spcBef>
                <a:spcPts val="1000"/>
              </a:spcBef>
              <a:spcAft>
                <a:spcPts val="0"/>
              </a:spcAft>
              <a:buClr>
                <a:srgbClr val="0C3512"/>
              </a:buClr>
              <a:buSzPts val="1800"/>
              <a:buAutoNum type="arabicPeriod"/>
            </a:pPr>
            <a:r>
              <a:rPr lang="en-US" sz="1800">
                <a:solidFill>
                  <a:srgbClr val="0C3512"/>
                </a:solidFill>
              </a:rPr>
              <a:t>Data Cleaning and Preprocessing</a:t>
            </a:r>
            <a:endParaRPr sz="1800">
              <a:solidFill>
                <a:srgbClr val="0C3512"/>
              </a:solidFill>
            </a:endParaRPr>
          </a:p>
          <a:p>
            <a:pPr marL="228600" lvl="0" indent="-190500" algn="l" rtl="0">
              <a:spcBef>
                <a:spcPts val="1000"/>
              </a:spcBef>
              <a:spcAft>
                <a:spcPts val="0"/>
              </a:spcAft>
              <a:buSzPts val="1800"/>
              <a:buAutoNum type="arabicPeriod"/>
            </a:pPr>
            <a:r>
              <a:rPr lang="en-US"/>
              <a:t>Feature Selection</a:t>
            </a:r>
            <a:endParaRPr/>
          </a:p>
          <a:p>
            <a:pPr marL="228600" lvl="0" indent="-190500" algn="l" rtl="0">
              <a:lnSpc>
                <a:spcPct val="90000"/>
              </a:lnSpc>
              <a:spcBef>
                <a:spcPts val="1000"/>
              </a:spcBef>
              <a:spcAft>
                <a:spcPts val="0"/>
              </a:spcAft>
              <a:buClr>
                <a:srgbClr val="0C3512"/>
              </a:buClr>
              <a:buSzPts val="1800"/>
              <a:buAutoNum type="arabicPeriod"/>
            </a:pPr>
            <a:r>
              <a:rPr lang="en-US" sz="1800">
                <a:solidFill>
                  <a:srgbClr val="0C3512"/>
                </a:solidFill>
              </a:rPr>
              <a:t>Exploratory Data Analysis (EDA)</a:t>
            </a:r>
            <a:endParaRPr sz="1800"/>
          </a:p>
          <a:p>
            <a:pPr marL="228600" lvl="0" indent="-190500" algn="l" rtl="0">
              <a:lnSpc>
                <a:spcPct val="90000"/>
              </a:lnSpc>
              <a:spcBef>
                <a:spcPts val="1000"/>
              </a:spcBef>
              <a:spcAft>
                <a:spcPts val="0"/>
              </a:spcAft>
              <a:buClr>
                <a:srgbClr val="0C3512"/>
              </a:buClr>
              <a:buSzPts val="1800"/>
              <a:buAutoNum type="arabicPeriod"/>
            </a:pPr>
            <a:r>
              <a:rPr lang="en-US" sz="1800"/>
              <a:t>Feature Engineering</a:t>
            </a:r>
            <a:endParaRPr sz="1800"/>
          </a:p>
          <a:p>
            <a:pPr marL="228600" lvl="0" indent="-190500" algn="l" rtl="0">
              <a:lnSpc>
                <a:spcPct val="90000"/>
              </a:lnSpc>
              <a:spcBef>
                <a:spcPts val="1000"/>
              </a:spcBef>
              <a:spcAft>
                <a:spcPts val="0"/>
              </a:spcAft>
              <a:buClr>
                <a:srgbClr val="0C3512"/>
              </a:buClr>
              <a:buSzPts val="1800"/>
              <a:buAutoNum type="arabicPeriod"/>
            </a:pPr>
            <a:r>
              <a:rPr lang="en-US" sz="1800">
                <a:solidFill>
                  <a:srgbClr val="0C3512"/>
                </a:solidFill>
              </a:rPr>
              <a:t>Model Construction</a:t>
            </a:r>
            <a:endParaRPr sz="1800"/>
          </a:p>
          <a:p>
            <a:pPr marL="228600" lvl="0" indent="-190500" algn="l" rtl="0">
              <a:lnSpc>
                <a:spcPct val="90000"/>
              </a:lnSpc>
              <a:spcBef>
                <a:spcPts val="1000"/>
              </a:spcBef>
              <a:spcAft>
                <a:spcPts val="0"/>
              </a:spcAft>
              <a:buClr>
                <a:srgbClr val="0C3512"/>
              </a:buClr>
              <a:buSzPts val="1800"/>
              <a:buAutoNum type="arabicPeriod"/>
            </a:pPr>
            <a:r>
              <a:rPr lang="en-US" sz="1800"/>
              <a:t>Model Evaluation</a:t>
            </a:r>
            <a:endParaRPr sz="1800"/>
          </a:p>
          <a:p>
            <a:pPr marL="228600" lvl="0" indent="-190500" algn="l" rtl="0">
              <a:lnSpc>
                <a:spcPct val="90000"/>
              </a:lnSpc>
              <a:spcBef>
                <a:spcPts val="1000"/>
              </a:spcBef>
              <a:spcAft>
                <a:spcPts val="0"/>
              </a:spcAft>
              <a:buClr>
                <a:srgbClr val="0C3512"/>
              </a:buClr>
              <a:buSzPts val="1800"/>
              <a:buAutoNum type="arabicPeriod"/>
            </a:pPr>
            <a:r>
              <a:rPr lang="en-US" sz="1800">
                <a:solidFill>
                  <a:srgbClr val="0C3512"/>
                </a:solidFill>
              </a:rPr>
              <a:t>Conclusion</a:t>
            </a:r>
            <a:endParaRPr sz="1800"/>
          </a:p>
        </p:txBody>
      </p:sp>
      <p:sp>
        <p:nvSpPr>
          <p:cNvPr id="100" name="Google Shape;100;p14"/>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4019909" y="64877"/>
            <a:ext cx="7333800" cy="765600"/>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Calibri"/>
              <a:buNone/>
            </a:pPr>
            <a:r>
              <a:rPr lang="en-US" b="1">
                <a:latin typeface="Calibri"/>
                <a:ea typeface="Calibri"/>
                <a:cs typeface="Calibri"/>
                <a:sym typeface="Calibri"/>
              </a:rPr>
              <a:t>Introduction</a:t>
            </a:r>
            <a:endParaRPr b="1"/>
          </a:p>
        </p:txBody>
      </p:sp>
      <p:sp>
        <p:nvSpPr>
          <p:cNvPr id="106" name="Google Shape;106;p15"/>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grpSp>
        <p:nvGrpSpPr>
          <p:cNvPr id="107" name="Google Shape;107;p15"/>
          <p:cNvGrpSpPr/>
          <p:nvPr/>
        </p:nvGrpSpPr>
        <p:grpSpPr>
          <a:xfrm>
            <a:off x="406550" y="990000"/>
            <a:ext cx="7848750" cy="522696"/>
            <a:chOff x="-3828700" y="5865400"/>
            <a:chExt cx="7848750" cy="522696"/>
          </a:xfrm>
        </p:grpSpPr>
        <p:pic>
          <p:nvPicPr>
            <p:cNvPr id="108" name="Google Shape;108;p15"/>
            <p:cNvPicPr preferRelativeResize="0"/>
            <p:nvPr/>
          </p:nvPicPr>
          <p:blipFill>
            <a:blip r:embed="rId3">
              <a:alphaModFix/>
            </a:blip>
            <a:stretch>
              <a:fillRect/>
            </a:stretch>
          </p:blipFill>
          <p:spPr>
            <a:xfrm>
              <a:off x="-3828698" y="6349996"/>
              <a:ext cx="7848600" cy="38100"/>
            </a:xfrm>
            <a:prstGeom prst="rect">
              <a:avLst/>
            </a:prstGeom>
            <a:noFill/>
            <a:ln>
              <a:noFill/>
            </a:ln>
          </p:spPr>
        </p:pic>
        <p:pic>
          <p:nvPicPr>
            <p:cNvPr id="109" name="Google Shape;109;p15"/>
            <p:cNvPicPr preferRelativeResize="0"/>
            <p:nvPr/>
          </p:nvPicPr>
          <p:blipFill>
            <a:blip r:embed="rId4">
              <a:alphaModFix/>
            </a:blip>
            <a:stretch>
              <a:fillRect/>
            </a:stretch>
          </p:blipFill>
          <p:spPr>
            <a:xfrm>
              <a:off x="-3828700" y="5865400"/>
              <a:ext cx="133350" cy="495300"/>
            </a:xfrm>
            <a:prstGeom prst="rect">
              <a:avLst/>
            </a:prstGeom>
            <a:noFill/>
            <a:ln>
              <a:noFill/>
            </a:ln>
          </p:spPr>
        </p:pic>
        <p:sp>
          <p:nvSpPr>
            <p:cNvPr id="110" name="Google Shape;110;p15"/>
            <p:cNvSpPr txBox="1"/>
            <p:nvPr/>
          </p:nvSpPr>
          <p:spPr>
            <a:xfrm>
              <a:off x="-3695350" y="5882200"/>
              <a:ext cx="77154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Problem</a:t>
              </a:r>
              <a:endParaRPr sz="1800" b="1">
                <a:solidFill>
                  <a:srgbClr val="0B3512"/>
                </a:solidFill>
                <a:latin typeface="Noto Sans"/>
                <a:ea typeface="Noto Sans"/>
                <a:cs typeface="Noto Sans"/>
                <a:sym typeface="Noto Sans"/>
              </a:endParaRPr>
            </a:p>
          </p:txBody>
        </p:sp>
      </p:grpSp>
      <p:sp>
        <p:nvSpPr>
          <p:cNvPr id="111" name="Google Shape;111;p15"/>
          <p:cNvSpPr txBox="1">
            <a:spLocks noGrp="1"/>
          </p:cNvSpPr>
          <p:nvPr>
            <p:ph type="body" idx="1"/>
          </p:nvPr>
        </p:nvSpPr>
        <p:spPr>
          <a:xfrm>
            <a:off x="406550" y="1672225"/>
            <a:ext cx="11394300" cy="1659600"/>
          </a:xfrm>
          <a:prstGeom prst="rect">
            <a:avLst/>
          </a:prstGeom>
          <a:noFill/>
          <a:ln>
            <a:noFill/>
          </a:ln>
        </p:spPr>
        <p:txBody>
          <a:bodyPr spcFirstLastPara="1" wrap="square" lIns="91425" tIns="45700" rIns="91425" bIns="45700" anchor="t" anchorCtr="0">
            <a:normAutofit/>
          </a:bodyPr>
          <a:lstStyle/>
          <a:p>
            <a:pPr marL="228600" lvl="0" indent="-190500" algn="l" rtl="0">
              <a:spcBef>
                <a:spcPts val="1000"/>
              </a:spcBef>
              <a:spcAft>
                <a:spcPts val="0"/>
              </a:spcAft>
              <a:buSzPts val="1800"/>
              <a:buChar char="•"/>
            </a:pPr>
            <a:r>
              <a:rPr lang="en-US"/>
              <a:t>Sleep deprivation is a widespread but underdiagnosed health issue.</a:t>
            </a:r>
            <a:endParaRPr/>
          </a:p>
          <a:p>
            <a:pPr marL="228600" lvl="0" indent="-190500" algn="l" rtl="0">
              <a:spcBef>
                <a:spcPts val="1000"/>
              </a:spcBef>
              <a:spcAft>
                <a:spcPts val="0"/>
              </a:spcAft>
              <a:buSzPts val="1800"/>
              <a:buChar char="•"/>
            </a:pPr>
            <a:r>
              <a:rPr lang="en-US"/>
              <a:t>Symptoms like fatigue often mimic other conditions (e.g., depression, hypertension), making detection difficult.</a:t>
            </a:r>
            <a:endParaRPr/>
          </a:p>
          <a:p>
            <a:pPr marL="228600" lvl="0" indent="-190500" algn="l" rtl="0">
              <a:lnSpc>
                <a:spcPct val="115000"/>
              </a:lnSpc>
              <a:spcBef>
                <a:spcPts val="0"/>
              </a:spcBef>
              <a:spcAft>
                <a:spcPts val="0"/>
              </a:spcAft>
              <a:buSzPts val="1800"/>
              <a:buChar char="•"/>
            </a:pPr>
            <a:r>
              <a:rPr lang="en-US"/>
              <a:t>While traditional identification relies on self-reported sleep questionnaires, incorporating health, demographic, and lifestyle factors can more robustly flag sleep deprivation risk.</a:t>
            </a:r>
            <a:endParaRPr sz="1800"/>
          </a:p>
        </p:txBody>
      </p:sp>
      <p:sp>
        <p:nvSpPr>
          <p:cNvPr id="112" name="Google Shape;112;p15"/>
          <p:cNvSpPr txBox="1">
            <a:spLocks noGrp="1"/>
          </p:cNvSpPr>
          <p:nvPr>
            <p:ph type="body" idx="1"/>
          </p:nvPr>
        </p:nvSpPr>
        <p:spPr>
          <a:xfrm>
            <a:off x="406550" y="4125725"/>
            <a:ext cx="11394300" cy="1955700"/>
          </a:xfrm>
          <a:prstGeom prst="rect">
            <a:avLst/>
          </a:prstGeom>
          <a:noFill/>
          <a:ln>
            <a:noFill/>
          </a:ln>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Develop a predictive model to flag individuals at risk of sleep deprivation using existing clinical and survey data</a:t>
            </a:r>
            <a:endParaRPr/>
          </a:p>
          <a:p>
            <a:pPr marL="457200" lvl="0" indent="-342900" algn="l" rtl="0">
              <a:spcBef>
                <a:spcPts val="1000"/>
              </a:spcBef>
              <a:spcAft>
                <a:spcPts val="0"/>
              </a:spcAft>
              <a:buSzPts val="1800"/>
              <a:buChar char="•"/>
            </a:pPr>
            <a:r>
              <a:rPr lang="en-US"/>
              <a:t>Identify key determinants of sleep deprivation, focusing on demographic factors, health behaviors, and biological markers.</a:t>
            </a:r>
            <a:endParaRPr/>
          </a:p>
          <a:p>
            <a:pPr marL="457200" lvl="0" indent="-342900" algn="l" rtl="0">
              <a:spcBef>
                <a:spcPts val="1000"/>
              </a:spcBef>
              <a:spcAft>
                <a:spcPts val="0"/>
              </a:spcAft>
              <a:buSzPts val="1800"/>
              <a:buChar char="•"/>
            </a:pPr>
            <a:r>
              <a:rPr lang="en-US"/>
              <a:t>Support healthcare providers with a low-cost, scalable screening tool for routine visits.</a:t>
            </a:r>
            <a:endParaRPr/>
          </a:p>
          <a:p>
            <a:pPr marL="457200" lvl="0" indent="-342900" algn="l" rtl="0">
              <a:spcBef>
                <a:spcPts val="1000"/>
              </a:spcBef>
              <a:spcAft>
                <a:spcPts val="0"/>
              </a:spcAft>
              <a:buSzPts val="1800"/>
              <a:buChar char="•"/>
            </a:pPr>
            <a:r>
              <a:rPr lang="en-US"/>
              <a:t>Raise public and clinical awareness about sleep health using U.S. population-level data (NHANES).</a:t>
            </a:r>
            <a:endParaRPr/>
          </a:p>
        </p:txBody>
      </p:sp>
      <p:grpSp>
        <p:nvGrpSpPr>
          <p:cNvPr id="113" name="Google Shape;113;p15"/>
          <p:cNvGrpSpPr/>
          <p:nvPr/>
        </p:nvGrpSpPr>
        <p:grpSpPr>
          <a:xfrm>
            <a:off x="406550" y="3432575"/>
            <a:ext cx="4136850" cy="514350"/>
            <a:chOff x="7462050" y="7632500"/>
            <a:chExt cx="4136850" cy="514350"/>
          </a:xfrm>
        </p:grpSpPr>
        <p:pic>
          <p:nvPicPr>
            <p:cNvPr id="114" name="Google Shape;114;p15"/>
            <p:cNvPicPr preferRelativeResize="0"/>
            <p:nvPr/>
          </p:nvPicPr>
          <p:blipFill>
            <a:blip r:embed="rId5">
              <a:alphaModFix/>
            </a:blip>
            <a:stretch>
              <a:fillRect/>
            </a:stretch>
          </p:blipFill>
          <p:spPr>
            <a:xfrm>
              <a:off x="7462050" y="8127800"/>
              <a:ext cx="3924300" cy="19050"/>
            </a:xfrm>
            <a:prstGeom prst="rect">
              <a:avLst/>
            </a:prstGeom>
            <a:noFill/>
            <a:ln>
              <a:noFill/>
            </a:ln>
          </p:spPr>
        </p:pic>
        <p:pic>
          <p:nvPicPr>
            <p:cNvPr id="115" name="Google Shape;115;p15"/>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116" name="Google Shape;116;p15"/>
            <p:cNvSpPr txBox="1"/>
            <p:nvPr/>
          </p:nvSpPr>
          <p:spPr>
            <a:xfrm>
              <a:off x="7595400" y="7654100"/>
              <a:ext cx="40035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Project Goal</a:t>
              </a:r>
              <a:endParaRPr sz="1800" b="1">
                <a:solidFill>
                  <a:srgbClr val="0B3512"/>
                </a:solidFill>
                <a:latin typeface="Noto Sans"/>
                <a:ea typeface="Noto Sans"/>
                <a:cs typeface="Noto Sans"/>
                <a:sym typeface="Noto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6"/>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Calibri"/>
              <a:buNone/>
            </a:pPr>
            <a:r>
              <a:rPr lang="en-US" b="1">
                <a:solidFill>
                  <a:srgbClr val="0C3512"/>
                </a:solidFill>
                <a:latin typeface="Calibri"/>
                <a:ea typeface="Calibri"/>
                <a:cs typeface="Calibri"/>
                <a:sym typeface="Calibri"/>
              </a:rPr>
              <a:t>Dataset Overview</a:t>
            </a:r>
            <a:endParaRPr b="1"/>
          </a:p>
        </p:txBody>
      </p:sp>
      <p:sp>
        <p:nvSpPr>
          <p:cNvPr id="122" name="Google Shape;122;p16"/>
          <p:cNvSpPr txBox="1">
            <a:spLocks noGrp="1"/>
          </p:cNvSpPr>
          <p:nvPr>
            <p:ph type="body" idx="1"/>
          </p:nvPr>
        </p:nvSpPr>
        <p:spPr>
          <a:xfrm>
            <a:off x="406550" y="1672225"/>
            <a:ext cx="11394300" cy="4241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C3512"/>
              </a:buClr>
              <a:buSzPts val="2400"/>
              <a:buNone/>
            </a:pPr>
            <a:r>
              <a:rPr lang="en-US" b="1"/>
              <a:t>Description</a:t>
            </a:r>
            <a:endParaRPr sz="1800"/>
          </a:p>
          <a:p>
            <a:pPr marL="228600" lvl="0" indent="-190500" algn="l" rtl="0">
              <a:lnSpc>
                <a:spcPct val="90000"/>
              </a:lnSpc>
              <a:spcBef>
                <a:spcPts val="1000"/>
              </a:spcBef>
              <a:spcAft>
                <a:spcPts val="0"/>
              </a:spcAft>
              <a:buClr>
                <a:srgbClr val="0C3512"/>
              </a:buClr>
              <a:buSzPts val="1800"/>
              <a:buChar char="•"/>
            </a:pPr>
            <a:r>
              <a:rPr lang="en-US" sz="1800"/>
              <a:t>A nationally representative health survey by the CDC</a:t>
            </a:r>
            <a:endParaRPr sz="1800"/>
          </a:p>
          <a:p>
            <a:pPr marL="228600" lvl="0" indent="-190500" algn="l" rtl="0">
              <a:lnSpc>
                <a:spcPct val="90000"/>
              </a:lnSpc>
              <a:spcBef>
                <a:spcPts val="1000"/>
              </a:spcBef>
              <a:spcAft>
                <a:spcPts val="0"/>
              </a:spcAft>
              <a:buClr>
                <a:srgbClr val="0C3512"/>
              </a:buClr>
              <a:buSzPts val="1800"/>
              <a:buChar char="•"/>
            </a:pPr>
            <a:r>
              <a:rPr lang="en-US" sz="1800"/>
              <a:t>Combines interviews, physical exams, lab tests, and questionnaires</a:t>
            </a:r>
            <a:endParaRPr sz="1800"/>
          </a:p>
          <a:p>
            <a:pPr marL="228600" lvl="0" indent="-190500" algn="l" rtl="0">
              <a:lnSpc>
                <a:spcPct val="90000"/>
              </a:lnSpc>
              <a:spcBef>
                <a:spcPts val="1000"/>
              </a:spcBef>
              <a:spcAft>
                <a:spcPts val="0"/>
              </a:spcAft>
              <a:buClr>
                <a:srgbClr val="0C3512"/>
              </a:buClr>
              <a:buSzPts val="1800"/>
              <a:buChar char="•"/>
            </a:pPr>
            <a:r>
              <a:rPr lang="en-US" sz="1800"/>
              <a:t>Used 2017-2020 and 2021-2023 cycles, using a combined sample of ~18,000 individuals</a:t>
            </a:r>
            <a:endParaRPr sz="1800"/>
          </a:p>
          <a:p>
            <a:pPr marL="0" lvl="0" indent="0" algn="l" rtl="0">
              <a:lnSpc>
                <a:spcPct val="90000"/>
              </a:lnSpc>
              <a:spcBef>
                <a:spcPts val="1000"/>
              </a:spcBef>
              <a:spcAft>
                <a:spcPts val="0"/>
              </a:spcAft>
              <a:buClr>
                <a:srgbClr val="0C3512"/>
              </a:buClr>
              <a:buSzPts val="2400"/>
              <a:buNone/>
            </a:pPr>
            <a:endParaRPr sz="1800"/>
          </a:p>
          <a:p>
            <a:pPr marL="0" lvl="0" indent="0" algn="l" rtl="0">
              <a:lnSpc>
                <a:spcPct val="90000"/>
              </a:lnSpc>
              <a:spcBef>
                <a:spcPts val="1000"/>
              </a:spcBef>
              <a:spcAft>
                <a:spcPts val="0"/>
              </a:spcAft>
              <a:buClr>
                <a:srgbClr val="0C3512"/>
              </a:buClr>
              <a:buSzPts val="2400"/>
              <a:buNone/>
            </a:pPr>
            <a:r>
              <a:rPr lang="en-US" sz="1800" b="1"/>
              <a:t>Key Features</a:t>
            </a:r>
            <a:endParaRPr sz="1800"/>
          </a:p>
          <a:p>
            <a:pPr marL="228600" lvl="0" indent="-190500" algn="l" rtl="0">
              <a:lnSpc>
                <a:spcPct val="90000"/>
              </a:lnSpc>
              <a:spcBef>
                <a:spcPts val="1000"/>
              </a:spcBef>
              <a:spcAft>
                <a:spcPts val="0"/>
              </a:spcAft>
              <a:buClr>
                <a:srgbClr val="0C3512"/>
              </a:buClr>
              <a:buSzPts val="1800"/>
              <a:buChar char="•"/>
            </a:pPr>
            <a:r>
              <a:rPr lang="en-US" sz="1800"/>
              <a:t>Lab Data: Inflammation, Metabolism, Lipids, Hormones, Nutrition</a:t>
            </a:r>
            <a:endParaRPr sz="1800"/>
          </a:p>
          <a:p>
            <a:pPr marL="228600" lvl="0" indent="-190500" algn="l" rtl="0">
              <a:lnSpc>
                <a:spcPct val="90000"/>
              </a:lnSpc>
              <a:spcBef>
                <a:spcPts val="1000"/>
              </a:spcBef>
              <a:spcAft>
                <a:spcPts val="0"/>
              </a:spcAft>
              <a:buClr>
                <a:srgbClr val="0C3512"/>
              </a:buClr>
              <a:buSzPts val="1800"/>
              <a:buChar char="•"/>
            </a:pPr>
            <a:r>
              <a:rPr lang="en-US" sz="1800"/>
              <a:t>Demographics: Age, Gender, Race/Ethnicity, Education</a:t>
            </a:r>
            <a:endParaRPr sz="1800"/>
          </a:p>
          <a:p>
            <a:pPr marL="228600" lvl="0" indent="-190500" algn="l" rtl="0">
              <a:lnSpc>
                <a:spcPct val="90000"/>
              </a:lnSpc>
              <a:spcBef>
                <a:spcPts val="1000"/>
              </a:spcBef>
              <a:spcAft>
                <a:spcPts val="0"/>
              </a:spcAft>
              <a:buSzPts val="1800"/>
              <a:buChar char="•"/>
            </a:pPr>
            <a:r>
              <a:rPr lang="en-US"/>
              <a:t>Measurement: Weight, Height, BMI, Waist Size, Blood Pressure </a:t>
            </a:r>
            <a:endParaRPr/>
          </a:p>
          <a:p>
            <a:pPr marL="228600" lvl="0" indent="-190500" algn="l" rtl="0">
              <a:lnSpc>
                <a:spcPct val="90000"/>
              </a:lnSpc>
              <a:spcBef>
                <a:spcPts val="1000"/>
              </a:spcBef>
              <a:spcAft>
                <a:spcPts val="0"/>
              </a:spcAft>
              <a:buClr>
                <a:srgbClr val="0C3512"/>
              </a:buClr>
              <a:buSzPts val="1800"/>
              <a:buChar char="•"/>
            </a:pPr>
            <a:r>
              <a:rPr lang="en-US" sz="1800"/>
              <a:t>Questionnaires: Sleep habits, Smoking, Alcohol, Income, Weight History</a:t>
            </a:r>
            <a:endParaRPr sz="1800"/>
          </a:p>
        </p:txBody>
      </p:sp>
      <p:sp>
        <p:nvSpPr>
          <p:cNvPr id="123" name="Google Shape;123;p16"/>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grpSp>
        <p:nvGrpSpPr>
          <p:cNvPr id="124" name="Google Shape;124;p16"/>
          <p:cNvGrpSpPr/>
          <p:nvPr/>
        </p:nvGrpSpPr>
        <p:grpSpPr>
          <a:xfrm>
            <a:off x="406550" y="990000"/>
            <a:ext cx="7848750" cy="522696"/>
            <a:chOff x="-3828700" y="5865400"/>
            <a:chExt cx="7848750" cy="522696"/>
          </a:xfrm>
        </p:grpSpPr>
        <p:pic>
          <p:nvPicPr>
            <p:cNvPr id="125" name="Google Shape;125;p16"/>
            <p:cNvPicPr preferRelativeResize="0"/>
            <p:nvPr/>
          </p:nvPicPr>
          <p:blipFill>
            <a:blip r:embed="rId3">
              <a:alphaModFix/>
            </a:blip>
            <a:stretch>
              <a:fillRect/>
            </a:stretch>
          </p:blipFill>
          <p:spPr>
            <a:xfrm>
              <a:off x="-3828698" y="6349996"/>
              <a:ext cx="7848600" cy="38100"/>
            </a:xfrm>
            <a:prstGeom prst="rect">
              <a:avLst/>
            </a:prstGeom>
            <a:noFill/>
            <a:ln>
              <a:noFill/>
            </a:ln>
          </p:spPr>
        </p:pic>
        <p:pic>
          <p:nvPicPr>
            <p:cNvPr id="126" name="Google Shape;126;p16"/>
            <p:cNvPicPr preferRelativeResize="0"/>
            <p:nvPr/>
          </p:nvPicPr>
          <p:blipFill>
            <a:blip r:embed="rId4">
              <a:alphaModFix/>
            </a:blip>
            <a:stretch>
              <a:fillRect/>
            </a:stretch>
          </p:blipFill>
          <p:spPr>
            <a:xfrm>
              <a:off x="-3828700" y="5865400"/>
              <a:ext cx="133350" cy="495300"/>
            </a:xfrm>
            <a:prstGeom prst="rect">
              <a:avLst/>
            </a:prstGeom>
            <a:noFill/>
            <a:ln>
              <a:noFill/>
            </a:ln>
          </p:spPr>
        </p:pic>
        <p:sp>
          <p:nvSpPr>
            <p:cNvPr id="127" name="Google Shape;127;p16"/>
            <p:cNvSpPr txBox="1"/>
            <p:nvPr/>
          </p:nvSpPr>
          <p:spPr>
            <a:xfrm>
              <a:off x="-3695350" y="5882200"/>
              <a:ext cx="77154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NHANES (National Health and Nutrition Examination Survey)</a:t>
              </a:r>
              <a:endParaRPr sz="1800" b="1">
                <a:solidFill>
                  <a:srgbClr val="0B3512"/>
                </a:solidFill>
                <a:latin typeface="Noto Sans"/>
                <a:ea typeface="Noto Sans"/>
                <a:cs typeface="Noto Sans"/>
                <a:sym typeface="Noto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Calibri"/>
              <a:buNone/>
            </a:pPr>
            <a:r>
              <a:rPr lang="en-US" b="1">
                <a:solidFill>
                  <a:srgbClr val="0C3512"/>
                </a:solidFill>
                <a:latin typeface="Calibri"/>
                <a:ea typeface="Calibri"/>
                <a:cs typeface="Calibri"/>
                <a:sym typeface="Calibri"/>
              </a:rPr>
              <a:t>Dataset Overview</a:t>
            </a:r>
            <a:endParaRPr b="1"/>
          </a:p>
        </p:txBody>
      </p:sp>
      <p:sp>
        <p:nvSpPr>
          <p:cNvPr id="133" name="Google Shape;133;p17"/>
          <p:cNvSpPr txBox="1">
            <a:spLocks noGrp="1"/>
          </p:cNvSpPr>
          <p:nvPr>
            <p:ph type="body" idx="1"/>
          </p:nvPr>
        </p:nvSpPr>
        <p:spPr>
          <a:xfrm>
            <a:off x="406550" y="1672225"/>
            <a:ext cx="11394300" cy="4241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C3512"/>
              </a:buClr>
              <a:buSzPts val="2400"/>
              <a:buNone/>
            </a:pPr>
            <a:r>
              <a:rPr lang="en-US" sz="1800" b="1"/>
              <a:t>Sleep Deprivation</a:t>
            </a:r>
            <a:endParaRPr sz="1800"/>
          </a:p>
          <a:p>
            <a:pPr marL="228600" lvl="0" indent="-190500" algn="l" rtl="0">
              <a:lnSpc>
                <a:spcPct val="90000"/>
              </a:lnSpc>
              <a:spcBef>
                <a:spcPts val="1000"/>
              </a:spcBef>
              <a:spcAft>
                <a:spcPts val="0"/>
              </a:spcAft>
              <a:buClr>
                <a:srgbClr val="0C3512"/>
              </a:buClr>
              <a:buSzPts val="1800"/>
              <a:buChar char="•"/>
            </a:pPr>
            <a:r>
              <a:rPr lang="en-US" sz="1800"/>
              <a:t>Calculated from weekday/weekend sleep start and end times</a:t>
            </a:r>
            <a:endParaRPr sz="1800"/>
          </a:p>
          <a:p>
            <a:pPr marL="228600" lvl="0" indent="-190500" algn="l" rtl="0">
              <a:lnSpc>
                <a:spcPct val="90000"/>
              </a:lnSpc>
              <a:spcBef>
                <a:spcPts val="1000"/>
              </a:spcBef>
              <a:spcAft>
                <a:spcPts val="0"/>
              </a:spcAft>
              <a:buClr>
                <a:srgbClr val="0C3512"/>
              </a:buClr>
              <a:buSzPts val="1800"/>
              <a:buChar char="•"/>
            </a:pPr>
            <a:r>
              <a:rPr lang="en-US" sz="1800"/>
              <a:t>Individuals averaging &lt; 7 hours of sleep/day are labeled as sleep deprived.</a:t>
            </a:r>
            <a:endParaRPr sz="1600" b="1"/>
          </a:p>
          <a:p>
            <a:pPr marL="0" lvl="0" indent="0" algn="l" rtl="0">
              <a:lnSpc>
                <a:spcPct val="90000"/>
              </a:lnSpc>
              <a:spcBef>
                <a:spcPts val="1000"/>
              </a:spcBef>
              <a:spcAft>
                <a:spcPts val="0"/>
              </a:spcAft>
              <a:buClr>
                <a:srgbClr val="0C3512"/>
              </a:buClr>
              <a:buSzPts val="2400"/>
              <a:buNone/>
            </a:pPr>
            <a:r>
              <a:rPr lang="en-US" sz="1600" b="1"/>
              <a:t>Note: </a:t>
            </a:r>
            <a:r>
              <a:rPr lang="en-US" sz="1600"/>
              <a:t>weekday/weekend sleep end time is not included as predictor to avoid information leakage</a:t>
            </a:r>
            <a:endParaRPr sz="1600"/>
          </a:p>
        </p:txBody>
      </p:sp>
      <p:sp>
        <p:nvSpPr>
          <p:cNvPr id="134" name="Google Shape;134;p17"/>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pic>
        <p:nvPicPr>
          <p:cNvPr id="135" name="Google Shape;135;p17"/>
          <p:cNvPicPr preferRelativeResize="0"/>
          <p:nvPr/>
        </p:nvPicPr>
        <p:blipFill>
          <a:blip r:embed="rId3">
            <a:alphaModFix/>
          </a:blip>
          <a:stretch>
            <a:fillRect/>
          </a:stretch>
        </p:blipFill>
        <p:spPr>
          <a:xfrm>
            <a:off x="867575" y="3447475"/>
            <a:ext cx="3924950" cy="2618249"/>
          </a:xfrm>
          <a:prstGeom prst="rect">
            <a:avLst/>
          </a:prstGeom>
          <a:noFill/>
          <a:ln>
            <a:noFill/>
          </a:ln>
        </p:spPr>
      </p:pic>
      <p:pic>
        <p:nvPicPr>
          <p:cNvPr id="136" name="Google Shape;136;p17"/>
          <p:cNvPicPr preferRelativeResize="0"/>
          <p:nvPr/>
        </p:nvPicPr>
        <p:blipFill>
          <a:blip r:embed="rId4">
            <a:alphaModFix/>
          </a:blip>
          <a:stretch>
            <a:fillRect/>
          </a:stretch>
        </p:blipFill>
        <p:spPr>
          <a:xfrm>
            <a:off x="5306425" y="3447475"/>
            <a:ext cx="6046602" cy="2618249"/>
          </a:xfrm>
          <a:prstGeom prst="rect">
            <a:avLst/>
          </a:prstGeom>
          <a:noFill/>
          <a:ln>
            <a:noFill/>
          </a:ln>
        </p:spPr>
      </p:pic>
      <p:grpSp>
        <p:nvGrpSpPr>
          <p:cNvPr id="137" name="Google Shape;137;p17"/>
          <p:cNvGrpSpPr/>
          <p:nvPr/>
        </p:nvGrpSpPr>
        <p:grpSpPr>
          <a:xfrm>
            <a:off x="406550" y="994175"/>
            <a:ext cx="3924300" cy="514350"/>
            <a:chOff x="7462050" y="7632500"/>
            <a:chExt cx="3924300" cy="514350"/>
          </a:xfrm>
        </p:grpSpPr>
        <p:pic>
          <p:nvPicPr>
            <p:cNvPr id="138" name="Google Shape;138;p17"/>
            <p:cNvPicPr preferRelativeResize="0"/>
            <p:nvPr/>
          </p:nvPicPr>
          <p:blipFill>
            <a:blip r:embed="rId5">
              <a:alphaModFix/>
            </a:blip>
            <a:stretch>
              <a:fillRect/>
            </a:stretch>
          </p:blipFill>
          <p:spPr>
            <a:xfrm>
              <a:off x="7462050" y="8127800"/>
              <a:ext cx="3924300" cy="19050"/>
            </a:xfrm>
            <a:prstGeom prst="rect">
              <a:avLst/>
            </a:prstGeom>
            <a:noFill/>
            <a:ln>
              <a:noFill/>
            </a:ln>
          </p:spPr>
        </p:pic>
        <p:pic>
          <p:nvPicPr>
            <p:cNvPr id="139" name="Google Shape;139;p17"/>
            <p:cNvPicPr preferRelativeResize="0"/>
            <p:nvPr/>
          </p:nvPicPr>
          <p:blipFill>
            <a:blip r:embed="rId6">
              <a:alphaModFix/>
            </a:blip>
            <a:stretch>
              <a:fillRect/>
            </a:stretch>
          </p:blipFill>
          <p:spPr>
            <a:xfrm>
              <a:off x="7462050" y="7632500"/>
              <a:ext cx="133350" cy="495300"/>
            </a:xfrm>
            <a:prstGeom prst="rect">
              <a:avLst/>
            </a:prstGeom>
            <a:noFill/>
            <a:ln>
              <a:noFill/>
            </a:ln>
          </p:spPr>
        </p:pic>
        <p:sp>
          <p:nvSpPr>
            <p:cNvPr id="140" name="Google Shape;140;p17"/>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Target Variable</a:t>
              </a:r>
              <a:endParaRPr sz="1800" b="1">
                <a:solidFill>
                  <a:srgbClr val="0B3512"/>
                </a:solidFill>
                <a:latin typeface="Noto Sans"/>
                <a:ea typeface="Noto Sans"/>
                <a:cs typeface="Noto Sans"/>
                <a:sym typeface="Noto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8"/>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b="1"/>
              <a:t>Data Cleaning &amp; Preprocessing</a:t>
            </a:r>
            <a:endParaRPr b="1"/>
          </a:p>
        </p:txBody>
      </p:sp>
      <p:sp>
        <p:nvSpPr>
          <p:cNvPr id="146" name="Google Shape;146;p18"/>
          <p:cNvSpPr txBox="1">
            <a:spLocks noGrp="1"/>
          </p:cNvSpPr>
          <p:nvPr>
            <p:ph type="body" idx="1"/>
          </p:nvPr>
        </p:nvSpPr>
        <p:spPr>
          <a:xfrm>
            <a:off x="406550" y="1672225"/>
            <a:ext cx="11394300" cy="8556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0"/>
              </a:spcBef>
              <a:spcAft>
                <a:spcPts val="0"/>
              </a:spcAft>
              <a:buSzPts val="1800"/>
              <a:buChar char="•"/>
            </a:pPr>
            <a:r>
              <a:rPr lang="en-US"/>
              <a:t>Recoded “Refused”, “Don’t know”, and blanks as missing</a:t>
            </a:r>
            <a:endParaRPr/>
          </a:p>
          <a:p>
            <a:pPr marL="457200" lvl="0" indent="-342900" algn="l" rtl="0">
              <a:lnSpc>
                <a:spcPct val="100000"/>
              </a:lnSpc>
              <a:spcBef>
                <a:spcPts val="0"/>
              </a:spcBef>
              <a:spcAft>
                <a:spcPts val="0"/>
              </a:spcAft>
              <a:buSzPts val="1800"/>
              <a:buChar char="•"/>
            </a:pPr>
            <a:r>
              <a:rPr lang="en-US"/>
              <a:t>Dropped variables with 1) &gt; 20% missingness, 2) low or no variance, and 3) missing target variable</a:t>
            </a:r>
            <a:endParaRPr/>
          </a:p>
        </p:txBody>
      </p:sp>
      <p:sp>
        <p:nvSpPr>
          <p:cNvPr id="147" name="Google Shape;147;p18"/>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grpSp>
        <p:nvGrpSpPr>
          <p:cNvPr id="148" name="Google Shape;148;p18"/>
          <p:cNvGrpSpPr/>
          <p:nvPr/>
        </p:nvGrpSpPr>
        <p:grpSpPr>
          <a:xfrm>
            <a:off x="406550" y="994175"/>
            <a:ext cx="3924300" cy="514350"/>
            <a:chOff x="7462050" y="7632500"/>
            <a:chExt cx="3924300" cy="514350"/>
          </a:xfrm>
        </p:grpSpPr>
        <p:pic>
          <p:nvPicPr>
            <p:cNvPr id="149" name="Google Shape;149;p18"/>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150" name="Google Shape;150;p18"/>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151" name="Google Shape;151;p18"/>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Data Cleaning</a:t>
              </a:r>
              <a:endParaRPr sz="1800" b="1">
                <a:solidFill>
                  <a:srgbClr val="0B3512"/>
                </a:solidFill>
                <a:latin typeface="Noto Sans"/>
                <a:ea typeface="Noto Sans"/>
                <a:cs typeface="Noto Sans"/>
                <a:sym typeface="Noto Sans"/>
              </a:endParaRPr>
            </a:p>
          </p:txBody>
        </p:sp>
      </p:grpSp>
      <p:sp>
        <p:nvSpPr>
          <p:cNvPr id="152" name="Google Shape;152;p18"/>
          <p:cNvSpPr txBox="1">
            <a:spLocks noGrp="1"/>
          </p:cNvSpPr>
          <p:nvPr>
            <p:ph type="body" idx="1"/>
          </p:nvPr>
        </p:nvSpPr>
        <p:spPr>
          <a:xfrm>
            <a:off x="406550" y="3363725"/>
            <a:ext cx="11394300" cy="957000"/>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0"/>
              </a:spcBef>
              <a:spcAft>
                <a:spcPts val="0"/>
              </a:spcAft>
              <a:buSzPts val="1800"/>
              <a:buChar char="•"/>
            </a:pPr>
            <a:r>
              <a:rPr lang="en-US" sz="1800"/>
              <a:t>Filter method: Top 30 numeric (ANOVA F-test) + Top 10 categorical (χ²)</a:t>
            </a:r>
            <a:endParaRPr sz="1800"/>
          </a:p>
          <a:p>
            <a:pPr marL="457200" lvl="0" indent="-342900" algn="l" rtl="0">
              <a:lnSpc>
                <a:spcPct val="100000"/>
              </a:lnSpc>
              <a:spcBef>
                <a:spcPts val="0"/>
              </a:spcBef>
              <a:spcAft>
                <a:spcPts val="0"/>
              </a:spcAft>
              <a:buSzPts val="1800"/>
              <a:buChar char="•"/>
            </a:pPr>
            <a:r>
              <a:rPr lang="en-US" sz="1800"/>
              <a:t>Wrapper method: RFE (w/ XGBoost) → Select top 40 predictive features</a:t>
            </a:r>
            <a:endParaRPr sz="1800"/>
          </a:p>
          <a:p>
            <a:pPr marL="457200" lvl="0" indent="-342900" algn="l" rtl="0">
              <a:lnSpc>
                <a:spcPct val="100000"/>
              </a:lnSpc>
              <a:spcBef>
                <a:spcPts val="0"/>
              </a:spcBef>
              <a:spcAft>
                <a:spcPts val="0"/>
              </a:spcAft>
              <a:buSzPts val="1800"/>
              <a:buChar char="•"/>
            </a:pPr>
            <a:r>
              <a:rPr lang="en-US" sz="1800"/>
              <a:t>Combine &amp; Prune: Union → further feature selection based on feature importance (XGBoost)</a:t>
            </a:r>
            <a:endParaRPr sz="1800"/>
          </a:p>
        </p:txBody>
      </p:sp>
      <p:grpSp>
        <p:nvGrpSpPr>
          <p:cNvPr id="153" name="Google Shape;153;p18"/>
          <p:cNvGrpSpPr/>
          <p:nvPr/>
        </p:nvGrpSpPr>
        <p:grpSpPr>
          <a:xfrm>
            <a:off x="406550" y="2670575"/>
            <a:ext cx="4136850" cy="514350"/>
            <a:chOff x="7462050" y="7632500"/>
            <a:chExt cx="4136850" cy="514350"/>
          </a:xfrm>
        </p:grpSpPr>
        <p:pic>
          <p:nvPicPr>
            <p:cNvPr id="154" name="Google Shape;154;p18"/>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155" name="Google Shape;155;p18"/>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156" name="Google Shape;156;p18"/>
            <p:cNvSpPr txBox="1"/>
            <p:nvPr/>
          </p:nvSpPr>
          <p:spPr>
            <a:xfrm>
              <a:off x="7595400" y="7654100"/>
              <a:ext cx="40035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Feature Selection: Dual Selection</a:t>
              </a:r>
              <a:endParaRPr sz="1800" b="1">
                <a:solidFill>
                  <a:srgbClr val="0B3512"/>
                </a:solidFill>
                <a:latin typeface="Noto Sans"/>
                <a:ea typeface="Noto Sans"/>
                <a:cs typeface="Noto Sans"/>
                <a:sym typeface="Noto Sans"/>
              </a:endParaRPr>
            </a:p>
          </p:txBody>
        </p:sp>
      </p:grpSp>
      <p:grpSp>
        <p:nvGrpSpPr>
          <p:cNvPr id="157" name="Google Shape;157;p18"/>
          <p:cNvGrpSpPr/>
          <p:nvPr/>
        </p:nvGrpSpPr>
        <p:grpSpPr>
          <a:xfrm>
            <a:off x="406550" y="4514487"/>
            <a:ext cx="4136850" cy="514350"/>
            <a:chOff x="7462050" y="7632500"/>
            <a:chExt cx="4136850" cy="514350"/>
          </a:xfrm>
        </p:grpSpPr>
        <p:pic>
          <p:nvPicPr>
            <p:cNvPr id="158" name="Google Shape;158;p18"/>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159" name="Google Shape;159;p18"/>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160" name="Google Shape;160;p18"/>
            <p:cNvSpPr txBox="1"/>
            <p:nvPr/>
          </p:nvSpPr>
          <p:spPr>
            <a:xfrm>
              <a:off x="7595400" y="7654100"/>
              <a:ext cx="40035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Missing-Value Imputation</a:t>
              </a:r>
              <a:endParaRPr sz="1800" b="1">
                <a:solidFill>
                  <a:srgbClr val="0B3512"/>
                </a:solidFill>
                <a:latin typeface="Noto Sans"/>
                <a:ea typeface="Noto Sans"/>
                <a:cs typeface="Noto Sans"/>
                <a:sym typeface="Noto Sans"/>
              </a:endParaRPr>
            </a:p>
          </p:txBody>
        </p:sp>
      </p:grpSp>
      <p:sp>
        <p:nvSpPr>
          <p:cNvPr id="161" name="Google Shape;161;p18"/>
          <p:cNvSpPr txBox="1">
            <a:spLocks noGrp="1"/>
          </p:cNvSpPr>
          <p:nvPr>
            <p:ph type="body" idx="1"/>
          </p:nvPr>
        </p:nvSpPr>
        <p:spPr>
          <a:xfrm>
            <a:off x="406550" y="5209825"/>
            <a:ext cx="11394300" cy="957000"/>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0"/>
              </a:spcBef>
              <a:spcAft>
                <a:spcPts val="0"/>
              </a:spcAft>
              <a:buSzPts val="1800"/>
              <a:buChar char="•"/>
            </a:pPr>
            <a:r>
              <a:rPr lang="en-US" sz="1800"/>
              <a:t>Split into numeric and categorical, imputed missing values with </a:t>
            </a:r>
            <a:r>
              <a:rPr lang="en-US" sz="1800">
                <a:solidFill>
                  <a:srgbClr val="188038"/>
                </a:solidFill>
                <a:latin typeface="Roboto Mono"/>
                <a:ea typeface="Roboto Mono"/>
                <a:cs typeface="Roboto Mono"/>
                <a:sym typeface="Roboto Mono"/>
              </a:rPr>
              <a:t>IterativeImputer</a:t>
            </a:r>
            <a:r>
              <a:rPr lang="en-US" sz="1800"/>
              <a:t> with </a:t>
            </a:r>
            <a:r>
              <a:rPr lang="en-US" sz="1800">
                <a:solidFill>
                  <a:srgbClr val="188038"/>
                </a:solidFill>
                <a:latin typeface="Roboto Mono"/>
                <a:ea typeface="Roboto Mono"/>
                <a:cs typeface="Roboto Mono"/>
                <a:sym typeface="Roboto Mono"/>
              </a:rPr>
              <a:t>XGBRegressor</a:t>
            </a:r>
            <a:r>
              <a:rPr lang="en-US" sz="1800"/>
              <a:t> (for numerics) and </a:t>
            </a:r>
            <a:r>
              <a:rPr lang="en-US" sz="1800">
                <a:solidFill>
                  <a:srgbClr val="188038"/>
                </a:solidFill>
                <a:latin typeface="Roboto Mono"/>
                <a:ea typeface="Roboto Mono"/>
                <a:cs typeface="Roboto Mono"/>
                <a:sym typeface="Roboto Mono"/>
              </a:rPr>
              <a:t>XGBClassifier</a:t>
            </a:r>
            <a:r>
              <a:rPr lang="en-US" sz="1800"/>
              <a:t> (for categoricals)</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9"/>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0C3512"/>
              </a:buClr>
              <a:buSzPts val="4400"/>
              <a:buFont typeface="Play"/>
              <a:buNone/>
            </a:pPr>
            <a:r>
              <a:rPr lang="en-US"/>
              <a:t>Data Cleaning &amp; Preprocessing</a:t>
            </a:r>
            <a:endParaRPr/>
          </a:p>
        </p:txBody>
      </p:sp>
      <p:sp>
        <p:nvSpPr>
          <p:cNvPr id="167" name="Google Shape;167;p19"/>
          <p:cNvSpPr txBox="1">
            <a:spLocks noGrp="1"/>
          </p:cNvSpPr>
          <p:nvPr>
            <p:ph type="body" idx="1"/>
          </p:nvPr>
        </p:nvSpPr>
        <p:spPr>
          <a:xfrm>
            <a:off x="406550" y="1672225"/>
            <a:ext cx="11394300" cy="4241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r>
              <a:rPr lang="en-US" sz="2000"/>
              <a:t>Multicollinearity can causes GLM model to have:</a:t>
            </a:r>
            <a:endParaRPr sz="2000"/>
          </a:p>
          <a:p>
            <a:pPr marL="457200" lvl="0" indent="-355600" algn="l" rtl="0">
              <a:lnSpc>
                <a:spcPct val="90000"/>
              </a:lnSpc>
              <a:spcBef>
                <a:spcPts val="0"/>
              </a:spcBef>
              <a:spcAft>
                <a:spcPts val="0"/>
              </a:spcAft>
              <a:buSzPts val="2000"/>
              <a:buChar char="•"/>
            </a:pPr>
            <a:r>
              <a:rPr lang="en-US" sz="2000"/>
              <a:t>Parameter instability</a:t>
            </a:r>
            <a:endParaRPr sz="2000"/>
          </a:p>
          <a:p>
            <a:pPr marL="457200" lvl="0" indent="-355600" algn="l" rtl="0">
              <a:lnSpc>
                <a:spcPct val="90000"/>
              </a:lnSpc>
              <a:spcBef>
                <a:spcPts val="0"/>
              </a:spcBef>
              <a:spcAft>
                <a:spcPts val="0"/>
              </a:spcAft>
              <a:buSzPts val="2000"/>
              <a:buChar char="•"/>
            </a:pPr>
            <a:r>
              <a:rPr lang="en-US" sz="2000"/>
              <a:t>Inflated standard errors</a:t>
            </a:r>
            <a:endParaRPr sz="2000"/>
          </a:p>
          <a:p>
            <a:pPr marL="457200" lvl="0" indent="-355600" algn="l" rtl="0">
              <a:lnSpc>
                <a:spcPct val="90000"/>
              </a:lnSpc>
              <a:spcBef>
                <a:spcPts val="0"/>
              </a:spcBef>
              <a:spcAft>
                <a:spcPts val="0"/>
              </a:spcAft>
              <a:buSzPts val="2000"/>
              <a:buChar char="•"/>
            </a:pPr>
            <a:r>
              <a:rPr lang="en-US" sz="2000"/>
              <a:t>Interpretation problems</a:t>
            </a:r>
            <a:endParaRPr sz="2000"/>
          </a:p>
          <a:p>
            <a:pPr marL="0" lvl="0" indent="0" algn="l" rtl="0">
              <a:lnSpc>
                <a:spcPct val="90000"/>
              </a:lnSpc>
              <a:spcBef>
                <a:spcPts val="0"/>
              </a:spcBef>
              <a:spcAft>
                <a:spcPts val="0"/>
              </a:spcAft>
              <a:buNone/>
            </a:pPr>
            <a:endParaRPr sz="2000"/>
          </a:p>
          <a:p>
            <a:pPr marL="0" lvl="0" indent="0" algn="l" rtl="0">
              <a:lnSpc>
                <a:spcPct val="90000"/>
              </a:lnSpc>
              <a:spcBef>
                <a:spcPts val="0"/>
              </a:spcBef>
              <a:spcAft>
                <a:spcPts val="0"/>
              </a:spcAft>
              <a:buNone/>
            </a:pPr>
            <a:r>
              <a:rPr lang="en-US" sz="2000"/>
              <a:t>Modern ML techniques such as ensemble trees are more robust against collinearity compared to GLM when prediction is primary goal with the interpretation at the cost.</a:t>
            </a:r>
            <a:endParaRPr sz="2000"/>
          </a:p>
          <a:p>
            <a:pPr marL="0" lvl="0" indent="0" algn="l" rtl="0">
              <a:lnSpc>
                <a:spcPct val="90000"/>
              </a:lnSpc>
              <a:spcBef>
                <a:spcPts val="0"/>
              </a:spcBef>
              <a:spcAft>
                <a:spcPts val="0"/>
              </a:spcAft>
              <a:buNone/>
            </a:pPr>
            <a:endParaRPr sz="2000"/>
          </a:p>
          <a:p>
            <a:pPr marL="0" lvl="0" indent="0" algn="l" rtl="0">
              <a:lnSpc>
                <a:spcPct val="90000"/>
              </a:lnSpc>
              <a:spcBef>
                <a:spcPts val="0"/>
              </a:spcBef>
              <a:spcAft>
                <a:spcPts val="0"/>
              </a:spcAft>
              <a:buNone/>
            </a:pPr>
            <a:r>
              <a:rPr lang="en-US" sz="2000"/>
              <a:t>We are using VIF testing (Variance Inflation Factor) with threshold of 5 to handle the multicollinearity.</a:t>
            </a:r>
            <a:endParaRPr sz="2000"/>
          </a:p>
          <a:p>
            <a:pPr marL="457200" lvl="0" indent="0" algn="l" rtl="0">
              <a:lnSpc>
                <a:spcPct val="90000"/>
              </a:lnSpc>
              <a:spcBef>
                <a:spcPts val="0"/>
              </a:spcBef>
              <a:spcAft>
                <a:spcPts val="0"/>
              </a:spcAft>
              <a:buNone/>
            </a:pPr>
            <a:endParaRPr sz="2000"/>
          </a:p>
          <a:p>
            <a:pPr marL="0" lvl="0" indent="0" algn="l" rtl="0">
              <a:lnSpc>
                <a:spcPct val="90000"/>
              </a:lnSpc>
              <a:spcBef>
                <a:spcPts val="0"/>
              </a:spcBef>
              <a:spcAft>
                <a:spcPts val="0"/>
              </a:spcAft>
              <a:buNone/>
            </a:pPr>
            <a:r>
              <a:rPr lang="en-US" sz="2000"/>
              <a:t>It is important to drop variables one-by-one since the correlation structure changes after each removal. VIF values must be recalculated for remaining variables as their interdependencies shift. </a:t>
            </a:r>
            <a:endParaRPr sz="2000"/>
          </a:p>
        </p:txBody>
      </p:sp>
      <p:sp>
        <p:nvSpPr>
          <p:cNvPr id="168" name="Google Shape;168;p19"/>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grpSp>
        <p:nvGrpSpPr>
          <p:cNvPr id="169" name="Google Shape;169;p19"/>
          <p:cNvGrpSpPr/>
          <p:nvPr/>
        </p:nvGrpSpPr>
        <p:grpSpPr>
          <a:xfrm>
            <a:off x="406550" y="994175"/>
            <a:ext cx="3924300" cy="514350"/>
            <a:chOff x="7462050" y="7632500"/>
            <a:chExt cx="3924300" cy="514350"/>
          </a:xfrm>
        </p:grpSpPr>
        <p:pic>
          <p:nvPicPr>
            <p:cNvPr id="170" name="Google Shape;170;p19"/>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171" name="Google Shape;171;p19"/>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172" name="Google Shape;172;p19"/>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Multicollinearity</a:t>
              </a:r>
              <a:endParaRPr sz="1800" b="1">
                <a:solidFill>
                  <a:srgbClr val="0B3512"/>
                </a:solidFill>
                <a:latin typeface="Noto Sans"/>
                <a:ea typeface="Noto Sans"/>
                <a:cs typeface="Noto Sans"/>
                <a:sym typeface="Noto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4019909" y="64877"/>
            <a:ext cx="7333800" cy="7656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None/>
            </a:pPr>
            <a:r>
              <a:rPr lang="en-US"/>
              <a:t>EDA on Selected Features</a:t>
            </a:r>
            <a:endParaRPr/>
          </a:p>
        </p:txBody>
      </p:sp>
      <p:sp>
        <p:nvSpPr>
          <p:cNvPr id="179" name="Google Shape;179;p20"/>
          <p:cNvSpPr txBox="1">
            <a:spLocks noGrp="1"/>
          </p:cNvSpPr>
          <p:nvPr>
            <p:ph type="body" idx="1"/>
          </p:nvPr>
        </p:nvSpPr>
        <p:spPr>
          <a:xfrm>
            <a:off x="406550" y="1672225"/>
            <a:ext cx="4732800" cy="2206500"/>
          </a:xfrm>
          <a:prstGeom prst="rect">
            <a:avLst/>
          </a:prstGeom>
        </p:spPr>
        <p:txBody>
          <a:bodyPr spcFirstLastPara="1" wrap="square" lIns="91425" tIns="45700" rIns="91425" bIns="45700" anchor="t" anchorCtr="0">
            <a:normAutofit/>
          </a:bodyPr>
          <a:lstStyle/>
          <a:p>
            <a:pPr marL="457200" lvl="0" indent="-342900" algn="l" rtl="0">
              <a:lnSpc>
                <a:spcPct val="100000"/>
              </a:lnSpc>
              <a:spcBef>
                <a:spcPts val="0"/>
              </a:spcBef>
              <a:spcAft>
                <a:spcPts val="0"/>
              </a:spcAft>
              <a:buSzPts val="1800"/>
              <a:buChar char="•"/>
            </a:pPr>
            <a:r>
              <a:rPr lang="en-US" sz="1800"/>
              <a:t>Distribution</a:t>
            </a:r>
            <a:r>
              <a:rPr lang="en-US"/>
              <a:t>,</a:t>
            </a:r>
            <a:r>
              <a:rPr lang="en-US" sz="1800"/>
              <a:t> median</a:t>
            </a:r>
            <a:r>
              <a:rPr lang="en-US"/>
              <a:t>, </a:t>
            </a:r>
            <a:r>
              <a:rPr lang="en-US" sz="1800"/>
              <a:t>outlier, </a:t>
            </a:r>
            <a:r>
              <a:rPr lang="en-US"/>
              <a:t>density</a:t>
            </a:r>
            <a:r>
              <a:rPr lang="en-US" sz="1800"/>
              <a:t> (Violin+Stripplot) </a:t>
            </a:r>
            <a:r>
              <a:rPr lang="en-US"/>
              <a:t>by class</a:t>
            </a:r>
            <a:endParaRPr sz="1800"/>
          </a:p>
          <a:p>
            <a:pPr marL="457200" lvl="0" indent="-342900" algn="l" rtl="0">
              <a:lnSpc>
                <a:spcPct val="100000"/>
              </a:lnSpc>
              <a:spcBef>
                <a:spcPts val="0"/>
              </a:spcBef>
              <a:spcAft>
                <a:spcPts val="0"/>
              </a:spcAft>
              <a:buSzPts val="1800"/>
              <a:buChar char="•"/>
            </a:pPr>
            <a:r>
              <a:rPr lang="en-US"/>
              <a:t>D</a:t>
            </a:r>
            <a:r>
              <a:rPr lang="en-US" sz="1800"/>
              <a:t>ifference b</a:t>
            </a:r>
            <a:r>
              <a:rPr lang="en-US"/>
              <a:t>etween</a:t>
            </a:r>
            <a:r>
              <a:rPr lang="en-US" sz="1800"/>
              <a:t> Class 1 and 0</a:t>
            </a:r>
            <a:endParaRPr/>
          </a:p>
          <a:p>
            <a:pPr marL="914400" lvl="1" indent="-330200" algn="l" rtl="0">
              <a:lnSpc>
                <a:spcPct val="100000"/>
              </a:lnSpc>
              <a:spcBef>
                <a:spcPts val="0"/>
              </a:spcBef>
              <a:spcAft>
                <a:spcPts val="0"/>
              </a:spcAft>
              <a:buSzPts val="1600"/>
              <a:buChar char="•"/>
            </a:pPr>
            <a:r>
              <a:rPr lang="en-US"/>
              <a:t>Normality check → Shapiro-Wilk test</a:t>
            </a:r>
            <a:endParaRPr/>
          </a:p>
          <a:p>
            <a:pPr marL="914400" lvl="1" indent="-330200" algn="l" rtl="0">
              <a:lnSpc>
                <a:spcPct val="100000"/>
              </a:lnSpc>
              <a:spcBef>
                <a:spcPts val="0"/>
              </a:spcBef>
              <a:spcAft>
                <a:spcPts val="0"/>
              </a:spcAft>
              <a:buSzPts val="1600"/>
              <a:buChar char="•"/>
            </a:pPr>
            <a:r>
              <a:rPr lang="en-US"/>
              <a:t>1) Normal → T-test (mean), </a:t>
            </a:r>
            <a:endParaRPr/>
          </a:p>
          <a:p>
            <a:pPr marL="914400" lvl="1" indent="-330200" algn="l" rtl="0">
              <a:lnSpc>
                <a:spcPct val="100000"/>
              </a:lnSpc>
              <a:spcBef>
                <a:spcPts val="0"/>
              </a:spcBef>
              <a:spcAft>
                <a:spcPts val="0"/>
              </a:spcAft>
              <a:buSzPts val="1600"/>
              <a:buChar char="•"/>
            </a:pPr>
            <a:r>
              <a:rPr lang="en-US"/>
              <a:t>2) Non-normal → Mann-Whitney U test (median)</a:t>
            </a:r>
            <a:endParaRPr/>
          </a:p>
          <a:p>
            <a:pPr marL="457200" lvl="0" indent="-342900" algn="l" rtl="0">
              <a:lnSpc>
                <a:spcPct val="100000"/>
              </a:lnSpc>
              <a:spcBef>
                <a:spcPts val="0"/>
              </a:spcBef>
              <a:spcAft>
                <a:spcPts val="0"/>
              </a:spcAft>
              <a:buSzPts val="1800"/>
              <a:buChar char="•"/>
            </a:pPr>
            <a:r>
              <a:rPr lang="en-US"/>
              <a:t>Correlation, VIF (multicollinearity)</a:t>
            </a:r>
            <a:endParaRPr sz="1800"/>
          </a:p>
        </p:txBody>
      </p:sp>
      <p:sp>
        <p:nvSpPr>
          <p:cNvPr id="180" name="Google Shape;180;p20"/>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pic>
        <p:nvPicPr>
          <p:cNvPr id="181" name="Google Shape;181;p20"/>
          <p:cNvPicPr preferRelativeResize="0"/>
          <p:nvPr/>
        </p:nvPicPr>
        <p:blipFill>
          <a:blip r:embed="rId3">
            <a:alphaModFix/>
          </a:blip>
          <a:stretch>
            <a:fillRect/>
          </a:stretch>
        </p:blipFill>
        <p:spPr>
          <a:xfrm>
            <a:off x="5089925" y="1215500"/>
            <a:ext cx="6878275" cy="2206650"/>
          </a:xfrm>
          <a:prstGeom prst="rect">
            <a:avLst/>
          </a:prstGeom>
          <a:noFill/>
          <a:ln>
            <a:noFill/>
          </a:ln>
        </p:spPr>
      </p:pic>
      <p:pic>
        <p:nvPicPr>
          <p:cNvPr id="182" name="Google Shape;182;p20"/>
          <p:cNvPicPr preferRelativeResize="0"/>
          <p:nvPr/>
        </p:nvPicPr>
        <p:blipFill>
          <a:blip r:embed="rId4">
            <a:alphaModFix/>
          </a:blip>
          <a:stretch>
            <a:fillRect/>
          </a:stretch>
        </p:blipFill>
        <p:spPr>
          <a:xfrm>
            <a:off x="6271051" y="4044685"/>
            <a:ext cx="4516027" cy="2206650"/>
          </a:xfrm>
          <a:prstGeom prst="rect">
            <a:avLst/>
          </a:prstGeom>
          <a:noFill/>
          <a:ln>
            <a:noFill/>
          </a:ln>
        </p:spPr>
      </p:pic>
      <p:grpSp>
        <p:nvGrpSpPr>
          <p:cNvPr id="183" name="Google Shape;183;p20"/>
          <p:cNvGrpSpPr/>
          <p:nvPr/>
        </p:nvGrpSpPr>
        <p:grpSpPr>
          <a:xfrm>
            <a:off x="406550" y="994175"/>
            <a:ext cx="3924300" cy="514350"/>
            <a:chOff x="7462050" y="7632500"/>
            <a:chExt cx="3924300" cy="514350"/>
          </a:xfrm>
        </p:grpSpPr>
        <p:pic>
          <p:nvPicPr>
            <p:cNvPr id="184" name="Google Shape;184;p20"/>
            <p:cNvPicPr preferRelativeResize="0"/>
            <p:nvPr/>
          </p:nvPicPr>
          <p:blipFill>
            <a:blip r:embed="rId5">
              <a:alphaModFix/>
            </a:blip>
            <a:stretch>
              <a:fillRect/>
            </a:stretch>
          </p:blipFill>
          <p:spPr>
            <a:xfrm>
              <a:off x="7462050" y="8127800"/>
              <a:ext cx="3924300" cy="19050"/>
            </a:xfrm>
            <a:prstGeom prst="rect">
              <a:avLst/>
            </a:prstGeom>
            <a:noFill/>
            <a:ln>
              <a:noFill/>
            </a:ln>
          </p:spPr>
        </p:pic>
        <p:pic>
          <p:nvPicPr>
            <p:cNvPr id="185" name="Google Shape;185;p20"/>
            <p:cNvPicPr preferRelativeResize="0"/>
            <p:nvPr/>
          </p:nvPicPr>
          <p:blipFill>
            <a:blip r:embed="rId6">
              <a:alphaModFix/>
            </a:blip>
            <a:stretch>
              <a:fillRect/>
            </a:stretch>
          </p:blipFill>
          <p:spPr>
            <a:xfrm>
              <a:off x="7462050" y="7632500"/>
              <a:ext cx="133350" cy="495300"/>
            </a:xfrm>
            <a:prstGeom prst="rect">
              <a:avLst/>
            </a:prstGeom>
            <a:noFill/>
            <a:ln>
              <a:noFill/>
            </a:ln>
          </p:spPr>
        </p:pic>
        <p:sp>
          <p:nvSpPr>
            <p:cNvPr id="186" name="Google Shape;186;p20"/>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Numerical</a:t>
              </a:r>
              <a:endParaRPr sz="1800" b="1">
                <a:solidFill>
                  <a:srgbClr val="0B3512"/>
                </a:solidFill>
                <a:latin typeface="Noto Sans"/>
                <a:ea typeface="Noto Sans"/>
                <a:cs typeface="Noto Sans"/>
                <a:sym typeface="Noto Sans"/>
              </a:endParaRPr>
            </a:p>
          </p:txBody>
        </p:sp>
      </p:grpSp>
      <p:sp>
        <p:nvSpPr>
          <p:cNvPr id="187" name="Google Shape;187;p20"/>
          <p:cNvSpPr txBox="1">
            <a:spLocks noGrp="1"/>
          </p:cNvSpPr>
          <p:nvPr>
            <p:ph type="body" idx="1"/>
          </p:nvPr>
        </p:nvSpPr>
        <p:spPr>
          <a:xfrm>
            <a:off x="406550" y="4562575"/>
            <a:ext cx="4732800" cy="1708200"/>
          </a:xfrm>
          <a:prstGeom prst="rect">
            <a:avLst/>
          </a:prstGeom>
        </p:spPr>
        <p:txBody>
          <a:bodyPr spcFirstLastPara="1" wrap="square" lIns="91425" tIns="45700" rIns="91425" bIns="45700" anchor="t" anchorCtr="0">
            <a:normAutofit/>
          </a:bodyPr>
          <a:lstStyle/>
          <a:p>
            <a:pPr marL="457200" lvl="0" indent="-342900" algn="l" rtl="0">
              <a:lnSpc>
                <a:spcPct val="100000"/>
              </a:lnSpc>
              <a:spcBef>
                <a:spcPts val="0"/>
              </a:spcBef>
              <a:spcAft>
                <a:spcPts val="0"/>
              </a:spcAft>
              <a:buSzPts val="1800"/>
              <a:buChar char="•"/>
            </a:pPr>
            <a:r>
              <a:rPr lang="en-US" sz="1800"/>
              <a:t>Overall </a:t>
            </a:r>
            <a:r>
              <a:rPr lang="en-US"/>
              <a:t>v</a:t>
            </a:r>
            <a:r>
              <a:rPr lang="en-US" sz="1800"/>
              <a:t>ariable </a:t>
            </a:r>
            <a:r>
              <a:rPr lang="en-US"/>
              <a:t>s</a:t>
            </a:r>
            <a:r>
              <a:rPr lang="en-US" sz="1800"/>
              <a:t>ignificance </a:t>
            </a:r>
            <a:endParaRPr/>
          </a:p>
          <a:p>
            <a:pPr marL="0" lvl="0" indent="457200" algn="l" rtl="0">
              <a:lnSpc>
                <a:spcPct val="100000"/>
              </a:lnSpc>
              <a:spcBef>
                <a:spcPts val="0"/>
              </a:spcBef>
              <a:spcAft>
                <a:spcPts val="0"/>
              </a:spcAft>
              <a:buNone/>
            </a:pPr>
            <a:r>
              <a:rPr lang="en-US" sz="1800"/>
              <a:t>→ Chi-squared test </a:t>
            </a:r>
            <a:endParaRPr sz="1800"/>
          </a:p>
          <a:p>
            <a:pPr marL="457200" lvl="0" indent="-342900" algn="l" rtl="0">
              <a:lnSpc>
                <a:spcPct val="100000"/>
              </a:lnSpc>
              <a:spcBef>
                <a:spcPts val="0"/>
              </a:spcBef>
              <a:spcAft>
                <a:spcPts val="0"/>
              </a:spcAft>
              <a:buSzPts val="1800"/>
              <a:buChar char="•"/>
            </a:pPr>
            <a:r>
              <a:rPr lang="en-US" sz="1800"/>
              <a:t>Category-level </a:t>
            </a:r>
            <a:r>
              <a:rPr lang="en-US"/>
              <a:t>s</a:t>
            </a:r>
            <a:r>
              <a:rPr lang="en-US" sz="1800"/>
              <a:t>ignificance</a:t>
            </a:r>
            <a:endParaRPr/>
          </a:p>
          <a:p>
            <a:pPr marL="457200" lvl="0" indent="0" algn="l" rtl="0">
              <a:lnSpc>
                <a:spcPct val="100000"/>
              </a:lnSpc>
              <a:spcBef>
                <a:spcPts val="0"/>
              </a:spcBef>
              <a:spcAft>
                <a:spcPts val="0"/>
              </a:spcAft>
              <a:buNone/>
            </a:pPr>
            <a:r>
              <a:rPr lang="en-US"/>
              <a:t>→ Standardized residuals of Chi2</a:t>
            </a:r>
            <a:endParaRPr/>
          </a:p>
          <a:p>
            <a:pPr marL="914400" lvl="1" indent="-330200" algn="l" rtl="0">
              <a:lnSpc>
                <a:spcPct val="100000"/>
              </a:lnSpc>
              <a:spcBef>
                <a:spcPts val="0"/>
              </a:spcBef>
              <a:spcAft>
                <a:spcPts val="0"/>
              </a:spcAft>
              <a:buSzPts val="1600"/>
              <a:buChar char="•"/>
            </a:pPr>
            <a:r>
              <a:rPr lang="en-US"/>
              <a:t>“Which specific categories drive that significance, particularly for Class 1?”</a:t>
            </a:r>
            <a:endParaRPr sz="1800"/>
          </a:p>
        </p:txBody>
      </p:sp>
      <p:grpSp>
        <p:nvGrpSpPr>
          <p:cNvPr id="188" name="Google Shape;188;p20"/>
          <p:cNvGrpSpPr/>
          <p:nvPr/>
        </p:nvGrpSpPr>
        <p:grpSpPr>
          <a:xfrm>
            <a:off x="406550" y="3889775"/>
            <a:ext cx="3924300" cy="514350"/>
            <a:chOff x="7462050" y="7632500"/>
            <a:chExt cx="3924300" cy="514350"/>
          </a:xfrm>
        </p:grpSpPr>
        <p:pic>
          <p:nvPicPr>
            <p:cNvPr id="189" name="Google Shape;189;p20"/>
            <p:cNvPicPr preferRelativeResize="0"/>
            <p:nvPr/>
          </p:nvPicPr>
          <p:blipFill>
            <a:blip r:embed="rId5">
              <a:alphaModFix/>
            </a:blip>
            <a:stretch>
              <a:fillRect/>
            </a:stretch>
          </p:blipFill>
          <p:spPr>
            <a:xfrm>
              <a:off x="7462050" y="8127800"/>
              <a:ext cx="3924300" cy="19050"/>
            </a:xfrm>
            <a:prstGeom prst="rect">
              <a:avLst/>
            </a:prstGeom>
            <a:noFill/>
            <a:ln>
              <a:noFill/>
            </a:ln>
          </p:spPr>
        </p:pic>
        <p:pic>
          <p:nvPicPr>
            <p:cNvPr id="190" name="Google Shape;190;p20"/>
            <p:cNvPicPr preferRelativeResize="0"/>
            <p:nvPr/>
          </p:nvPicPr>
          <p:blipFill>
            <a:blip r:embed="rId6">
              <a:alphaModFix/>
            </a:blip>
            <a:stretch>
              <a:fillRect/>
            </a:stretch>
          </p:blipFill>
          <p:spPr>
            <a:xfrm>
              <a:off x="7462050" y="7632500"/>
              <a:ext cx="133350" cy="495300"/>
            </a:xfrm>
            <a:prstGeom prst="rect">
              <a:avLst/>
            </a:prstGeom>
            <a:noFill/>
            <a:ln>
              <a:noFill/>
            </a:ln>
          </p:spPr>
        </p:pic>
        <p:sp>
          <p:nvSpPr>
            <p:cNvPr id="191" name="Google Shape;191;p20"/>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Categorical</a:t>
              </a:r>
              <a:endParaRPr sz="1800" b="1">
                <a:solidFill>
                  <a:srgbClr val="0B3512"/>
                </a:solidFill>
                <a:latin typeface="Noto Sans"/>
                <a:ea typeface="Noto Sans"/>
                <a:cs typeface="Noto Sans"/>
                <a:sym typeface="Noto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1"/>
          <p:cNvSpPr txBox="1">
            <a:spLocks noGrp="1"/>
          </p:cNvSpPr>
          <p:nvPr>
            <p:ph type="title"/>
          </p:nvPr>
        </p:nvSpPr>
        <p:spPr>
          <a:xfrm>
            <a:off x="4019909" y="64877"/>
            <a:ext cx="7333800" cy="7656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Clr>
                <a:schemeClr val="dk1"/>
              </a:buClr>
              <a:buSzPts val="1100"/>
              <a:buFont typeface="Arial"/>
              <a:buNone/>
            </a:pPr>
            <a:r>
              <a:rPr lang="en-US"/>
              <a:t>EDA on Selected Features</a:t>
            </a:r>
            <a:endParaRPr/>
          </a:p>
        </p:txBody>
      </p:sp>
      <p:sp>
        <p:nvSpPr>
          <p:cNvPr id="198" name="Google Shape;198;p21"/>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pic>
        <p:nvPicPr>
          <p:cNvPr id="199" name="Google Shape;199;p21"/>
          <p:cNvPicPr preferRelativeResize="0"/>
          <p:nvPr/>
        </p:nvPicPr>
        <p:blipFill>
          <a:blip r:embed="rId3">
            <a:alphaModFix/>
          </a:blip>
          <a:stretch>
            <a:fillRect/>
          </a:stretch>
        </p:blipFill>
        <p:spPr>
          <a:xfrm>
            <a:off x="2527257" y="1672225"/>
            <a:ext cx="7137479" cy="4519724"/>
          </a:xfrm>
          <a:prstGeom prst="rect">
            <a:avLst/>
          </a:prstGeom>
          <a:noFill/>
          <a:ln>
            <a:noFill/>
          </a:ln>
        </p:spPr>
      </p:pic>
      <p:grpSp>
        <p:nvGrpSpPr>
          <p:cNvPr id="200" name="Google Shape;200;p21"/>
          <p:cNvGrpSpPr/>
          <p:nvPr/>
        </p:nvGrpSpPr>
        <p:grpSpPr>
          <a:xfrm>
            <a:off x="406550" y="994175"/>
            <a:ext cx="3924300" cy="514350"/>
            <a:chOff x="7462050" y="7632500"/>
            <a:chExt cx="3924300" cy="514350"/>
          </a:xfrm>
        </p:grpSpPr>
        <p:pic>
          <p:nvPicPr>
            <p:cNvPr id="201" name="Google Shape;201;p21"/>
            <p:cNvPicPr preferRelativeResize="0"/>
            <p:nvPr/>
          </p:nvPicPr>
          <p:blipFill>
            <a:blip r:embed="rId4">
              <a:alphaModFix/>
            </a:blip>
            <a:stretch>
              <a:fillRect/>
            </a:stretch>
          </p:blipFill>
          <p:spPr>
            <a:xfrm>
              <a:off x="7462050" y="8127800"/>
              <a:ext cx="3924300" cy="19050"/>
            </a:xfrm>
            <a:prstGeom prst="rect">
              <a:avLst/>
            </a:prstGeom>
            <a:noFill/>
            <a:ln>
              <a:noFill/>
            </a:ln>
          </p:spPr>
        </p:pic>
        <p:pic>
          <p:nvPicPr>
            <p:cNvPr id="202" name="Google Shape;202;p21"/>
            <p:cNvPicPr preferRelativeResize="0"/>
            <p:nvPr/>
          </p:nvPicPr>
          <p:blipFill>
            <a:blip r:embed="rId5">
              <a:alphaModFix/>
            </a:blip>
            <a:stretch>
              <a:fillRect/>
            </a:stretch>
          </p:blipFill>
          <p:spPr>
            <a:xfrm>
              <a:off x="7462050" y="7632500"/>
              <a:ext cx="133350" cy="495300"/>
            </a:xfrm>
            <a:prstGeom prst="rect">
              <a:avLst/>
            </a:prstGeom>
            <a:noFill/>
            <a:ln>
              <a:noFill/>
            </a:ln>
          </p:spPr>
        </p:pic>
        <p:sp>
          <p:nvSpPr>
            <p:cNvPr id="203" name="Google Shape;203;p21"/>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Key Feature: Bedtime</a:t>
              </a:r>
              <a:endParaRPr sz="1800" b="1">
                <a:solidFill>
                  <a:srgbClr val="0B3512"/>
                </a:solidFill>
                <a:latin typeface="Noto Sans"/>
                <a:ea typeface="Noto Sans"/>
                <a:cs typeface="Noto Sans"/>
                <a:sym typeface="Noto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2"/>
          <p:cNvSpPr txBox="1">
            <a:spLocks noGrp="1"/>
          </p:cNvSpPr>
          <p:nvPr>
            <p:ph type="title"/>
          </p:nvPr>
        </p:nvSpPr>
        <p:spPr>
          <a:xfrm>
            <a:off x="4019909" y="64877"/>
            <a:ext cx="7333800" cy="7656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None/>
            </a:pPr>
            <a:r>
              <a:rPr lang="en-US"/>
              <a:t>EDA on Selected Features</a:t>
            </a:r>
            <a:endParaRPr/>
          </a:p>
        </p:txBody>
      </p:sp>
      <p:sp>
        <p:nvSpPr>
          <p:cNvPr id="210" name="Google Shape;210;p22"/>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11" name="Google Shape;211;p22"/>
          <p:cNvGrpSpPr/>
          <p:nvPr/>
        </p:nvGrpSpPr>
        <p:grpSpPr>
          <a:xfrm>
            <a:off x="406550" y="994175"/>
            <a:ext cx="3924300" cy="514350"/>
            <a:chOff x="7462050" y="7632500"/>
            <a:chExt cx="3924300" cy="514350"/>
          </a:xfrm>
        </p:grpSpPr>
        <p:pic>
          <p:nvPicPr>
            <p:cNvPr id="212" name="Google Shape;212;p22"/>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213" name="Google Shape;213;p22"/>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214" name="Google Shape;214;p22"/>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Key Feature: Bedtime</a:t>
              </a:r>
              <a:endParaRPr sz="1800" b="1">
                <a:solidFill>
                  <a:srgbClr val="0B3512"/>
                </a:solidFill>
                <a:latin typeface="Noto Sans"/>
                <a:ea typeface="Noto Sans"/>
                <a:cs typeface="Noto Sans"/>
                <a:sym typeface="Noto Sans"/>
              </a:endParaRPr>
            </a:p>
          </p:txBody>
        </p:sp>
      </p:grpSp>
      <p:pic>
        <p:nvPicPr>
          <p:cNvPr id="215" name="Google Shape;215;p22"/>
          <p:cNvPicPr preferRelativeResize="0"/>
          <p:nvPr/>
        </p:nvPicPr>
        <p:blipFill>
          <a:blip r:embed="rId5">
            <a:alphaModFix/>
          </a:blip>
          <a:stretch>
            <a:fillRect/>
          </a:stretch>
        </p:blipFill>
        <p:spPr>
          <a:xfrm>
            <a:off x="2038875" y="1612675"/>
            <a:ext cx="8114226" cy="4746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3"/>
          <p:cNvSpPr txBox="1">
            <a:spLocks noGrp="1"/>
          </p:cNvSpPr>
          <p:nvPr>
            <p:ph type="title"/>
          </p:nvPr>
        </p:nvSpPr>
        <p:spPr>
          <a:xfrm>
            <a:off x="4019909" y="64877"/>
            <a:ext cx="7333800" cy="765600"/>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a:t>Feature Engineering</a:t>
            </a:r>
            <a:endParaRPr b="1"/>
          </a:p>
        </p:txBody>
      </p:sp>
      <p:sp>
        <p:nvSpPr>
          <p:cNvPr id="221" name="Google Shape;221;p23"/>
          <p:cNvSpPr txBox="1">
            <a:spLocks noGrp="1"/>
          </p:cNvSpPr>
          <p:nvPr>
            <p:ph type="body" idx="1"/>
          </p:nvPr>
        </p:nvSpPr>
        <p:spPr>
          <a:xfrm>
            <a:off x="406550" y="1672225"/>
            <a:ext cx="11394300" cy="420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2000"/>
              <a:t>Global features:</a:t>
            </a:r>
            <a:endParaRPr sz="2000"/>
          </a:p>
          <a:p>
            <a:pPr marL="457200" lvl="0" indent="-355600" algn="l" rtl="0">
              <a:lnSpc>
                <a:spcPct val="100000"/>
              </a:lnSpc>
              <a:spcBef>
                <a:spcPts val="0"/>
              </a:spcBef>
              <a:spcAft>
                <a:spcPts val="0"/>
              </a:spcAft>
              <a:buSzPts val="2000"/>
              <a:buChar char="•"/>
            </a:pPr>
            <a:r>
              <a:rPr lang="en-US" sz="2000"/>
              <a:t>waist_to_height_ratio</a:t>
            </a:r>
            <a:endParaRPr sz="2000"/>
          </a:p>
          <a:p>
            <a:pPr marL="0" lvl="0" indent="0" algn="l" rtl="0">
              <a:lnSpc>
                <a:spcPct val="100000"/>
              </a:lnSpc>
              <a:spcBef>
                <a:spcPts val="0"/>
              </a:spcBef>
              <a:spcAft>
                <a:spcPts val="0"/>
              </a:spcAft>
              <a:buClr>
                <a:schemeClr val="dk1"/>
              </a:buClr>
              <a:buSzPts val="1100"/>
              <a:buFont typeface="Arial"/>
              <a:buNone/>
            </a:pPr>
            <a:endParaRPr sz="2000"/>
          </a:p>
          <a:p>
            <a:pPr marL="0" lvl="0" indent="0" algn="l" rtl="0">
              <a:lnSpc>
                <a:spcPct val="100000"/>
              </a:lnSpc>
              <a:spcBef>
                <a:spcPts val="0"/>
              </a:spcBef>
              <a:spcAft>
                <a:spcPts val="0"/>
              </a:spcAft>
              <a:buClr>
                <a:schemeClr val="dk1"/>
              </a:buClr>
              <a:buSzPts val="1100"/>
              <a:buFont typeface="Arial"/>
              <a:buNone/>
            </a:pPr>
            <a:r>
              <a:rPr lang="en-US" sz="2000"/>
              <a:t>Features specific to boost the GLM prediction:</a:t>
            </a:r>
            <a:endParaRPr sz="2000"/>
          </a:p>
          <a:p>
            <a:pPr marL="457200" lvl="0" indent="-355600" algn="l" rtl="0">
              <a:lnSpc>
                <a:spcPct val="100000"/>
              </a:lnSpc>
              <a:spcBef>
                <a:spcPts val="0"/>
              </a:spcBef>
              <a:spcAft>
                <a:spcPts val="0"/>
              </a:spcAft>
              <a:buSzPts val="2000"/>
              <a:buChar char="•"/>
            </a:pPr>
            <a:r>
              <a:rPr lang="en-US" sz="2000"/>
              <a:t>binary: weekday_sleep_timing</a:t>
            </a:r>
            <a:endParaRPr sz="2000"/>
          </a:p>
          <a:p>
            <a:pPr marL="457200" lvl="0" indent="-355600" algn="l" rtl="0">
              <a:lnSpc>
                <a:spcPct val="100000"/>
              </a:lnSpc>
              <a:spcBef>
                <a:spcPts val="0"/>
              </a:spcBef>
              <a:spcAft>
                <a:spcPts val="0"/>
              </a:spcAft>
              <a:buSzPts val="2000"/>
              <a:buChar char="•"/>
            </a:pPr>
            <a:r>
              <a:rPr lang="en-US" sz="2000"/>
              <a:t>interaction: weekday_sleep_timing x race</a:t>
            </a:r>
            <a:endParaRPr sz="2000"/>
          </a:p>
          <a:p>
            <a:pPr marL="457200" lvl="0" indent="-355600" algn="l" rtl="0">
              <a:lnSpc>
                <a:spcPct val="100000"/>
              </a:lnSpc>
              <a:spcBef>
                <a:spcPts val="0"/>
              </a:spcBef>
              <a:spcAft>
                <a:spcPts val="0"/>
              </a:spcAft>
              <a:buSzPts val="2000"/>
              <a:buChar char="•"/>
            </a:pPr>
            <a:r>
              <a:rPr lang="en-US" sz="2000"/>
              <a:t>interaction: weekday_sleep_timing x gender</a:t>
            </a:r>
            <a:endParaRPr sz="2000"/>
          </a:p>
          <a:p>
            <a:pPr marL="457200" lvl="0" indent="-355600" algn="l" rtl="0">
              <a:lnSpc>
                <a:spcPct val="100000"/>
              </a:lnSpc>
              <a:spcBef>
                <a:spcPts val="0"/>
              </a:spcBef>
              <a:spcAft>
                <a:spcPts val="0"/>
              </a:spcAft>
              <a:buSzPts val="2000"/>
              <a:buChar char="•"/>
            </a:pPr>
            <a:r>
              <a:rPr lang="en-US" sz="2000"/>
              <a:t>interaction: weekday_sleep_timing x education</a:t>
            </a:r>
            <a:endParaRPr sz="2000"/>
          </a:p>
          <a:p>
            <a:pPr marL="0" lvl="0" indent="0" algn="l" rtl="0">
              <a:lnSpc>
                <a:spcPct val="100000"/>
              </a:lnSpc>
              <a:spcBef>
                <a:spcPts val="0"/>
              </a:spcBef>
              <a:spcAft>
                <a:spcPts val="0"/>
              </a:spcAft>
              <a:buNone/>
            </a:pPr>
            <a:endParaRPr/>
          </a:p>
        </p:txBody>
      </p:sp>
      <p:sp>
        <p:nvSpPr>
          <p:cNvPr id="222" name="Google Shape;222;p23"/>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grpSp>
        <p:nvGrpSpPr>
          <p:cNvPr id="223" name="Google Shape;223;p23"/>
          <p:cNvGrpSpPr/>
          <p:nvPr/>
        </p:nvGrpSpPr>
        <p:grpSpPr>
          <a:xfrm>
            <a:off x="406550" y="994175"/>
            <a:ext cx="3924300" cy="514350"/>
            <a:chOff x="7462050" y="7632500"/>
            <a:chExt cx="3924300" cy="514350"/>
          </a:xfrm>
        </p:grpSpPr>
        <p:pic>
          <p:nvPicPr>
            <p:cNvPr id="224" name="Google Shape;224;p23"/>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225" name="Google Shape;225;p23"/>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226" name="Google Shape;226;p23"/>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Additional Features</a:t>
              </a:r>
              <a:endParaRPr sz="1800" b="1">
                <a:solidFill>
                  <a:srgbClr val="0B3512"/>
                </a:solidFill>
                <a:latin typeface="Noto Sans"/>
                <a:ea typeface="Noto Sans"/>
                <a:cs typeface="Noto Sans"/>
                <a:sym typeface="Noto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4"/>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b="1"/>
              <a:t>Modeling: </a:t>
            </a:r>
            <a:r>
              <a:rPr lang="en-US"/>
              <a:t>Baseline (Rule-based)</a:t>
            </a:r>
            <a:endParaRPr b="1"/>
          </a:p>
        </p:txBody>
      </p:sp>
      <p:sp>
        <p:nvSpPr>
          <p:cNvPr id="232" name="Google Shape;232;p24"/>
          <p:cNvSpPr txBox="1">
            <a:spLocks noGrp="1"/>
          </p:cNvSpPr>
          <p:nvPr>
            <p:ph type="body" idx="1"/>
          </p:nvPr>
        </p:nvSpPr>
        <p:spPr>
          <a:xfrm>
            <a:off x="406550" y="1672225"/>
            <a:ext cx="5689200" cy="424110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0"/>
              </a:spcBef>
              <a:spcAft>
                <a:spcPts val="0"/>
              </a:spcAft>
              <a:buSzPts val="1800"/>
              <a:buChar char="•"/>
            </a:pPr>
            <a:r>
              <a:rPr lang="en-US"/>
              <a:t>Conditions</a:t>
            </a:r>
            <a:endParaRPr/>
          </a:p>
          <a:p>
            <a:pPr marL="914400" lvl="1" indent="-342900" algn="l" rtl="0">
              <a:lnSpc>
                <a:spcPct val="90000"/>
              </a:lnSpc>
              <a:spcBef>
                <a:spcPts val="0"/>
              </a:spcBef>
              <a:spcAft>
                <a:spcPts val="0"/>
              </a:spcAft>
              <a:buSzPts val="1800"/>
              <a:buChar char="•"/>
            </a:pPr>
            <a:r>
              <a:rPr lang="en-US" sz="1800"/>
              <a:t>Bedtime between 12:00am and 8:00am</a:t>
            </a:r>
            <a:endParaRPr sz="1800"/>
          </a:p>
          <a:p>
            <a:pPr marL="914400" lvl="1" indent="-342900" algn="l" rtl="0">
              <a:lnSpc>
                <a:spcPct val="90000"/>
              </a:lnSpc>
              <a:spcBef>
                <a:spcPts val="0"/>
              </a:spcBef>
              <a:spcAft>
                <a:spcPts val="0"/>
              </a:spcAft>
              <a:buSzPts val="1800"/>
              <a:buChar char="•"/>
            </a:pPr>
            <a:r>
              <a:rPr lang="en-US" sz="1800"/>
              <a:t>Age between 30 and 60</a:t>
            </a:r>
            <a:endParaRPr sz="1800"/>
          </a:p>
          <a:p>
            <a:pPr marL="914400" lvl="1" indent="-342900" algn="l" rtl="0">
              <a:lnSpc>
                <a:spcPct val="90000"/>
              </a:lnSpc>
              <a:spcBef>
                <a:spcPts val="0"/>
              </a:spcBef>
              <a:spcAft>
                <a:spcPts val="0"/>
              </a:spcAft>
              <a:buSzPts val="1800"/>
              <a:buChar char="•"/>
            </a:pPr>
            <a:r>
              <a:rPr lang="en-US" sz="1800"/>
              <a:t>Current smoker</a:t>
            </a:r>
            <a:endParaRPr sz="1800"/>
          </a:p>
          <a:p>
            <a:pPr marL="914400" lvl="1" indent="-342900" algn="l" rtl="0">
              <a:lnSpc>
                <a:spcPct val="90000"/>
              </a:lnSpc>
              <a:spcBef>
                <a:spcPts val="0"/>
              </a:spcBef>
              <a:spcAft>
                <a:spcPts val="0"/>
              </a:spcAft>
              <a:buSzPts val="1800"/>
              <a:buChar char="•"/>
            </a:pPr>
            <a:r>
              <a:rPr lang="en-US" sz="1800"/>
              <a:t>Very high sedentary level</a:t>
            </a:r>
            <a:endParaRPr sz="1800"/>
          </a:p>
          <a:p>
            <a:pPr marL="45720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en-US"/>
              <a:t>Prediction</a:t>
            </a:r>
            <a:endParaRPr/>
          </a:p>
          <a:p>
            <a:pPr marL="914400" lvl="1" indent="-342900" algn="l" rtl="0">
              <a:lnSpc>
                <a:spcPct val="90000"/>
              </a:lnSpc>
              <a:spcBef>
                <a:spcPts val="0"/>
              </a:spcBef>
              <a:spcAft>
                <a:spcPts val="0"/>
              </a:spcAft>
              <a:buSzPts val="1800"/>
              <a:buChar char="•"/>
            </a:pPr>
            <a:r>
              <a:rPr lang="en-US" sz="1800"/>
              <a:t>If 2 or more conditions = True → 1</a:t>
            </a:r>
            <a:endParaRPr sz="1800"/>
          </a:p>
          <a:p>
            <a:pPr marL="914400" lvl="1" indent="-342900" algn="l" rtl="0">
              <a:lnSpc>
                <a:spcPct val="90000"/>
              </a:lnSpc>
              <a:spcBef>
                <a:spcPts val="0"/>
              </a:spcBef>
              <a:spcAft>
                <a:spcPts val="0"/>
              </a:spcAft>
              <a:buSzPts val="1800"/>
              <a:buChar char="•"/>
            </a:pPr>
            <a:r>
              <a:rPr lang="en-US" sz="1800"/>
              <a:t>If else → 0</a:t>
            </a:r>
            <a:endParaRPr sz="1800"/>
          </a:p>
          <a:p>
            <a:pPr marL="45720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en-US"/>
              <a:t>5-fold cross-validated (CV)</a:t>
            </a:r>
            <a:endParaRPr/>
          </a:p>
          <a:p>
            <a:pPr marL="0" lvl="0" indent="0" algn="l" rtl="0">
              <a:lnSpc>
                <a:spcPct val="90000"/>
              </a:lnSpc>
              <a:spcBef>
                <a:spcPts val="0"/>
              </a:spcBef>
              <a:spcAft>
                <a:spcPts val="0"/>
              </a:spcAft>
              <a:buNone/>
            </a:pPr>
            <a:endParaRPr sz="1600"/>
          </a:p>
        </p:txBody>
      </p:sp>
      <p:sp>
        <p:nvSpPr>
          <p:cNvPr id="233" name="Google Shape;233;p24"/>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grpSp>
        <p:nvGrpSpPr>
          <p:cNvPr id="234" name="Google Shape;234;p24"/>
          <p:cNvGrpSpPr/>
          <p:nvPr/>
        </p:nvGrpSpPr>
        <p:grpSpPr>
          <a:xfrm>
            <a:off x="406550" y="994175"/>
            <a:ext cx="3924300" cy="514350"/>
            <a:chOff x="7462050" y="7632500"/>
            <a:chExt cx="3924300" cy="514350"/>
          </a:xfrm>
        </p:grpSpPr>
        <p:pic>
          <p:nvPicPr>
            <p:cNvPr id="235" name="Google Shape;235;p24"/>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236" name="Google Shape;236;p24"/>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237" name="Google Shape;237;p24"/>
            <p:cNvSpPr txBox="1"/>
            <p:nvPr/>
          </p:nvSpPr>
          <p:spPr>
            <a:xfrm>
              <a:off x="7595400" y="7654100"/>
              <a:ext cx="32937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Naive Model (Rule-based)</a:t>
              </a:r>
              <a:endParaRPr sz="1800" b="1">
                <a:solidFill>
                  <a:srgbClr val="0B3512"/>
                </a:solidFill>
                <a:latin typeface="Noto Sans"/>
                <a:ea typeface="Noto Sans"/>
                <a:cs typeface="Noto Sans"/>
                <a:sym typeface="Noto Sans"/>
              </a:endParaRPr>
            </a:p>
          </p:txBody>
        </p:sp>
      </p:grpSp>
      <p:graphicFrame>
        <p:nvGraphicFramePr>
          <p:cNvPr id="238" name="Google Shape;238;p24"/>
          <p:cNvGraphicFramePr/>
          <p:nvPr/>
        </p:nvGraphicFramePr>
        <p:xfrm>
          <a:off x="6525788" y="2849913"/>
          <a:ext cx="4248600" cy="944835"/>
        </p:xfrm>
        <a:graphic>
          <a:graphicData uri="http://schemas.openxmlformats.org/drawingml/2006/table">
            <a:tbl>
              <a:tblPr>
                <a:noFill/>
                <a:tableStyleId>{FC81F1B4-83E2-4D3B-8345-693ECB83A873}</a:tableStyleId>
              </a:tblPr>
              <a:tblGrid>
                <a:gridCol w="1416200">
                  <a:extLst>
                    <a:ext uri="{9D8B030D-6E8A-4147-A177-3AD203B41FA5}">
                      <a16:colId xmlns:a16="http://schemas.microsoft.com/office/drawing/2014/main" val="20000"/>
                    </a:ext>
                  </a:extLst>
                </a:gridCol>
                <a:gridCol w="1416200">
                  <a:extLst>
                    <a:ext uri="{9D8B030D-6E8A-4147-A177-3AD203B41FA5}">
                      <a16:colId xmlns:a16="http://schemas.microsoft.com/office/drawing/2014/main" val="20001"/>
                    </a:ext>
                  </a:extLst>
                </a:gridCol>
                <a:gridCol w="14162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AUC</a:t>
                      </a:r>
                      <a:endParaRPr b="1">
                        <a:solidFill>
                          <a:schemeClr val="lt1"/>
                        </a:solidFill>
                        <a:latin typeface="Noto Sans"/>
                        <a:ea typeface="Noto Sans"/>
                        <a:cs typeface="Noto Sans"/>
                        <a:sym typeface="Noto Sans"/>
                      </a:endParaRPr>
                    </a:p>
                  </a:txBody>
                  <a:tcPr marL="91425" marR="91425" marT="91425" marB="91425" anchor="ctr">
                    <a:solidFill>
                      <a:srgbClr val="0B3512"/>
                    </a:solidFill>
                  </a:tcPr>
                </a:tc>
                <a:tc>
                  <a:txBody>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Recall</a:t>
                      </a:r>
                      <a:endParaRPr b="1">
                        <a:solidFill>
                          <a:schemeClr val="lt1"/>
                        </a:solidFill>
                        <a:latin typeface="Noto Sans"/>
                        <a:ea typeface="Noto Sans"/>
                        <a:cs typeface="Noto Sans"/>
                        <a:sym typeface="Noto Sans"/>
                      </a:endParaRPr>
                    </a:p>
                  </a:txBody>
                  <a:tcPr marL="91425" marR="91425" marT="91425" marB="91425" anchor="ctr">
                    <a:solidFill>
                      <a:srgbClr val="0B3512"/>
                    </a:solidFill>
                  </a:tcPr>
                </a:tc>
                <a:tc>
                  <a:txBody>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F1</a:t>
                      </a:r>
                      <a:endParaRPr b="1">
                        <a:solidFill>
                          <a:schemeClr val="lt1"/>
                        </a:solidFill>
                        <a:latin typeface="Noto Sans"/>
                        <a:ea typeface="Noto Sans"/>
                        <a:cs typeface="Noto Sans"/>
                        <a:sym typeface="Noto Sans"/>
                      </a:endParaRPr>
                    </a:p>
                  </a:txBody>
                  <a:tcPr marL="91425" marR="91425" marT="91425" marB="91425" anchor="ctr">
                    <a:solidFill>
                      <a:srgbClr val="0B3512"/>
                    </a:solidFill>
                  </a:tcPr>
                </a:tc>
                <a:extLst>
                  <a:ext uri="{0D108BD9-81ED-4DB2-BD59-A6C34878D82A}">
                    <a16:rowId xmlns:a16="http://schemas.microsoft.com/office/drawing/2014/main" val="10000"/>
                  </a:ext>
                </a:extLst>
              </a:tr>
              <a:tr h="548625">
                <a:tc>
                  <a:txBody>
                    <a:bodyPr/>
                    <a:lstStyle/>
                    <a:p>
                      <a:pPr marL="0" lvl="0" indent="0" algn="ctr" rtl="0">
                        <a:spcBef>
                          <a:spcPts val="0"/>
                        </a:spcBef>
                        <a:spcAft>
                          <a:spcPts val="0"/>
                        </a:spcAft>
                        <a:buNone/>
                      </a:pPr>
                      <a:r>
                        <a:rPr lang="en-US" b="1">
                          <a:latin typeface="Noto Sans"/>
                          <a:ea typeface="Noto Sans"/>
                          <a:cs typeface="Noto Sans"/>
                          <a:sym typeface="Noto Sans"/>
                        </a:rPr>
                        <a:t>0.65</a:t>
                      </a:r>
                      <a:endParaRPr b="1">
                        <a:latin typeface="Noto Sans"/>
                        <a:ea typeface="Noto Sans"/>
                        <a:cs typeface="Noto Sans"/>
                        <a:sym typeface="Noto Sans"/>
                      </a:endParaRPr>
                    </a:p>
                  </a:txBody>
                  <a:tcPr marL="91425" marR="91425" marT="91425" marB="91425" anchor="ctr"/>
                </a:tc>
                <a:tc>
                  <a:txBody>
                    <a:bodyPr/>
                    <a:lstStyle/>
                    <a:p>
                      <a:pPr marL="0" lvl="0" indent="0" algn="ctr" rtl="0">
                        <a:spcBef>
                          <a:spcPts val="0"/>
                        </a:spcBef>
                        <a:spcAft>
                          <a:spcPts val="0"/>
                        </a:spcAft>
                        <a:buNone/>
                      </a:pPr>
                      <a:r>
                        <a:rPr lang="en-US" b="1">
                          <a:latin typeface="Noto Sans"/>
                          <a:ea typeface="Noto Sans"/>
                          <a:cs typeface="Noto Sans"/>
                          <a:sym typeface="Noto Sans"/>
                        </a:rPr>
                        <a:t>0.44</a:t>
                      </a:r>
                      <a:endParaRPr b="1">
                        <a:latin typeface="Noto Sans"/>
                        <a:ea typeface="Noto Sans"/>
                        <a:cs typeface="Noto Sans"/>
                        <a:sym typeface="Noto Sans"/>
                      </a:endParaRPr>
                    </a:p>
                  </a:txBody>
                  <a:tcPr marL="91425" marR="91425" marT="91425" marB="91425" anchor="ctr"/>
                </a:tc>
                <a:tc>
                  <a:txBody>
                    <a:bodyPr/>
                    <a:lstStyle/>
                    <a:p>
                      <a:pPr marL="0" lvl="0" indent="0" algn="ctr" rtl="0">
                        <a:spcBef>
                          <a:spcPts val="0"/>
                        </a:spcBef>
                        <a:spcAft>
                          <a:spcPts val="0"/>
                        </a:spcAft>
                        <a:buNone/>
                      </a:pPr>
                      <a:r>
                        <a:rPr lang="en-US" b="1">
                          <a:latin typeface="Noto Sans"/>
                          <a:ea typeface="Noto Sans"/>
                          <a:cs typeface="Noto Sans"/>
                          <a:sym typeface="Noto Sans"/>
                        </a:rPr>
                        <a:t>0.41</a:t>
                      </a:r>
                      <a:endParaRPr b="1">
                        <a:latin typeface="Noto Sans"/>
                        <a:ea typeface="Noto Sans"/>
                        <a:cs typeface="Noto Sans"/>
                        <a:sym typeface="Noto Sans"/>
                      </a:endParaRPr>
                    </a:p>
                  </a:txBody>
                  <a:tcPr marL="91425" marR="91425" marT="91425" marB="91425"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5"/>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b="1"/>
              <a:t>Modeling: Ensemble </a:t>
            </a:r>
            <a:r>
              <a:rPr lang="en-US"/>
              <a:t>(Boosting)</a:t>
            </a:r>
            <a:endParaRPr b="1"/>
          </a:p>
        </p:txBody>
      </p:sp>
      <p:sp>
        <p:nvSpPr>
          <p:cNvPr id="244" name="Google Shape;244;p25"/>
          <p:cNvSpPr txBox="1">
            <a:spLocks noGrp="1"/>
          </p:cNvSpPr>
          <p:nvPr>
            <p:ph type="body" idx="1"/>
          </p:nvPr>
        </p:nvSpPr>
        <p:spPr>
          <a:xfrm>
            <a:off x="406550" y="1672225"/>
            <a:ext cx="5699700" cy="4241100"/>
          </a:xfrm>
          <a:prstGeom prst="rect">
            <a:avLst/>
          </a:prstGeom>
          <a:noFill/>
          <a:ln>
            <a:noFill/>
          </a:ln>
        </p:spPr>
        <p:txBody>
          <a:bodyPr spcFirstLastPara="1" wrap="square" lIns="91425" tIns="45700" rIns="91425" bIns="45700" anchor="t" anchorCtr="0">
            <a:normAutofit lnSpcReduction="10000"/>
          </a:bodyPr>
          <a:lstStyle/>
          <a:p>
            <a:pPr marL="457200" lvl="0" indent="-342900" algn="l" rtl="0">
              <a:lnSpc>
                <a:spcPct val="90000"/>
              </a:lnSpc>
              <a:spcBef>
                <a:spcPts val="0"/>
              </a:spcBef>
              <a:spcAft>
                <a:spcPts val="0"/>
              </a:spcAft>
              <a:buSzPts val="1800"/>
              <a:buChar char="•"/>
            </a:pPr>
            <a:r>
              <a:rPr lang="en-US"/>
              <a:t>Boosting Model: XGBoost Classifier</a:t>
            </a:r>
            <a:endParaRPr/>
          </a:p>
          <a:p>
            <a:pPr marL="45720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en-US"/>
              <a:t>Handled class imbalance</a:t>
            </a:r>
            <a:endParaRPr/>
          </a:p>
          <a:p>
            <a:pPr marL="914400" lvl="1" indent="-330200" algn="l" rtl="0">
              <a:lnSpc>
                <a:spcPct val="90000"/>
              </a:lnSpc>
              <a:spcBef>
                <a:spcPts val="0"/>
              </a:spcBef>
              <a:spcAft>
                <a:spcPts val="0"/>
              </a:spcAft>
              <a:buSzPts val="1600"/>
              <a:buChar char="•"/>
            </a:pPr>
            <a:r>
              <a:rPr lang="en-US"/>
              <a:t>Set weight for minority class to balance classes (class 0 / class 1)</a:t>
            </a:r>
            <a:endParaRPr/>
          </a:p>
          <a:p>
            <a:pPr marL="457200" lvl="0" indent="457200" algn="l" rtl="0">
              <a:lnSpc>
                <a:spcPct val="90000"/>
              </a:lnSpc>
              <a:spcBef>
                <a:spcPts val="0"/>
              </a:spcBef>
              <a:spcAft>
                <a:spcPts val="0"/>
              </a:spcAft>
              <a:buNone/>
            </a:pPr>
            <a:r>
              <a:rPr lang="en-US" sz="1600"/>
              <a:t>→ Increased weight for minority class</a:t>
            </a:r>
            <a:endParaRPr sz="1600"/>
          </a:p>
          <a:p>
            <a:pPr marL="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en-US"/>
              <a:t>Hyperparameter tuning</a:t>
            </a:r>
            <a:endParaRPr/>
          </a:p>
          <a:p>
            <a:pPr marL="914400" lvl="1" indent="-330200" algn="l" rtl="0">
              <a:lnSpc>
                <a:spcPct val="90000"/>
              </a:lnSpc>
              <a:spcBef>
                <a:spcPts val="0"/>
              </a:spcBef>
              <a:spcAft>
                <a:spcPts val="0"/>
              </a:spcAft>
              <a:buSzPts val="1600"/>
              <a:buChar char="•"/>
            </a:pPr>
            <a:r>
              <a:rPr lang="en-US"/>
              <a:t>Manual grid search with 5-fold CV</a:t>
            </a:r>
            <a:endParaRPr/>
          </a:p>
          <a:p>
            <a:pPr marL="914400" lvl="1" indent="-330200" algn="l" rtl="0">
              <a:lnSpc>
                <a:spcPct val="90000"/>
              </a:lnSpc>
              <a:spcBef>
                <a:spcPts val="0"/>
              </a:spcBef>
              <a:spcAft>
                <a:spcPts val="0"/>
              </a:spcAft>
              <a:buSzPts val="1600"/>
              <a:buChar char="•"/>
            </a:pPr>
            <a:r>
              <a:rPr lang="en-US"/>
              <a:t>Parameters: </a:t>
            </a:r>
            <a:endParaRPr/>
          </a:p>
          <a:p>
            <a:pPr marL="1371600" lvl="2" indent="-330200" algn="l" rtl="0">
              <a:lnSpc>
                <a:spcPct val="90000"/>
              </a:lnSpc>
              <a:spcBef>
                <a:spcPts val="0"/>
              </a:spcBef>
              <a:spcAft>
                <a:spcPts val="0"/>
              </a:spcAft>
              <a:buSzPts val="1600"/>
              <a:buAutoNum type="romanLcPeriod"/>
            </a:pPr>
            <a:r>
              <a:rPr lang="en-US" sz="1600"/>
              <a:t>max_depth</a:t>
            </a:r>
            <a:endParaRPr sz="1600"/>
          </a:p>
          <a:p>
            <a:pPr marL="1371600" lvl="2" indent="-330200" algn="l" rtl="0">
              <a:lnSpc>
                <a:spcPct val="90000"/>
              </a:lnSpc>
              <a:spcBef>
                <a:spcPts val="0"/>
              </a:spcBef>
              <a:spcAft>
                <a:spcPts val="0"/>
              </a:spcAft>
              <a:buSzPts val="1600"/>
              <a:buAutoNum type="romanLcPeriod"/>
            </a:pPr>
            <a:r>
              <a:rPr lang="en-US" sz="1600"/>
              <a:t>learning_rate</a:t>
            </a:r>
            <a:endParaRPr sz="1600"/>
          </a:p>
          <a:p>
            <a:pPr marL="1371600" lvl="2" indent="-330200" algn="l" rtl="0">
              <a:lnSpc>
                <a:spcPct val="90000"/>
              </a:lnSpc>
              <a:spcBef>
                <a:spcPts val="0"/>
              </a:spcBef>
              <a:spcAft>
                <a:spcPts val="0"/>
              </a:spcAft>
              <a:buSzPts val="1600"/>
              <a:buAutoNum type="romanLcPeriod"/>
            </a:pPr>
            <a:r>
              <a:rPr lang="en-US" sz="1600"/>
              <a:t>n_estimators</a:t>
            </a:r>
            <a:endParaRPr sz="1600"/>
          </a:p>
          <a:p>
            <a:pPr marL="1371600" lvl="2" indent="-330200" algn="l" rtl="0">
              <a:lnSpc>
                <a:spcPct val="90000"/>
              </a:lnSpc>
              <a:spcBef>
                <a:spcPts val="0"/>
              </a:spcBef>
              <a:spcAft>
                <a:spcPts val="0"/>
              </a:spcAft>
              <a:buSzPts val="1600"/>
              <a:buAutoNum type="romanLcPeriod"/>
            </a:pPr>
            <a:r>
              <a:rPr lang="en-US" sz="1600"/>
              <a:t>class weights</a:t>
            </a:r>
            <a:endParaRPr sz="1600"/>
          </a:p>
          <a:p>
            <a:pPr marL="914400" lvl="1" indent="-330200" algn="l" rtl="0">
              <a:lnSpc>
                <a:spcPct val="90000"/>
              </a:lnSpc>
              <a:spcBef>
                <a:spcPts val="0"/>
              </a:spcBef>
              <a:spcAft>
                <a:spcPts val="0"/>
              </a:spcAft>
              <a:buSzPts val="1600"/>
              <a:buChar char="•"/>
            </a:pPr>
            <a:r>
              <a:rPr lang="en-US"/>
              <a:t>Best parameters based on F1-score (class 1)</a:t>
            </a:r>
            <a:endParaRPr/>
          </a:p>
          <a:p>
            <a:pPr marL="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en-US"/>
              <a:t>5-fold CV with the best model</a:t>
            </a:r>
            <a:endParaRPr/>
          </a:p>
          <a:p>
            <a:pPr marL="0" lvl="0" indent="0" algn="l" rtl="0">
              <a:lnSpc>
                <a:spcPct val="90000"/>
              </a:lnSpc>
              <a:spcBef>
                <a:spcPts val="0"/>
              </a:spcBef>
              <a:spcAft>
                <a:spcPts val="0"/>
              </a:spcAft>
              <a:buClr>
                <a:srgbClr val="0C3512"/>
              </a:buClr>
              <a:buSzPts val="2400"/>
              <a:buNone/>
            </a:pPr>
            <a:endParaRPr sz="1800"/>
          </a:p>
        </p:txBody>
      </p:sp>
      <p:sp>
        <p:nvSpPr>
          <p:cNvPr id="245" name="Google Shape;245;p25"/>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grpSp>
        <p:nvGrpSpPr>
          <p:cNvPr id="246" name="Google Shape;246;p25"/>
          <p:cNvGrpSpPr/>
          <p:nvPr/>
        </p:nvGrpSpPr>
        <p:grpSpPr>
          <a:xfrm>
            <a:off x="406550" y="994175"/>
            <a:ext cx="3924300" cy="514350"/>
            <a:chOff x="7462050" y="7632500"/>
            <a:chExt cx="3924300" cy="514350"/>
          </a:xfrm>
        </p:grpSpPr>
        <p:pic>
          <p:nvPicPr>
            <p:cNvPr id="247" name="Google Shape;247;p25"/>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248" name="Google Shape;248;p25"/>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249" name="Google Shape;249;p25"/>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Ensemble (Boosting)</a:t>
              </a:r>
              <a:endParaRPr sz="1800" b="1">
                <a:solidFill>
                  <a:srgbClr val="0B3512"/>
                </a:solidFill>
                <a:latin typeface="Noto Sans"/>
                <a:ea typeface="Noto Sans"/>
                <a:cs typeface="Noto Sans"/>
                <a:sym typeface="Noto Sans"/>
              </a:endParaRPr>
            </a:p>
          </p:txBody>
        </p:sp>
      </p:grpSp>
      <p:graphicFrame>
        <p:nvGraphicFramePr>
          <p:cNvPr id="250" name="Google Shape;250;p25"/>
          <p:cNvGraphicFramePr/>
          <p:nvPr/>
        </p:nvGraphicFramePr>
        <p:xfrm>
          <a:off x="6525788" y="2849913"/>
          <a:ext cx="4248600" cy="944835"/>
        </p:xfrm>
        <a:graphic>
          <a:graphicData uri="http://schemas.openxmlformats.org/drawingml/2006/table">
            <a:tbl>
              <a:tblPr>
                <a:noFill/>
                <a:tableStyleId>{FC81F1B4-83E2-4D3B-8345-693ECB83A873}</a:tableStyleId>
              </a:tblPr>
              <a:tblGrid>
                <a:gridCol w="1416200">
                  <a:extLst>
                    <a:ext uri="{9D8B030D-6E8A-4147-A177-3AD203B41FA5}">
                      <a16:colId xmlns:a16="http://schemas.microsoft.com/office/drawing/2014/main" val="20000"/>
                    </a:ext>
                  </a:extLst>
                </a:gridCol>
                <a:gridCol w="1416200">
                  <a:extLst>
                    <a:ext uri="{9D8B030D-6E8A-4147-A177-3AD203B41FA5}">
                      <a16:colId xmlns:a16="http://schemas.microsoft.com/office/drawing/2014/main" val="20001"/>
                    </a:ext>
                  </a:extLst>
                </a:gridCol>
                <a:gridCol w="14162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AUC</a:t>
                      </a:r>
                      <a:endParaRPr b="1">
                        <a:solidFill>
                          <a:schemeClr val="lt1"/>
                        </a:solidFill>
                        <a:latin typeface="Noto Sans"/>
                        <a:ea typeface="Noto Sans"/>
                        <a:cs typeface="Noto Sans"/>
                        <a:sym typeface="Noto Sans"/>
                      </a:endParaRPr>
                    </a:p>
                  </a:txBody>
                  <a:tcPr marL="91425" marR="91425" marT="91425" marB="91425" anchor="ctr">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Recall</a:t>
                      </a:r>
                      <a:endParaRPr b="1">
                        <a:solidFill>
                          <a:schemeClr val="lt1"/>
                        </a:solidFill>
                        <a:latin typeface="Noto Sans"/>
                        <a:ea typeface="Noto Sans"/>
                        <a:cs typeface="Noto Sans"/>
                        <a:sym typeface="Noto Sans"/>
                      </a:endParaRPr>
                    </a:p>
                  </a:txBody>
                  <a:tcPr marL="91425" marR="91425" marT="91425" marB="91425" anchor="ctr">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F1</a:t>
                      </a:r>
                      <a:endParaRPr b="1">
                        <a:solidFill>
                          <a:schemeClr val="lt1"/>
                        </a:solidFill>
                        <a:latin typeface="Noto Sans"/>
                        <a:ea typeface="Noto Sans"/>
                        <a:cs typeface="Noto Sans"/>
                        <a:sym typeface="Noto Sans"/>
                      </a:endParaRPr>
                    </a:p>
                  </a:txBody>
                  <a:tcPr marL="91425" marR="91425" marT="91425" marB="91425" anchor="ctr">
                    <a:lnB w="9525" cap="flat" cmpd="sng">
                      <a:solidFill>
                        <a:srgbClr val="9E9E9E"/>
                      </a:solidFill>
                      <a:prstDash val="solid"/>
                      <a:round/>
                      <a:headEnd type="none" w="sm" len="sm"/>
                      <a:tailEnd type="none" w="sm" len="sm"/>
                    </a:lnB>
                    <a:solidFill>
                      <a:srgbClr val="0B3512"/>
                    </a:solidFill>
                  </a:tcPr>
                </a:tc>
                <a:extLst>
                  <a:ext uri="{0D108BD9-81ED-4DB2-BD59-A6C34878D82A}">
                    <a16:rowId xmlns:a16="http://schemas.microsoft.com/office/drawing/2014/main" val="10000"/>
                  </a:ext>
                </a:extLst>
              </a:tr>
              <a:tr h="548625">
                <a:tc>
                  <a:txBody>
                    <a:bodyPr/>
                    <a:lstStyle/>
                    <a:p>
                      <a:pPr marL="0" lvl="0" indent="0" algn="ctr" rtl="0">
                        <a:spcBef>
                          <a:spcPts val="0"/>
                        </a:spcBef>
                        <a:spcAft>
                          <a:spcPts val="0"/>
                        </a:spcAft>
                        <a:buNone/>
                      </a:pPr>
                      <a:r>
                        <a:rPr lang="en-US" b="1">
                          <a:latin typeface="Noto Sans"/>
                          <a:ea typeface="Noto Sans"/>
                          <a:cs typeface="Noto Sans"/>
                          <a:sym typeface="Noto Sans"/>
                        </a:rPr>
                        <a:t>0.77</a:t>
                      </a:r>
                      <a:endParaRPr b="1">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Noto Sans"/>
                          <a:ea typeface="Noto Sans"/>
                          <a:cs typeface="Noto Sans"/>
                          <a:sym typeface="Noto Sans"/>
                        </a:rPr>
                        <a:t>0.69</a:t>
                      </a:r>
                      <a:endParaRPr b="1">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Noto Sans"/>
                          <a:ea typeface="Noto Sans"/>
                          <a:cs typeface="Noto Sans"/>
                          <a:sym typeface="Noto Sans"/>
                        </a:rPr>
                        <a:t>0.52</a:t>
                      </a:r>
                      <a:endParaRPr b="1">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6"/>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b="1"/>
              <a:t>Modeling: Neural Network</a:t>
            </a:r>
            <a:endParaRPr b="1"/>
          </a:p>
        </p:txBody>
      </p:sp>
      <p:sp>
        <p:nvSpPr>
          <p:cNvPr id="256" name="Google Shape;256;p26"/>
          <p:cNvSpPr txBox="1">
            <a:spLocks noGrp="1"/>
          </p:cNvSpPr>
          <p:nvPr>
            <p:ph type="body" idx="1"/>
          </p:nvPr>
        </p:nvSpPr>
        <p:spPr>
          <a:xfrm>
            <a:off x="406550" y="1672225"/>
            <a:ext cx="11394300" cy="4240800"/>
          </a:xfrm>
          <a:prstGeom prst="rect">
            <a:avLst/>
          </a:prstGeom>
          <a:noFill/>
          <a:ln>
            <a:noFill/>
          </a:ln>
        </p:spPr>
        <p:txBody>
          <a:bodyPr spcFirstLastPara="1" wrap="square" lIns="91425" tIns="45700" rIns="199650" bIns="45700" anchor="t" anchorCtr="0">
            <a:normAutofit/>
          </a:bodyPr>
          <a:lstStyle/>
          <a:p>
            <a:pPr marL="228600" marR="0" lvl="0" indent="-190500" algn="l" rtl="0">
              <a:lnSpc>
                <a:spcPct val="100000"/>
              </a:lnSpc>
              <a:spcBef>
                <a:spcPts val="0"/>
              </a:spcBef>
              <a:spcAft>
                <a:spcPts val="0"/>
              </a:spcAft>
              <a:buSzPts val="1800"/>
              <a:buChar char="•"/>
            </a:pPr>
            <a:r>
              <a:rPr lang="en-US" sz="1800"/>
              <a:t>XGBoost and RF are optimized for overall correctness, but neural net can capture subtle, and higher-order feature interaction.</a:t>
            </a:r>
            <a:endParaRPr sz="1800"/>
          </a:p>
          <a:p>
            <a:pPr marL="228600" marR="0" lvl="0" indent="0" algn="l" rtl="0">
              <a:lnSpc>
                <a:spcPct val="100000"/>
              </a:lnSpc>
              <a:spcBef>
                <a:spcPts val="0"/>
              </a:spcBef>
              <a:spcAft>
                <a:spcPts val="0"/>
              </a:spcAft>
              <a:buNone/>
            </a:pPr>
            <a:endParaRPr/>
          </a:p>
          <a:p>
            <a:pPr marL="228600" marR="0" lvl="0" indent="-190500" algn="l" rtl="0">
              <a:lnSpc>
                <a:spcPct val="100000"/>
              </a:lnSpc>
              <a:spcBef>
                <a:spcPts val="0"/>
              </a:spcBef>
              <a:spcAft>
                <a:spcPts val="0"/>
              </a:spcAft>
              <a:buSzPts val="1800"/>
              <a:buChar char="•"/>
            </a:pPr>
            <a:r>
              <a:rPr lang="en-US"/>
              <a:t>Model Architecture &amp; Hyperparameters: </a:t>
            </a:r>
            <a:endParaRPr/>
          </a:p>
          <a:p>
            <a:pPr marL="685800" marR="0" lvl="1" indent="-203200" algn="l" rtl="0">
              <a:lnSpc>
                <a:spcPct val="100000"/>
              </a:lnSpc>
              <a:spcBef>
                <a:spcPts val="0"/>
              </a:spcBef>
              <a:spcAft>
                <a:spcPts val="0"/>
              </a:spcAft>
              <a:buSzPts val="1600"/>
              <a:buChar char="•"/>
            </a:pPr>
            <a:r>
              <a:rPr lang="en-US"/>
              <a:t>Single hidden layer (</a:t>
            </a:r>
            <a:r>
              <a:rPr lang="en-US">
                <a:solidFill>
                  <a:srgbClr val="188038"/>
                </a:solidFill>
                <a:latin typeface="Roboto Mono"/>
                <a:ea typeface="Roboto Mono"/>
                <a:cs typeface="Roboto Mono"/>
                <a:sym typeface="Roboto Mono"/>
              </a:rPr>
              <a:t>hidden_layer_sizes</a:t>
            </a:r>
            <a:r>
              <a:rPr lang="en-US"/>
              <a:t> ∈ {50, 100, (100, 50)}</a:t>
            </a:r>
            <a:endParaRPr/>
          </a:p>
          <a:p>
            <a:pPr marL="685800" marR="0" lvl="1" indent="-203200" algn="l" rtl="0">
              <a:lnSpc>
                <a:spcPct val="100000"/>
              </a:lnSpc>
              <a:spcBef>
                <a:spcPts val="0"/>
              </a:spcBef>
              <a:spcAft>
                <a:spcPts val="0"/>
              </a:spcAft>
              <a:buSzPts val="1600"/>
              <a:buChar char="•"/>
            </a:pPr>
            <a:r>
              <a:rPr lang="en-US"/>
              <a:t>L2 weight decay (</a:t>
            </a:r>
            <a:r>
              <a:rPr lang="en-US">
                <a:solidFill>
                  <a:srgbClr val="188038"/>
                </a:solidFill>
                <a:latin typeface="Roboto Mono"/>
                <a:ea typeface="Roboto Mono"/>
                <a:cs typeface="Roboto Mono"/>
                <a:sym typeface="Roboto Mono"/>
              </a:rPr>
              <a:t>alpha</a:t>
            </a:r>
            <a:r>
              <a:rPr lang="en-US"/>
              <a:t>) ∈ {.00001, .0001, .001} with activations ∈ {ReLU, tnah} </a:t>
            </a:r>
            <a:endParaRPr/>
          </a:p>
          <a:p>
            <a:pPr marL="685800" lvl="1" indent="-203200" algn="l" rtl="0">
              <a:lnSpc>
                <a:spcPct val="100000"/>
              </a:lnSpc>
              <a:spcBef>
                <a:spcPts val="0"/>
              </a:spcBef>
              <a:spcAft>
                <a:spcPts val="0"/>
              </a:spcAft>
              <a:buSzPts val="1600"/>
              <a:buChar char="•"/>
            </a:pPr>
            <a:r>
              <a:rPr lang="en-US">
                <a:solidFill>
                  <a:srgbClr val="188038"/>
                </a:solidFill>
                <a:latin typeface="Roboto Mono"/>
                <a:ea typeface="Roboto Mono"/>
                <a:cs typeface="Roboto Mono"/>
                <a:sym typeface="Roboto Mono"/>
              </a:rPr>
              <a:t>RandomOverSampler</a:t>
            </a:r>
            <a:r>
              <a:rPr lang="en-US"/>
              <a:t> to address class imbalance, and optimize with 5-fold CV and GridSearchCV</a:t>
            </a:r>
            <a:endParaRPr/>
          </a:p>
          <a:p>
            <a:pPr marL="0" marR="0" lvl="0" indent="0" algn="l" rtl="0">
              <a:lnSpc>
                <a:spcPct val="100000"/>
              </a:lnSpc>
              <a:spcBef>
                <a:spcPts val="0"/>
              </a:spcBef>
              <a:spcAft>
                <a:spcPts val="0"/>
              </a:spcAft>
              <a:buNone/>
            </a:pPr>
            <a:endParaRPr/>
          </a:p>
        </p:txBody>
      </p:sp>
      <p:sp>
        <p:nvSpPr>
          <p:cNvPr id="257" name="Google Shape;257;p26"/>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grpSp>
        <p:nvGrpSpPr>
          <p:cNvPr id="258" name="Google Shape;258;p26"/>
          <p:cNvGrpSpPr/>
          <p:nvPr/>
        </p:nvGrpSpPr>
        <p:grpSpPr>
          <a:xfrm>
            <a:off x="406550" y="994175"/>
            <a:ext cx="3924300" cy="514350"/>
            <a:chOff x="7462050" y="7632500"/>
            <a:chExt cx="3924300" cy="514350"/>
          </a:xfrm>
        </p:grpSpPr>
        <p:pic>
          <p:nvPicPr>
            <p:cNvPr id="259" name="Google Shape;259;p26"/>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260" name="Google Shape;260;p26"/>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261" name="Google Shape;261;p26"/>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Neural Network (MLP)</a:t>
              </a:r>
              <a:endParaRPr sz="1800" b="1">
                <a:solidFill>
                  <a:srgbClr val="0B3512"/>
                </a:solidFill>
                <a:latin typeface="Noto Sans"/>
                <a:ea typeface="Noto Sans"/>
                <a:cs typeface="Noto Sans"/>
                <a:sym typeface="Noto Sans"/>
              </a:endParaRPr>
            </a:p>
          </p:txBody>
        </p:sp>
      </p:grpSp>
      <p:graphicFrame>
        <p:nvGraphicFramePr>
          <p:cNvPr id="262" name="Google Shape;262;p26"/>
          <p:cNvGraphicFramePr/>
          <p:nvPr/>
        </p:nvGraphicFramePr>
        <p:xfrm>
          <a:off x="3971688" y="4244100"/>
          <a:ext cx="4248600" cy="944835"/>
        </p:xfrm>
        <a:graphic>
          <a:graphicData uri="http://schemas.openxmlformats.org/drawingml/2006/table">
            <a:tbl>
              <a:tblPr>
                <a:noFill/>
                <a:tableStyleId>{FC81F1B4-83E2-4D3B-8345-693ECB83A873}</a:tableStyleId>
              </a:tblPr>
              <a:tblGrid>
                <a:gridCol w="1416200">
                  <a:extLst>
                    <a:ext uri="{9D8B030D-6E8A-4147-A177-3AD203B41FA5}">
                      <a16:colId xmlns:a16="http://schemas.microsoft.com/office/drawing/2014/main" val="20000"/>
                    </a:ext>
                  </a:extLst>
                </a:gridCol>
                <a:gridCol w="1416200">
                  <a:extLst>
                    <a:ext uri="{9D8B030D-6E8A-4147-A177-3AD203B41FA5}">
                      <a16:colId xmlns:a16="http://schemas.microsoft.com/office/drawing/2014/main" val="20001"/>
                    </a:ext>
                  </a:extLst>
                </a:gridCol>
                <a:gridCol w="14162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AUC</a:t>
                      </a:r>
                      <a:endParaRPr b="1">
                        <a:solidFill>
                          <a:schemeClr val="lt1"/>
                        </a:solidFill>
                        <a:latin typeface="Noto Sans"/>
                        <a:ea typeface="Noto Sans"/>
                        <a:cs typeface="Noto Sans"/>
                        <a:sym typeface="Noto Sans"/>
                      </a:endParaRPr>
                    </a:p>
                  </a:txBody>
                  <a:tcPr marL="91425" marR="91425" marT="91425" marB="91425" anchor="ctr">
                    <a:solidFill>
                      <a:srgbClr val="0B3512"/>
                    </a:solidFill>
                  </a:tcPr>
                </a:tc>
                <a:tc>
                  <a:txBody>
                    <a:bodyPr/>
                    <a:lstStyle/>
                    <a:p>
                      <a:pPr marL="0" lvl="0" indent="0" algn="ctr" rtl="0">
                        <a:spcBef>
                          <a:spcPts val="0"/>
                        </a:spcBef>
                        <a:spcAft>
                          <a:spcPts val="0"/>
                        </a:spcAft>
                        <a:buClr>
                          <a:schemeClr val="dk1"/>
                        </a:buClr>
                        <a:buSzPts val="1100"/>
                        <a:buFont typeface="Arial"/>
                        <a:buNone/>
                      </a:pPr>
                      <a:r>
                        <a:rPr lang="en-US" b="1">
                          <a:solidFill>
                            <a:schemeClr val="lt1"/>
                          </a:solidFill>
                          <a:latin typeface="Noto Sans"/>
                          <a:ea typeface="Noto Sans"/>
                          <a:cs typeface="Noto Sans"/>
                          <a:sym typeface="Noto Sans"/>
                        </a:rPr>
                        <a:t>Recall</a:t>
                      </a:r>
                      <a:endParaRPr b="1">
                        <a:solidFill>
                          <a:schemeClr val="lt1"/>
                        </a:solidFill>
                        <a:latin typeface="Noto Sans"/>
                        <a:ea typeface="Noto Sans"/>
                        <a:cs typeface="Noto Sans"/>
                        <a:sym typeface="Noto Sans"/>
                      </a:endParaRPr>
                    </a:p>
                  </a:txBody>
                  <a:tcPr marL="91425" marR="91425" marT="91425" marB="91425" anchor="ctr">
                    <a:solidFill>
                      <a:srgbClr val="0B3512"/>
                    </a:solidFill>
                  </a:tcPr>
                </a:tc>
                <a:tc>
                  <a:txBody>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F1</a:t>
                      </a:r>
                      <a:endParaRPr b="1">
                        <a:solidFill>
                          <a:schemeClr val="lt1"/>
                        </a:solidFill>
                        <a:latin typeface="Noto Sans"/>
                        <a:ea typeface="Noto Sans"/>
                        <a:cs typeface="Noto Sans"/>
                        <a:sym typeface="Noto Sans"/>
                      </a:endParaRPr>
                    </a:p>
                  </a:txBody>
                  <a:tcPr marL="91425" marR="91425" marT="91425" marB="91425" anchor="ctr">
                    <a:solidFill>
                      <a:srgbClr val="0B3512"/>
                    </a:solidFill>
                  </a:tcPr>
                </a:tc>
                <a:extLst>
                  <a:ext uri="{0D108BD9-81ED-4DB2-BD59-A6C34878D82A}">
                    <a16:rowId xmlns:a16="http://schemas.microsoft.com/office/drawing/2014/main" val="10000"/>
                  </a:ext>
                </a:extLst>
              </a:tr>
              <a:tr h="548625">
                <a:tc>
                  <a:txBody>
                    <a:bodyPr/>
                    <a:lstStyle/>
                    <a:p>
                      <a:pPr marL="0" lvl="0" indent="0" algn="ctr" rtl="0">
                        <a:spcBef>
                          <a:spcPts val="0"/>
                        </a:spcBef>
                        <a:spcAft>
                          <a:spcPts val="0"/>
                        </a:spcAft>
                        <a:buNone/>
                      </a:pPr>
                      <a:r>
                        <a:rPr lang="en-US" b="1">
                          <a:latin typeface="Noto Sans"/>
                          <a:ea typeface="Noto Sans"/>
                          <a:cs typeface="Noto Sans"/>
                          <a:sym typeface="Noto Sans"/>
                        </a:rPr>
                        <a:t>0.69</a:t>
                      </a:r>
                      <a:endParaRPr b="1">
                        <a:latin typeface="Noto Sans"/>
                        <a:ea typeface="Noto Sans"/>
                        <a:cs typeface="Noto Sans"/>
                        <a:sym typeface="Noto Sans"/>
                      </a:endParaRPr>
                    </a:p>
                  </a:txBody>
                  <a:tcPr marL="91425" marR="91425" marT="91425" marB="91425" anchor="ctr"/>
                </a:tc>
                <a:tc>
                  <a:txBody>
                    <a:bodyPr/>
                    <a:lstStyle/>
                    <a:p>
                      <a:pPr marL="0" lvl="0" indent="0" algn="ctr" rtl="0">
                        <a:spcBef>
                          <a:spcPts val="0"/>
                        </a:spcBef>
                        <a:spcAft>
                          <a:spcPts val="0"/>
                        </a:spcAft>
                        <a:buNone/>
                      </a:pPr>
                      <a:r>
                        <a:rPr lang="en-US" b="1">
                          <a:latin typeface="Noto Sans"/>
                          <a:ea typeface="Noto Sans"/>
                          <a:cs typeface="Noto Sans"/>
                          <a:sym typeface="Noto Sans"/>
                        </a:rPr>
                        <a:t>0.63</a:t>
                      </a:r>
                      <a:endParaRPr b="1">
                        <a:latin typeface="Noto Sans"/>
                        <a:ea typeface="Noto Sans"/>
                        <a:cs typeface="Noto Sans"/>
                        <a:sym typeface="Noto Sans"/>
                      </a:endParaRPr>
                    </a:p>
                  </a:txBody>
                  <a:tcPr marL="91425" marR="91425" marT="91425" marB="91425" anchor="ctr"/>
                </a:tc>
                <a:tc>
                  <a:txBody>
                    <a:bodyPr/>
                    <a:lstStyle/>
                    <a:p>
                      <a:pPr marL="0" lvl="0" indent="0" algn="ctr" rtl="0">
                        <a:spcBef>
                          <a:spcPts val="0"/>
                        </a:spcBef>
                        <a:spcAft>
                          <a:spcPts val="0"/>
                        </a:spcAft>
                        <a:buNone/>
                      </a:pPr>
                      <a:r>
                        <a:rPr lang="en-US" b="1">
                          <a:latin typeface="Noto Sans"/>
                          <a:ea typeface="Noto Sans"/>
                          <a:cs typeface="Noto Sans"/>
                          <a:sym typeface="Noto Sans"/>
                        </a:rPr>
                        <a:t>0.47</a:t>
                      </a:r>
                      <a:endParaRPr b="1">
                        <a:latin typeface="Noto Sans"/>
                        <a:ea typeface="Noto Sans"/>
                        <a:cs typeface="Noto Sans"/>
                        <a:sym typeface="Noto Sans"/>
                      </a:endParaRPr>
                    </a:p>
                  </a:txBody>
                  <a:tcPr marL="91425" marR="91425" marT="91425" marB="91425"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7"/>
          <p:cNvSpPr txBox="1">
            <a:spLocks noGrp="1"/>
          </p:cNvSpPr>
          <p:nvPr>
            <p:ph type="body" idx="1"/>
          </p:nvPr>
        </p:nvSpPr>
        <p:spPr>
          <a:xfrm>
            <a:off x="406550" y="1672225"/>
            <a:ext cx="6418200" cy="424110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0"/>
              </a:spcBef>
              <a:spcAft>
                <a:spcPts val="0"/>
              </a:spcAft>
              <a:buSzPts val="1800"/>
              <a:buChar char="•"/>
            </a:pPr>
            <a:r>
              <a:rPr lang="en-US"/>
              <a:t>Base Models: Random Forest + LightGBM + SVM</a:t>
            </a:r>
            <a:endParaRPr/>
          </a:p>
          <a:p>
            <a:pPr marL="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en-US"/>
              <a:t>Meta-data Generation: 5-fold K-Fold stacking</a:t>
            </a:r>
            <a:endParaRPr/>
          </a:p>
          <a:p>
            <a:pPr marL="914400" lvl="1" indent="-330200" algn="l" rtl="0">
              <a:lnSpc>
                <a:spcPct val="90000"/>
              </a:lnSpc>
              <a:spcBef>
                <a:spcPts val="0"/>
              </a:spcBef>
              <a:spcAft>
                <a:spcPts val="0"/>
              </a:spcAft>
              <a:buSzPts val="1600"/>
              <a:buChar char="•"/>
            </a:pPr>
            <a:r>
              <a:rPr lang="en-US"/>
              <a:t>Generate out-of-fold (OOF) predicted probabilities for class 1 from each base model</a:t>
            </a:r>
            <a:endParaRPr/>
          </a:p>
          <a:p>
            <a:pPr marL="914400" lvl="1" indent="-330200" algn="l" rtl="0">
              <a:lnSpc>
                <a:spcPct val="90000"/>
              </a:lnSpc>
              <a:spcBef>
                <a:spcPts val="0"/>
              </a:spcBef>
              <a:spcAft>
                <a:spcPts val="0"/>
              </a:spcAft>
              <a:buSzPts val="1600"/>
              <a:buChar char="•"/>
            </a:pPr>
            <a:r>
              <a:rPr lang="en-US"/>
              <a:t>Combine OOF predictions with top 10 original features</a:t>
            </a:r>
            <a:endParaRPr/>
          </a:p>
          <a:p>
            <a:pPr marL="914400" lvl="1" indent="-330200" algn="l" rtl="0">
              <a:lnSpc>
                <a:spcPct val="90000"/>
              </a:lnSpc>
              <a:spcBef>
                <a:spcPts val="0"/>
              </a:spcBef>
              <a:spcAft>
                <a:spcPts val="0"/>
              </a:spcAft>
              <a:buSzPts val="1600"/>
              <a:buChar char="•"/>
            </a:pPr>
            <a:r>
              <a:rPr lang="en-US"/>
              <a:t>Meta-data scaling for meta-model stability</a:t>
            </a:r>
            <a:endParaRPr/>
          </a:p>
          <a:p>
            <a:pPr marL="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en-US"/>
              <a:t>Meta Model: Logistic Regression</a:t>
            </a:r>
            <a:endParaRPr/>
          </a:p>
          <a:p>
            <a:pPr marL="0" lvl="0" indent="0" algn="l" rtl="0">
              <a:lnSpc>
                <a:spcPct val="90000"/>
              </a:lnSpc>
              <a:spcBef>
                <a:spcPts val="0"/>
              </a:spcBef>
              <a:spcAft>
                <a:spcPts val="0"/>
              </a:spcAft>
              <a:buNone/>
            </a:pPr>
            <a:endParaRPr sz="1800"/>
          </a:p>
          <a:p>
            <a:pPr marL="0" lvl="0" indent="0" algn="l" rtl="0">
              <a:lnSpc>
                <a:spcPct val="90000"/>
              </a:lnSpc>
              <a:spcBef>
                <a:spcPts val="0"/>
              </a:spcBef>
              <a:spcAft>
                <a:spcPts val="0"/>
              </a:spcAft>
              <a:buNone/>
            </a:pPr>
            <a:endParaRPr sz="1800"/>
          </a:p>
          <a:p>
            <a:pPr marL="0" lvl="0" indent="0" algn="l" rtl="0">
              <a:lnSpc>
                <a:spcPct val="90000"/>
              </a:lnSpc>
              <a:spcBef>
                <a:spcPts val="0"/>
              </a:spcBef>
              <a:spcAft>
                <a:spcPts val="0"/>
              </a:spcAft>
              <a:buNone/>
            </a:pPr>
            <a:endParaRPr sz="1800"/>
          </a:p>
        </p:txBody>
      </p:sp>
      <p:sp>
        <p:nvSpPr>
          <p:cNvPr id="268" name="Google Shape;268;p27"/>
          <p:cNvSpPr txBox="1">
            <a:spLocks noGrp="1"/>
          </p:cNvSpPr>
          <p:nvPr>
            <p:ph type="title"/>
          </p:nvPr>
        </p:nvSpPr>
        <p:spPr>
          <a:xfrm>
            <a:off x="4019909" y="64877"/>
            <a:ext cx="7333800" cy="765600"/>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b="1"/>
              <a:t>Modeling: </a:t>
            </a:r>
            <a:r>
              <a:rPr lang="en-US"/>
              <a:t>Ensemble (Stacking)</a:t>
            </a:r>
            <a:endParaRPr b="1"/>
          </a:p>
        </p:txBody>
      </p:sp>
      <p:sp>
        <p:nvSpPr>
          <p:cNvPr id="269" name="Google Shape;269;p27"/>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grpSp>
        <p:nvGrpSpPr>
          <p:cNvPr id="270" name="Google Shape;270;p27"/>
          <p:cNvGrpSpPr/>
          <p:nvPr/>
        </p:nvGrpSpPr>
        <p:grpSpPr>
          <a:xfrm>
            <a:off x="899100" y="4144953"/>
            <a:ext cx="10393800" cy="2008397"/>
            <a:chOff x="820375" y="4167690"/>
            <a:chExt cx="10393800" cy="2008397"/>
          </a:xfrm>
        </p:grpSpPr>
        <p:sp>
          <p:nvSpPr>
            <p:cNvPr id="271" name="Google Shape;271;p27"/>
            <p:cNvSpPr/>
            <p:nvPr/>
          </p:nvSpPr>
          <p:spPr>
            <a:xfrm>
              <a:off x="820375" y="5158475"/>
              <a:ext cx="10393800" cy="552300"/>
            </a:xfrm>
            <a:prstGeom prst="chevron">
              <a:avLst>
                <a:gd name="adj" fmla="val 50000"/>
              </a:avLst>
            </a:prstGeom>
            <a:solidFill>
              <a:srgbClr val="0B351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a:ea typeface="Noto Sans"/>
                <a:cs typeface="Noto Sans"/>
                <a:sym typeface="Noto Sans"/>
              </a:endParaRPr>
            </a:p>
          </p:txBody>
        </p:sp>
        <p:sp>
          <p:nvSpPr>
            <p:cNvPr id="272" name="Google Shape;272;p27"/>
            <p:cNvSpPr/>
            <p:nvPr/>
          </p:nvSpPr>
          <p:spPr>
            <a:xfrm>
              <a:off x="1565900" y="4693188"/>
              <a:ext cx="2606400" cy="1482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Noto Sans"/>
                  <a:ea typeface="Noto Sans"/>
                  <a:cs typeface="Noto Sans"/>
                  <a:sym typeface="Noto Sans"/>
                </a:rPr>
                <a:t>Random Forest (RF)</a:t>
              </a:r>
              <a:endParaRPr sz="1200">
                <a:latin typeface="Noto Sans"/>
                <a:ea typeface="Noto Sans"/>
                <a:cs typeface="Noto Sans"/>
                <a:sym typeface="Noto Sans"/>
              </a:endParaRPr>
            </a:p>
            <a:p>
              <a:pPr marL="0" lvl="0" indent="0" algn="ctr" rtl="0">
                <a:spcBef>
                  <a:spcPts val="0"/>
                </a:spcBef>
                <a:spcAft>
                  <a:spcPts val="0"/>
                </a:spcAft>
                <a:buNone/>
              </a:pPr>
              <a:r>
                <a:rPr lang="en-US" sz="1200">
                  <a:latin typeface="Noto Sans"/>
                  <a:ea typeface="Noto Sans"/>
                  <a:cs typeface="Noto Sans"/>
                  <a:sym typeface="Noto Sans"/>
                </a:rPr>
                <a:t>+ </a:t>
              </a:r>
              <a:endParaRPr sz="1200">
                <a:latin typeface="Noto Sans"/>
                <a:ea typeface="Noto Sans"/>
                <a:cs typeface="Noto Sans"/>
                <a:sym typeface="Noto Sans"/>
              </a:endParaRPr>
            </a:p>
            <a:p>
              <a:pPr marL="0" lvl="0" indent="0" algn="ctr" rtl="0">
                <a:spcBef>
                  <a:spcPts val="0"/>
                </a:spcBef>
                <a:spcAft>
                  <a:spcPts val="0"/>
                </a:spcAft>
                <a:buNone/>
              </a:pPr>
              <a:r>
                <a:rPr lang="en-US" sz="1200">
                  <a:latin typeface="Noto Sans"/>
                  <a:ea typeface="Noto Sans"/>
                  <a:cs typeface="Noto Sans"/>
                  <a:sym typeface="Noto Sans"/>
                </a:rPr>
                <a:t>Gradient Boosting (LightGBM)</a:t>
              </a:r>
              <a:endParaRPr sz="1200">
                <a:latin typeface="Noto Sans"/>
                <a:ea typeface="Noto Sans"/>
                <a:cs typeface="Noto Sans"/>
                <a:sym typeface="Noto Sans"/>
              </a:endParaRPr>
            </a:p>
            <a:p>
              <a:pPr marL="0" lvl="0" indent="0" algn="ctr" rtl="0">
                <a:spcBef>
                  <a:spcPts val="0"/>
                </a:spcBef>
                <a:spcAft>
                  <a:spcPts val="0"/>
                </a:spcAft>
                <a:buNone/>
              </a:pPr>
              <a:r>
                <a:rPr lang="en-US" sz="1200">
                  <a:latin typeface="Noto Sans"/>
                  <a:ea typeface="Noto Sans"/>
                  <a:cs typeface="Noto Sans"/>
                  <a:sym typeface="Noto Sans"/>
                </a:rPr>
                <a:t>+</a:t>
              </a:r>
              <a:endParaRPr sz="1200">
                <a:latin typeface="Noto Sans"/>
                <a:ea typeface="Noto Sans"/>
                <a:cs typeface="Noto Sans"/>
                <a:sym typeface="Noto Sans"/>
              </a:endParaRPr>
            </a:p>
            <a:p>
              <a:pPr marL="0" lvl="0" indent="0" algn="ctr" rtl="0">
                <a:spcBef>
                  <a:spcPts val="0"/>
                </a:spcBef>
                <a:spcAft>
                  <a:spcPts val="0"/>
                </a:spcAft>
                <a:buNone/>
              </a:pPr>
              <a:r>
                <a:rPr lang="en-US" sz="1200">
                  <a:latin typeface="Noto Sans"/>
                  <a:ea typeface="Noto Sans"/>
                  <a:cs typeface="Noto Sans"/>
                  <a:sym typeface="Noto Sans"/>
                </a:rPr>
                <a:t> Support Vector Machine (SVM)</a:t>
              </a:r>
              <a:endParaRPr sz="1200">
                <a:latin typeface="Noto Sans"/>
                <a:ea typeface="Noto Sans"/>
                <a:cs typeface="Noto Sans"/>
                <a:sym typeface="Noto Sans"/>
              </a:endParaRPr>
            </a:p>
            <a:p>
              <a:pPr marL="0" lvl="0" indent="0" algn="ctr" rtl="0">
                <a:spcBef>
                  <a:spcPts val="0"/>
                </a:spcBef>
                <a:spcAft>
                  <a:spcPts val="0"/>
                </a:spcAft>
                <a:buNone/>
              </a:pPr>
              <a:endParaRPr sz="1200">
                <a:latin typeface="Noto Sans"/>
                <a:ea typeface="Noto Sans"/>
                <a:cs typeface="Noto Sans"/>
                <a:sym typeface="Noto Sans"/>
              </a:endParaRPr>
            </a:p>
            <a:p>
              <a:pPr marL="0" lvl="0" indent="0" algn="ctr" rtl="0">
                <a:spcBef>
                  <a:spcPts val="0"/>
                </a:spcBef>
                <a:spcAft>
                  <a:spcPts val="0"/>
                </a:spcAft>
                <a:buNone/>
              </a:pPr>
              <a:r>
                <a:rPr lang="en-US" sz="1200">
                  <a:latin typeface="Noto Sans"/>
                  <a:ea typeface="Noto Sans"/>
                  <a:cs typeface="Noto Sans"/>
                  <a:sym typeface="Noto Sans"/>
                </a:rPr>
                <a:t>→ K-fold stacking prediction</a:t>
              </a:r>
              <a:endParaRPr sz="1200">
                <a:latin typeface="Noto Sans"/>
                <a:ea typeface="Noto Sans"/>
                <a:cs typeface="Noto Sans"/>
                <a:sym typeface="Noto Sans"/>
              </a:endParaRPr>
            </a:p>
          </p:txBody>
        </p:sp>
        <p:sp>
          <p:nvSpPr>
            <p:cNvPr id="273" name="Google Shape;273;p27"/>
            <p:cNvSpPr/>
            <p:nvPr/>
          </p:nvSpPr>
          <p:spPr>
            <a:xfrm>
              <a:off x="4714075" y="4693188"/>
              <a:ext cx="2606400" cy="1482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Noto Sans"/>
                  <a:ea typeface="Noto Sans"/>
                  <a:cs typeface="Noto Sans"/>
                  <a:sym typeface="Noto Sans"/>
                </a:rPr>
                <a:t>OOF probabilities of base models</a:t>
              </a:r>
              <a:endParaRPr sz="1200">
                <a:latin typeface="Noto Sans"/>
                <a:ea typeface="Noto Sans"/>
                <a:cs typeface="Noto Sans"/>
                <a:sym typeface="Noto Sans"/>
              </a:endParaRPr>
            </a:p>
            <a:p>
              <a:pPr marL="0" lvl="0" indent="0" algn="ctr" rtl="0">
                <a:spcBef>
                  <a:spcPts val="0"/>
                </a:spcBef>
                <a:spcAft>
                  <a:spcPts val="0"/>
                </a:spcAft>
                <a:buNone/>
              </a:pPr>
              <a:r>
                <a:rPr lang="en-US" sz="1200">
                  <a:latin typeface="Noto Sans"/>
                  <a:ea typeface="Noto Sans"/>
                  <a:cs typeface="Noto Sans"/>
                  <a:sym typeface="Noto Sans"/>
                </a:rPr>
                <a:t>+</a:t>
              </a:r>
              <a:endParaRPr sz="1200">
                <a:latin typeface="Noto Sans"/>
                <a:ea typeface="Noto Sans"/>
                <a:cs typeface="Noto Sans"/>
                <a:sym typeface="Noto Sans"/>
              </a:endParaRPr>
            </a:p>
            <a:p>
              <a:pPr marL="0" lvl="0" indent="0" algn="ctr" rtl="0">
                <a:spcBef>
                  <a:spcPts val="0"/>
                </a:spcBef>
                <a:spcAft>
                  <a:spcPts val="0"/>
                </a:spcAft>
                <a:buNone/>
              </a:pPr>
              <a:r>
                <a:rPr lang="en-US" sz="1200">
                  <a:latin typeface="Noto Sans"/>
                  <a:ea typeface="Noto Sans"/>
                  <a:cs typeface="Noto Sans"/>
                  <a:sym typeface="Noto Sans"/>
                </a:rPr>
                <a:t>Top 10 original features</a:t>
              </a:r>
              <a:endParaRPr sz="1200">
                <a:latin typeface="Noto Sans"/>
                <a:ea typeface="Noto Sans"/>
                <a:cs typeface="Noto Sans"/>
                <a:sym typeface="Noto Sans"/>
              </a:endParaRPr>
            </a:p>
            <a:p>
              <a:pPr marL="0" lvl="0" indent="0" algn="ctr" rtl="0">
                <a:spcBef>
                  <a:spcPts val="0"/>
                </a:spcBef>
                <a:spcAft>
                  <a:spcPts val="0"/>
                </a:spcAft>
                <a:buNone/>
              </a:pPr>
              <a:endParaRPr sz="1200">
                <a:latin typeface="Noto Sans"/>
                <a:ea typeface="Noto Sans"/>
                <a:cs typeface="Noto Sans"/>
                <a:sym typeface="Noto Sans"/>
              </a:endParaRPr>
            </a:p>
            <a:p>
              <a:pPr marL="0" lvl="0" indent="0" algn="ctr" rtl="0">
                <a:spcBef>
                  <a:spcPts val="0"/>
                </a:spcBef>
                <a:spcAft>
                  <a:spcPts val="0"/>
                </a:spcAft>
                <a:buNone/>
              </a:pPr>
              <a:r>
                <a:rPr lang="en-US" sz="1200">
                  <a:latin typeface="Noto Sans"/>
                  <a:ea typeface="Noto Sans"/>
                  <a:cs typeface="Noto Sans"/>
                  <a:sym typeface="Noto Sans"/>
                </a:rPr>
                <a:t>→ Input data for meta model</a:t>
              </a:r>
              <a:endParaRPr sz="1200">
                <a:latin typeface="Noto Sans"/>
                <a:ea typeface="Noto Sans"/>
                <a:cs typeface="Noto Sans"/>
                <a:sym typeface="Noto Sans"/>
              </a:endParaRPr>
            </a:p>
          </p:txBody>
        </p:sp>
        <p:sp>
          <p:nvSpPr>
            <p:cNvPr id="274" name="Google Shape;274;p27"/>
            <p:cNvSpPr/>
            <p:nvPr/>
          </p:nvSpPr>
          <p:spPr>
            <a:xfrm>
              <a:off x="7862250" y="4693188"/>
              <a:ext cx="2606400" cy="1482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Noto Sans"/>
                  <a:ea typeface="Noto Sans"/>
                  <a:cs typeface="Noto Sans"/>
                  <a:sym typeface="Noto Sans"/>
                </a:rPr>
                <a:t>Logistic Regression</a:t>
              </a:r>
              <a:endParaRPr sz="1200">
                <a:latin typeface="Noto Sans"/>
                <a:ea typeface="Noto Sans"/>
                <a:cs typeface="Noto Sans"/>
                <a:sym typeface="Noto Sans"/>
              </a:endParaRPr>
            </a:p>
            <a:p>
              <a:pPr marL="0" lvl="0" indent="0" algn="ctr" rtl="0">
                <a:spcBef>
                  <a:spcPts val="0"/>
                </a:spcBef>
                <a:spcAft>
                  <a:spcPts val="0"/>
                </a:spcAft>
                <a:buNone/>
              </a:pPr>
              <a:endParaRPr sz="1200">
                <a:latin typeface="Noto Sans"/>
                <a:ea typeface="Noto Sans"/>
                <a:cs typeface="Noto Sans"/>
                <a:sym typeface="Noto Sans"/>
              </a:endParaRPr>
            </a:p>
            <a:p>
              <a:pPr marL="0" lvl="0" indent="0" algn="ctr" rtl="0">
                <a:spcBef>
                  <a:spcPts val="0"/>
                </a:spcBef>
                <a:spcAft>
                  <a:spcPts val="0"/>
                </a:spcAft>
                <a:buNone/>
              </a:pPr>
              <a:r>
                <a:rPr lang="en-US" sz="1200">
                  <a:latin typeface="Noto Sans"/>
                  <a:ea typeface="Noto Sans"/>
                  <a:cs typeface="Noto Sans"/>
                  <a:sym typeface="Noto Sans"/>
                </a:rPr>
                <a:t>→ Final training &amp; prediction</a:t>
              </a:r>
              <a:endParaRPr sz="1200">
                <a:latin typeface="Noto Sans"/>
                <a:ea typeface="Noto Sans"/>
                <a:cs typeface="Noto Sans"/>
                <a:sym typeface="Noto Sans"/>
              </a:endParaRPr>
            </a:p>
          </p:txBody>
        </p:sp>
        <p:sp>
          <p:nvSpPr>
            <p:cNvPr id="275" name="Google Shape;275;p27"/>
            <p:cNvSpPr/>
            <p:nvPr/>
          </p:nvSpPr>
          <p:spPr>
            <a:xfrm>
              <a:off x="1565900" y="4167690"/>
              <a:ext cx="2606400" cy="476100"/>
            </a:xfrm>
            <a:prstGeom prst="rect">
              <a:avLst/>
            </a:prstGeom>
            <a:solidFill>
              <a:srgbClr val="0B351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Base Models (Level-1)</a:t>
              </a:r>
              <a:endParaRPr b="1">
                <a:solidFill>
                  <a:schemeClr val="lt1"/>
                </a:solidFill>
                <a:latin typeface="Noto Sans"/>
                <a:ea typeface="Noto Sans"/>
                <a:cs typeface="Noto Sans"/>
                <a:sym typeface="Noto Sans"/>
              </a:endParaRPr>
            </a:p>
          </p:txBody>
        </p:sp>
        <p:sp>
          <p:nvSpPr>
            <p:cNvPr id="276" name="Google Shape;276;p27"/>
            <p:cNvSpPr/>
            <p:nvPr/>
          </p:nvSpPr>
          <p:spPr>
            <a:xfrm>
              <a:off x="4714075" y="4167690"/>
              <a:ext cx="2606400" cy="476100"/>
            </a:xfrm>
            <a:prstGeom prst="rect">
              <a:avLst/>
            </a:prstGeom>
            <a:solidFill>
              <a:srgbClr val="0B351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Meta-data</a:t>
              </a:r>
              <a:endParaRPr b="1">
                <a:solidFill>
                  <a:schemeClr val="lt1"/>
                </a:solidFill>
                <a:latin typeface="Noto Sans"/>
                <a:ea typeface="Noto Sans"/>
                <a:cs typeface="Noto Sans"/>
                <a:sym typeface="Noto Sans"/>
              </a:endParaRPr>
            </a:p>
          </p:txBody>
        </p:sp>
        <p:sp>
          <p:nvSpPr>
            <p:cNvPr id="277" name="Google Shape;277;p27"/>
            <p:cNvSpPr/>
            <p:nvPr/>
          </p:nvSpPr>
          <p:spPr>
            <a:xfrm>
              <a:off x="7862250" y="4167690"/>
              <a:ext cx="2606400" cy="476100"/>
            </a:xfrm>
            <a:prstGeom prst="rect">
              <a:avLst/>
            </a:prstGeom>
            <a:solidFill>
              <a:srgbClr val="0B351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Meta Model (Level-2)</a:t>
              </a:r>
              <a:endParaRPr b="1">
                <a:solidFill>
                  <a:schemeClr val="lt1"/>
                </a:solidFill>
                <a:latin typeface="Noto Sans"/>
                <a:ea typeface="Noto Sans"/>
                <a:cs typeface="Noto Sans"/>
                <a:sym typeface="Noto Sans"/>
              </a:endParaRPr>
            </a:p>
          </p:txBody>
        </p:sp>
      </p:grpSp>
      <p:grpSp>
        <p:nvGrpSpPr>
          <p:cNvPr id="278" name="Google Shape;278;p27"/>
          <p:cNvGrpSpPr/>
          <p:nvPr/>
        </p:nvGrpSpPr>
        <p:grpSpPr>
          <a:xfrm>
            <a:off x="406550" y="994175"/>
            <a:ext cx="3924300" cy="514350"/>
            <a:chOff x="7462050" y="7632500"/>
            <a:chExt cx="3924300" cy="514350"/>
          </a:xfrm>
        </p:grpSpPr>
        <p:pic>
          <p:nvPicPr>
            <p:cNvPr id="279" name="Google Shape;279;p27"/>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280" name="Google Shape;280;p27"/>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281" name="Google Shape;281;p27"/>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Ensemble (Stacking)</a:t>
              </a:r>
              <a:endParaRPr sz="1800" b="1">
                <a:solidFill>
                  <a:srgbClr val="0B3512"/>
                </a:solidFill>
                <a:latin typeface="Noto Sans"/>
                <a:ea typeface="Noto Sans"/>
                <a:cs typeface="Noto Sans"/>
                <a:sym typeface="Noto Sans"/>
              </a:endParaRPr>
            </a:p>
          </p:txBody>
        </p:sp>
      </p:grpSp>
      <p:graphicFrame>
        <p:nvGraphicFramePr>
          <p:cNvPr id="282" name="Google Shape;282;p27"/>
          <p:cNvGraphicFramePr/>
          <p:nvPr/>
        </p:nvGraphicFramePr>
        <p:xfrm>
          <a:off x="7044288" y="1870513"/>
          <a:ext cx="4248600" cy="944835"/>
        </p:xfrm>
        <a:graphic>
          <a:graphicData uri="http://schemas.openxmlformats.org/drawingml/2006/table">
            <a:tbl>
              <a:tblPr>
                <a:noFill/>
                <a:tableStyleId>{FC81F1B4-83E2-4D3B-8345-693ECB83A873}</a:tableStyleId>
              </a:tblPr>
              <a:tblGrid>
                <a:gridCol w="1416200">
                  <a:extLst>
                    <a:ext uri="{9D8B030D-6E8A-4147-A177-3AD203B41FA5}">
                      <a16:colId xmlns:a16="http://schemas.microsoft.com/office/drawing/2014/main" val="20000"/>
                    </a:ext>
                  </a:extLst>
                </a:gridCol>
                <a:gridCol w="1416200">
                  <a:extLst>
                    <a:ext uri="{9D8B030D-6E8A-4147-A177-3AD203B41FA5}">
                      <a16:colId xmlns:a16="http://schemas.microsoft.com/office/drawing/2014/main" val="20001"/>
                    </a:ext>
                  </a:extLst>
                </a:gridCol>
                <a:gridCol w="14162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AUC</a:t>
                      </a:r>
                      <a:endParaRPr b="1">
                        <a:solidFill>
                          <a:schemeClr val="lt1"/>
                        </a:solidFill>
                        <a:latin typeface="Noto Sans"/>
                        <a:ea typeface="Noto Sans"/>
                        <a:cs typeface="Noto Sans"/>
                        <a:sym typeface="Noto Sans"/>
                      </a:endParaRPr>
                    </a:p>
                  </a:txBody>
                  <a:tcPr marL="91425" marR="91425" marT="91425" marB="91425" anchor="ctr">
                    <a:solidFill>
                      <a:srgbClr val="0B3512"/>
                    </a:solidFill>
                  </a:tcPr>
                </a:tc>
                <a:tc>
                  <a:txBody>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Recall</a:t>
                      </a:r>
                      <a:endParaRPr b="1">
                        <a:solidFill>
                          <a:schemeClr val="lt1"/>
                        </a:solidFill>
                        <a:latin typeface="Noto Sans"/>
                        <a:ea typeface="Noto Sans"/>
                        <a:cs typeface="Noto Sans"/>
                        <a:sym typeface="Noto Sans"/>
                      </a:endParaRPr>
                    </a:p>
                  </a:txBody>
                  <a:tcPr marL="91425" marR="91425" marT="91425" marB="91425" anchor="ctr">
                    <a:solidFill>
                      <a:srgbClr val="0B3512"/>
                    </a:solidFill>
                  </a:tcPr>
                </a:tc>
                <a:tc>
                  <a:txBody>
                    <a:bodyPr/>
                    <a:lstStyle/>
                    <a:p>
                      <a:pPr marL="0" lvl="0" indent="0" algn="ctr" rtl="0">
                        <a:spcBef>
                          <a:spcPts val="0"/>
                        </a:spcBef>
                        <a:spcAft>
                          <a:spcPts val="0"/>
                        </a:spcAft>
                        <a:buNone/>
                      </a:pPr>
                      <a:r>
                        <a:rPr lang="en-US" b="1">
                          <a:solidFill>
                            <a:schemeClr val="lt1"/>
                          </a:solidFill>
                          <a:latin typeface="Noto Sans"/>
                          <a:ea typeface="Noto Sans"/>
                          <a:cs typeface="Noto Sans"/>
                          <a:sym typeface="Noto Sans"/>
                        </a:rPr>
                        <a:t>F1</a:t>
                      </a:r>
                      <a:endParaRPr b="1">
                        <a:solidFill>
                          <a:schemeClr val="lt1"/>
                        </a:solidFill>
                        <a:latin typeface="Noto Sans"/>
                        <a:ea typeface="Noto Sans"/>
                        <a:cs typeface="Noto Sans"/>
                        <a:sym typeface="Noto Sans"/>
                      </a:endParaRPr>
                    </a:p>
                  </a:txBody>
                  <a:tcPr marL="91425" marR="91425" marT="91425" marB="91425" anchor="ctr">
                    <a:solidFill>
                      <a:srgbClr val="0B3512"/>
                    </a:solidFill>
                  </a:tcPr>
                </a:tc>
                <a:extLst>
                  <a:ext uri="{0D108BD9-81ED-4DB2-BD59-A6C34878D82A}">
                    <a16:rowId xmlns:a16="http://schemas.microsoft.com/office/drawing/2014/main" val="10000"/>
                  </a:ext>
                </a:extLst>
              </a:tr>
              <a:tr h="548625">
                <a:tc>
                  <a:txBody>
                    <a:bodyPr/>
                    <a:lstStyle/>
                    <a:p>
                      <a:pPr marL="0" lvl="0" indent="0" algn="ctr" rtl="0">
                        <a:spcBef>
                          <a:spcPts val="0"/>
                        </a:spcBef>
                        <a:spcAft>
                          <a:spcPts val="0"/>
                        </a:spcAft>
                        <a:buNone/>
                      </a:pPr>
                      <a:r>
                        <a:rPr lang="en-US" b="1">
                          <a:latin typeface="Noto Sans"/>
                          <a:ea typeface="Noto Sans"/>
                          <a:cs typeface="Noto Sans"/>
                          <a:sym typeface="Noto Sans"/>
                        </a:rPr>
                        <a:t>0.77</a:t>
                      </a:r>
                      <a:endParaRPr b="1">
                        <a:latin typeface="Noto Sans"/>
                        <a:ea typeface="Noto Sans"/>
                        <a:cs typeface="Noto Sans"/>
                        <a:sym typeface="Noto Sans"/>
                      </a:endParaRPr>
                    </a:p>
                  </a:txBody>
                  <a:tcPr marL="91425" marR="91425" marT="91425" marB="91425" anchor="ctr"/>
                </a:tc>
                <a:tc>
                  <a:txBody>
                    <a:bodyPr/>
                    <a:lstStyle/>
                    <a:p>
                      <a:pPr marL="0" lvl="0" indent="0" algn="ctr" rtl="0">
                        <a:spcBef>
                          <a:spcPts val="0"/>
                        </a:spcBef>
                        <a:spcAft>
                          <a:spcPts val="0"/>
                        </a:spcAft>
                        <a:buNone/>
                      </a:pPr>
                      <a:r>
                        <a:rPr lang="en-US" b="1">
                          <a:latin typeface="Noto Sans"/>
                          <a:ea typeface="Noto Sans"/>
                          <a:cs typeface="Noto Sans"/>
                          <a:sym typeface="Noto Sans"/>
                        </a:rPr>
                        <a:t>0.70</a:t>
                      </a:r>
                      <a:endParaRPr b="1">
                        <a:latin typeface="Noto Sans"/>
                        <a:ea typeface="Noto Sans"/>
                        <a:cs typeface="Noto Sans"/>
                        <a:sym typeface="Noto Sans"/>
                      </a:endParaRPr>
                    </a:p>
                  </a:txBody>
                  <a:tcPr marL="91425" marR="91425" marT="91425" marB="91425" anchor="ctr"/>
                </a:tc>
                <a:tc>
                  <a:txBody>
                    <a:bodyPr/>
                    <a:lstStyle/>
                    <a:p>
                      <a:pPr marL="0" lvl="0" indent="0" algn="ctr" rtl="0">
                        <a:spcBef>
                          <a:spcPts val="0"/>
                        </a:spcBef>
                        <a:spcAft>
                          <a:spcPts val="0"/>
                        </a:spcAft>
                        <a:buNone/>
                      </a:pPr>
                      <a:r>
                        <a:rPr lang="en-US" b="1">
                          <a:latin typeface="Noto Sans"/>
                          <a:ea typeface="Noto Sans"/>
                          <a:cs typeface="Noto Sans"/>
                          <a:sym typeface="Noto Sans"/>
                        </a:rPr>
                        <a:t>0.51</a:t>
                      </a:r>
                      <a:endParaRPr b="1">
                        <a:latin typeface="Noto Sans"/>
                        <a:ea typeface="Noto Sans"/>
                        <a:cs typeface="Noto Sans"/>
                        <a:sym typeface="Noto Sans"/>
                      </a:endParaRPr>
                    </a:p>
                  </a:txBody>
                  <a:tcPr marL="91425" marR="91425" marT="91425" marB="91425"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8"/>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b="1"/>
              <a:t>Modeling: GLM – Model Selection</a:t>
            </a:r>
            <a:endParaRPr b="1"/>
          </a:p>
        </p:txBody>
      </p:sp>
      <p:sp>
        <p:nvSpPr>
          <p:cNvPr id="288" name="Google Shape;288;p28"/>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graphicFrame>
        <p:nvGraphicFramePr>
          <p:cNvPr id="289" name="Google Shape;289;p28"/>
          <p:cNvGraphicFramePr/>
          <p:nvPr/>
        </p:nvGraphicFramePr>
        <p:xfrm>
          <a:off x="1005825" y="762275"/>
          <a:ext cx="10180350" cy="5028870"/>
        </p:xfrm>
        <a:graphic>
          <a:graphicData uri="http://schemas.openxmlformats.org/drawingml/2006/table">
            <a:tbl>
              <a:tblPr>
                <a:noFill/>
                <a:tableStyleId>{FC81F1B4-83E2-4D3B-8345-693ECB83A873}</a:tableStyleId>
              </a:tblPr>
              <a:tblGrid>
                <a:gridCol w="1669800">
                  <a:extLst>
                    <a:ext uri="{9D8B030D-6E8A-4147-A177-3AD203B41FA5}">
                      <a16:colId xmlns:a16="http://schemas.microsoft.com/office/drawing/2014/main" val="20000"/>
                    </a:ext>
                  </a:extLst>
                </a:gridCol>
                <a:gridCol w="1418425">
                  <a:extLst>
                    <a:ext uri="{9D8B030D-6E8A-4147-A177-3AD203B41FA5}">
                      <a16:colId xmlns:a16="http://schemas.microsoft.com/office/drawing/2014/main" val="20001"/>
                    </a:ext>
                  </a:extLst>
                </a:gridCol>
                <a:gridCol w="1418425">
                  <a:extLst>
                    <a:ext uri="{9D8B030D-6E8A-4147-A177-3AD203B41FA5}">
                      <a16:colId xmlns:a16="http://schemas.microsoft.com/office/drawing/2014/main" val="20002"/>
                    </a:ext>
                  </a:extLst>
                </a:gridCol>
                <a:gridCol w="1418425">
                  <a:extLst>
                    <a:ext uri="{9D8B030D-6E8A-4147-A177-3AD203B41FA5}">
                      <a16:colId xmlns:a16="http://schemas.microsoft.com/office/drawing/2014/main" val="20003"/>
                    </a:ext>
                  </a:extLst>
                </a:gridCol>
                <a:gridCol w="1418425">
                  <a:extLst>
                    <a:ext uri="{9D8B030D-6E8A-4147-A177-3AD203B41FA5}">
                      <a16:colId xmlns:a16="http://schemas.microsoft.com/office/drawing/2014/main" val="20004"/>
                    </a:ext>
                  </a:extLst>
                </a:gridCol>
                <a:gridCol w="1418425">
                  <a:extLst>
                    <a:ext uri="{9D8B030D-6E8A-4147-A177-3AD203B41FA5}">
                      <a16:colId xmlns:a16="http://schemas.microsoft.com/office/drawing/2014/main" val="20005"/>
                    </a:ext>
                  </a:extLst>
                </a:gridCol>
                <a:gridCol w="1418425">
                  <a:extLst>
                    <a:ext uri="{9D8B030D-6E8A-4147-A177-3AD203B41FA5}">
                      <a16:colId xmlns:a16="http://schemas.microsoft.com/office/drawing/2014/main" val="20006"/>
                    </a:ext>
                  </a:extLst>
                </a:gridCol>
              </a:tblGrid>
              <a:tr h="381000">
                <a:tc>
                  <a:txBody>
                    <a:bodyPr/>
                    <a:lstStyle/>
                    <a:p>
                      <a:pPr marL="0" lvl="0" indent="0" algn="ctr" rtl="0">
                        <a:spcBef>
                          <a:spcPts val="0"/>
                        </a:spcBef>
                        <a:spcAft>
                          <a:spcPts val="0"/>
                        </a:spcAft>
                        <a:buNone/>
                      </a:pPr>
                      <a:r>
                        <a:rPr lang="en-US" sz="1800" b="1">
                          <a:solidFill>
                            <a:schemeClr val="lt1"/>
                          </a:solidFill>
                        </a:rPr>
                        <a:t>Model</a:t>
                      </a:r>
                      <a:endParaRPr sz="1800" b="1">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 Variables</a:t>
                      </a:r>
                      <a:endParaRPr sz="1800" b="1">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 Features</a:t>
                      </a:r>
                      <a:endParaRPr sz="1800" b="1">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Test AUC</a:t>
                      </a:r>
                      <a:endParaRPr sz="1800" b="1">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Clr>
                          <a:schemeClr val="dk1"/>
                        </a:buClr>
                        <a:buSzPts val="1100"/>
                        <a:buFont typeface="Arial"/>
                        <a:buNone/>
                      </a:pPr>
                      <a:r>
                        <a:rPr lang="en-US" sz="1800" b="1">
                          <a:solidFill>
                            <a:schemeClr val="lt1"/>
                          </a:solidFill>
                        </a:rPr>
                        <a:t>Test Sens</a:t>
                      </a:r>
                      <a:endParaRPr sz="1800" b="1">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Test F1</a:t>
                      </a:r>
                      <a:endParaRPr sz="1800" b="1">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Train F1</a:t>
                      </a:r>
                      <a:endParaRPr sz="1800" b="1">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1800">
                          <a:solidFill>
                            <a:srgbClr val="CC0000"/>
                          </a:solidFill>
                        </a:rPr>
                        <a:t>Untuned GLM</a:t>
                      </a:r>
                      <a:endParaRPr sz="1800">
                        <a:solidFill>
                          <a:srgbClr val="CC0000"/>
                        </a:solidFill>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rgbClr val="CC0000"/>
                          </a:solidFill>
                        </a:rPr>
                        <a:t>28</a:t>
                      </a:r>
                      <a:endParaRPr sz="1800">
                        <a:solidFill>
                          <a:srgbClr val="CC0000"/>
                        </a:solidFill>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rgbClr val="CC0000"/>
                          </a:solidFill>
                        </a:rPr>
                        <a:t>54</a:t>
                      </a:r>
                      <a:endParaRPr sz="1800">
                        <a:solidFill>
                          <a:srgbClr val="CC0000"/>
                        </a:solidFill>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rgbClr val="CC0000"/>
                          </a:solidFill>
                        </a:rPr>
                        <a:t>0.73</a:t>
                      </a:r>
                      <a:endParaRPr sz="1800">
                        <a:solidFill>
                          <a:srgbClr val="CC0000"/>
                        </a:solidFill>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u="sng">
                          <a:solidFill>
                            <a:srgbClr val="CC0000"/>
                          </a:solidFill>
                        </a:rPr>
                        <a:t>0.63</a:t>
                      </a:r>
                      <a:endParaRPr sz="1800" b="1" u="sng">
                        <a:solidFill>
                          <a:srgbClr val="CC0000"/>
                        </a:solidFill>
                      </a:endParaRPr>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rgbClr val="CC0000"/>
                          </a:solidFill>
                        </a:rPr>
                        <a:t>0.47</a:t>
                      </a:r>
                      <a:endParaRPr sz="1800">
                        <a:solidFill>
                          <a:srgbClr val="CC0000"/>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solidFill>
                            <a:srgbClr val="CC0000"/>
                          </a:solidFill>
                        </a:rPr>
                        <a:t>0.48</a:t>
                      </a:r>
                      <a:endParaRPr sz="1800">
                        <a:solidFill>
                          <a:srgbClr val="CC0000"/>
                        </a:solidFill>
                      </a:endParaRPr>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sz="1800"/>
                        <a:t>AIC Forward</a:t>
                      </a:r>
                      <a:endParaRPr sz="18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1800"/>
                        <a:t>22</a:t>
                      </a:r>
                      <a:endParaRPr sz="18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1800"/>
                        <a:t>67</a:t>
                      </a:r>
                      <a:endParaRPr sz="18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1800"/>
                        <a:t>0.77</a:t>
                      </a:r>
                      <a:endParaRPr sz="18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1800"/>
                        <a:t>0.71</a:t>
                      </a:r>
                      <a:endParaRPr sz="18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1800"/>
                        <a:t>0.51</a:t>
                      </a:r>
                      <a:endParaRPr sz="18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0.51</a:t>
                      </a:r>
                      <a:endParaRPr sz="1800"/>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sz="1800"/>
                        <a:t>AIC Backward</a:t>
                      </a:r>
                      <a:endParaRPr sz="1800"/>
                    </a:p>
                  </a:txBody>
                  <a:tcPr marL="91425" marR="91425" marT="91425" marB="91425"/>
                </a:tc>
                <a:tc>
                  <a:txBody>
                    <a:bodyPr/>
                    <a:lstStyle/>
                    <a:p>
                      <a:pPr marL="0" lvl="0" indent="0" algn="ctr" rtl="0">
                        <a:spcBef>
                          <a:spcPts val="0"/>
                        </a:spcBef>
                        <a:spcAft>
                          <a:spcPts val="0"/>
                        </a:spcAft>
                        <a:buNone/>
                      </a:pPr>
                      <a:r>
                        <a:rPr lang="en-US" sz="1800"/>
                        <a:t>22</a:t>
                      </a:r>
                      <a:endParaRPr sz="1800"/>
                    </a:p>
                  </a:txBody>
                  <a:tcPr marL="91425" marR="91425" marT="91425" marB="91425"/>
                </a:tc>
                <a:tc>
                  <a:txBody>
                    <a:bodyPr/>
                    <a:lstStyle/>
                    <a:p>
                      <a:pPr marL="0" lvl="0" indent="0" algn="ctr" rtl="0">
                        <a:spcBef>
                          <a:spcPts val="0"/>
                        </a:spcBef>
                        <a:spcAft>
                          <a:spcPts val="0"/>
                        </a:spcAft>
                        <a:buNone/>
                      </a:pPr>
                      <a:r>
                        <a:rPr lang="en-US" sz="1800"/>
                        <a:t>68</a:t>
                      </a:r>
                      <a:endParaRPr sz="1800"/>
                    </a:p>
                  </a:txBody>
                  <a:tcPr marL="91425" marR="91425" marT="91425" marB="91425"/>
                </a:tc>
                <a:tc>
                  <a:txBody>
                    <a:bodyPr/>
                    <a:lstStyle/>
                    <a:p>
                      <a:pPr marL="0" lvl="0" indent="0" algn="ctr" rtl="0">
                        <a:spcBef>
                          <a:spcPts val="0"/>
                        </a:spcBef>
                        <a:spcAft>
                          <a:spcPts val="0"/>
                        </a:spcAft>
                        <a:buNone/>
                      </a:pPr>
                      <a:r>
                        <a:rPr lang="en-US" sz="1800"/>
                        <a:t>0.77</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0.71</a:t>
                      </a:r>
                      <a:endParaRPr sz="18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1800">
                          <a:solidFill>
                            <a:schemeClr val="dk1"/>
                          </a:solidFill>
                        </a:rPr>
                        <a:t>0.51</a:t>
                      </a:r>
                      <a:endParaRPr sz="18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0.51</a:t>
                      </a:r>
                      <a:endParaRPr sz="18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sz="1800"/>
                        <a:t>AIC Both</a:t>
                      </a:r>
                      <a:endParaRPr sz="1800"/>
                    </a:p>
                  </a:txBody>
                  <a:tcPr marL="91425" marR="91425" marT="91425" marB="91425"/>
                </a:tc>
                <a:tc>
                  <a:txBody>
                    <a:bodyPr/>
                    <a:lstStyle/>
                    <a:p>
                      <a:pPr marL="0" lvl="0" indent="0" algn="ctr" rtl="0">
                        <a:spcBef>
                          <a:spcPts val="0"/>
                        </a:spcBef>
                        <a:spcAft>
                          <a:spcPts val="0"/>
                        </a:spcAft>
                        <a:buNone/>
                      </a:pPr>
                      <a:r>
                        <a:rPr lang="en-US" sz="1800"/>
                        <a:t>19</a:t>
                      </a:r>
                      <a:endParaRPr sz="1800"/>
                    </a:p>
                  </a:txBody>
                  <a:tcPr marL="91425" marR="91425" marT="91425" marB="91425"/>
                </a:tc>
                <a:tc>
                  <a:txBody>
                    <a:bodyPr/>
                    <a:lstStyle/>
                    <a:p>
                      <a:pPr marL="0" lvl="0" indent="0" algn="ctr" rtl="0">
                        <a:spcBef>
                          <a:spcPts val="0"/>
                        </a:spcBef>
                        <a:spcAft>
                          <a:spcPts val="0"/>
                        </a:spcAft>
                        <a:buNone/>
                      </a:pPr>
                      <a:r>
                        <a:rPr lang="en-US" sz="1800"/>
                        <a:t>64</a:t>
                      </a:r>
                      <a:endParaRPr sz="1800"/>
                    </a:p>
                  </a:txBody>
                  <a:tcPr marL="91425" marR="91425" marT="91425" marB="91425"/>
                </a:tc>
                <a:tc>
                  <a:txBody>
                    <a:bodyPr/>
                    <a:lstStyle/>
                    <a:p>
                      <a:pPr marL="0" lvl="0" indent="0" algn="ctr" rtl="0">
                        <a:spcBef>
                          <a:spcPts val="0"/>
                        </a:spcBef>
                        <a:spcAft>
                          <a:spcPts val="0"/>
                        </a:spcAft>
                        <a:buNone/>
                      </a:pPr>
                      <a:r>
                        <a:rPr lang="en-US" sz="1800"/>
                        <a:t>0.76</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0.71</a:t>
                      </a:r>
                      <a:endParaRPr sz="18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1800">
                          <a:solidFill>
                            <a:schemeClr val="dk1"/>
                          </a:solidFill>
                        </a:rPr>
                        <a:t>0.51</a:t>
                      </a:r>
                      <a:endParaRPr sz="18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0.51</a:t>
                      </a:r>
                      <a:endParaRPr sz="18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US" sz="1800" b="1"/>
                        <a:t>BIC Forward</a:t>
                      </a:r>
                      <a:endParaRPr sz="1800" b="1"/>
                    </a:p>
                  </a:txBody>
                  <a:tcPr marL="91425" marR="91425" marT="91425" marB="91425"/>
                </a:tc>
                <a:tc>
                  <a:txBody>
                    <a:bodyPr/>
                    <a:lstStyle/>
                    <a:p>
                      <a:pPr marL="0" lvl="0" indent="0" algn="ctr" rtl="0">
                        <a:spcBef>
                          <a:spcPts val="0"/>
                        </a:spcBef>
                        <a:spcAft>
                          <a:spcPts val="0"/>
                        </a:spcAft>
                        <a:buNone/>
                      </a:pPr>
                      <a:r>
                        <a:rPr lang="en-US" sz="1800" b="1"/>
                        <a:t>12</a:t>
                      </a:r>
                      <a:endParaRPr sz="1800" b="1"/>
                    </a:p>
                  </a:txBody>
                  <a:tcPr marL="91425" marR="91425" marT="91425" marB="91425"/>
                </a:tc>
                <a:tc>
                  <a:txBody>
                    <a:bodyPr/>
                    <a:lstStyle/>
                    <a:p>
                      <a:pPr marL="0" lvl="0" indent="0" algn="ctr" rtl="0">
                        <a:spcBef>
                          <a:spcPts val="0"/>
                        </a:spcBef>
                        <a:spcAft>
                          <a:spcPts val="0"/>
                        </a:spcAft>
                        <a:buNone/>
                      </a:pPr>
                      <a:r>
                        <a:rPr lang="en-US" sz="1800" b="1"/>
                        <a:t>51</a:t>
                      </a:r>
                      <a:endParaRPr sz="1800" b="1"/>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b="1">
                          <a:solidFill>
                            <a:schemeClr val="dk1"/>
                          </a:solidFill>
                        </a:rPr>
                        <a:t>0.76</a:t>
                      </a:r>
                      <a:endParaRPr sz="1800" b="1"/>
                    </a:p>
                  </a:txBody>
                  <a:tcPr marL="91425" marR="91425" marT="91425" marB="91425"/>
                </a:tc>
                <a:tc>
                  <a:txBody>
                    <a:bodyPr/>
                    <a:lstStyle/>
                    <a:p>
                      <a:pPr marL="0" lvl="0" indent="0" algn="ctr" rtl="0">
                        <a:spcBef>
                          <a:spcPts val="0"/>
                        </a:spcBef>
                        <a:spcAft>
                          <a:spcPts val="0"/>
                        </a:spcAft>
                        <a:buNone/>
                      </a:pPr>
                      <a:r>
                        <a:rPr lang="en-US" sz="1800" b="1" u="sng"/>
                        <a:t>0.70</a:t>
                      </a:r>
                      <a:endParaRPr sz="1800" b="1" u="sng"/>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1800" b="1">
                          <a:solidFill>
                            <a:schemeClr val="dk1"/>
                          </a:solidFill>
                        </a:rPr>
                        <a:t>0.51</a:t>
                      </a:r>
                      <a:endParaRPr sz="1800"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a:t>0.51</a:t>
                      </a:r>
                      <a:endParaRPr sz="1800" b="1"/>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US" sz="1800"/>
                        <a:t>BIC Backward</a:t>
                      </a:r>
                      <a:endParaRPr sz="1800"/>
                    </a:p>
                  </a:txBody>
                  <a:tcPr marL="91425" marR="91425" marT="91425" marB="91425"/>
                </a:tc>
                <a:tc>
                  <a:txBody>
                    <a:bodyPr/>
                    <a:lstStyle/>
                    <a:p>
                      <a:pPr marL="0" lvl="0" indent="0" algn="ctr" rtl="0">
                        <a:spcBef>
                          <a:spcPts val="0"/>
                        </a:spcBef>
                        <a:spcAft>
                          <a:spcPts val="0"/>
                        </a:spcAft>
                        <a:buNone/>
                      </a:pPr>
                      <a:r>
                        <a:rPr lang="en-US" sz="1800"/>
                        <a:t>14</a:t>
                      </a:r>
                      <a:endParaRPr sz="1800"/>
                    </a:p>
                  </a:txBody>
                  <a:tcPr marL="91425" marR="91425" marT="91425" marB="91425"/>
                </a:tc>
                <a:tc>
                  <a:txBody>
                    <a:bodyPr/>
                    <a:lstStyle/>
                    <a:p>
                      <a:pPr marL="0" lvl="0" indent="0" algn="ctr" rtl="0">
                        <a:spcBef>
                          <a:spcPts val="0"/>
                        </a:spcBef>
                        <a:spcAft>
                          <a:spcPts val="0"/>
                        </a:spcAft>
                        <a:buNone/>
                      </a:pPr>
                      <a:r>
                        <a:rPr lang="en-US" sz="1800"/>
                        <a:t>54</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0.76</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0.70</a:t>
                      </a:r>
                      <a:endParaRPr sz="18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1800">
                          <a:solidFill>
                            <a:schemeClr val="dk1"/>
                          </a:solidFill>
                        </a:rPr>
                        <a:t>0.51</a:t>
                      </a:r>
                      <a:endParaRPr sz="18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0.51</a:t>
                      </a:r>
                      <a:endParaRPr sz="18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US" sz="1800"/>
                        <a:t>BIC Both</a:t>
                      </a:r>
                      <a:endParaRPr sz="1800"/>
                    </a:p>
                  </a:txBody>
                  <a:tcPr marL="91425" marR="91425" marT="91425" marB="91425"/>
                </a:tc>
                <a:tc>
                  <a:txBody>
                    <a:bodyPr/>
                    <a:lstStyle/>
                    <a:p>
                      <a:pPr marL="0" lvl="0" indent="0" algn="ctr" rtl="0">
                        <a:spcBef>
                          <a:spcPts val="0"/>
                        </a:spcBef>
                        <a:spcAft>
                          <a:spcPts val="0"/>
                        </a:spcAft>
                        <a:buNone/>
                      </a:pPr>
                      <a:r>
                        <a:rPr lang="en-US" sz="1800"/>
                        <a:t>12</a:t>
                      </a:r>
                      <a:endParaRPr sz="1800"/>
                    </a:p>
                  </a:txBody>
                  <a:tcPr marL="91425" marR="91425" marT="91425" marB="91425"/>
                </a:tc>
                <a:tc>
                  <a:txBody>
                    <a:bodyPr/>
                    <a:lstStyle/>
                    <a:p>
                      <a:pPr marL="0" lvl="0" indent="0" algn="ctr" rtl="0">
                        <a:spcBef>
                          <a:spcPts val="0"/>
                        </a:spcBef>
                        <a:spcAft>
                          <a:spcPts val="0"/>
                        </a:spcAft>
                        <a:buNone/>
                      </a:pPr>
                      <a:r>
                        <a:rPr lang="en-US" sz="1800"/>
                        <a:t>51</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0.76</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0.70</a:t>
                      </a:r>
                      <a:endParaRPr sz="18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1800">
                          <a:solidFill>
                            <a:schemeClr val="dk1"/>
                          </a:solidFill>
                        </a:rPr>
                        <a:t>0.51</a:t>
                      </a:r>
                      <a:endParaRPr sz="18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0.51</a:t>
                      </a:r>
                      <a:endParaRPr sz="18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None/>
                      </a:pPr>
                      <a:r>
                        <a:rPr lang="en-US" sz="1800"/>
                        <a:t>LASSO *)</a:t>
                      </a:r>
                      <a:endParaRPr sz="1800"/>
                    </a:p>
                  </a:txBody>
                  <a:tcPr marL="91425" marR="91425" marT="91425" marB="91425"/>
                </a:tc>
                <a:tc>
                  <a:txBody>
                    <a:bodyPr/>
                    <a:lstStyle/>
                    <a:p>
                      <a:pPr marL="0" lvl="0" indent="0" algn="ctr" rtl="0">
                        <a:spcBef>
                          <a:spcPts val="0"/>
                        </a:spcBef>
                        <a:spcAft>
                          <a:spcPts val="0"/>
                        </a:spcAft>
                        <a:buNone/>
                      </a:pPr>
                      <a:r>
                        <a:rPr lang="en-US" sz="1800"/>
                        <a:t>NA</a:t>
                      </a:r>
                      <a:endParaRPr sz="1800"/>
                    </a:p>
                  </a:txBody>
                  <a:tcPr marL="91425" marR="91425" marT="91425" marB="91425"/>
                </a:tc>
                <a:tc>
                  <a:txBody>
                    <a:bodyPr/>
                    <a:lstStyle/>
                    <a:p>
                      <a:pPr marL="0" lvl="0" indent="0" algn="ctr" rtl="0">
                        <a:spcBef>
                          <a:spcPts val="0"/>
                        </a:spcBef>
                        <a:spcAft>
                          <a:spcPts val="0"/>
                        </a:spcAft>
                        <a:buNone/>
                      </a:pPr>
                      <a:r>
                        <a:rPr lang="en-US" sz="1800"/>
                        <a:t>59</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0.76</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0.71</a:t>
                      </a:r>
                      <a:endParaRPr sz="18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1800">
                          <a:solidFill>
                            <a:schemeClr val="dk1"/>
                          </a:solidFill>
                        </a:rPr>
                        <a:t>0.52</a:t>
                      </a:r>
                      <a:endParaRPr sz="18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0.51</a:t>
                      </a:r>
                      <a:endParaRPr sz="18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8"/>
                  </a:ext>
                </a:extLst>
              </a:tr>
              <a:tr h="381000">
                <a:tc>
                  <a:txBody>
                    <a:bodyPr/>
                    <a:lstStyle/>
                    <a:p>
                      <a:pPr marL="0" lvl="0" indent="0" algn="l" rtl="0">
                        <a:spcBef>
                          <a:spcPts val="0"/>
                        </a:spcBef>
                        <a:spcAft>
                          <a:spcPts val="0"/>
                        </a:spcAft>
                        <a:buNone/>
                      </a:pPr>
                      <a:r>
                        <a:rPr lang="en-US" sz="1800"/>
                        <a:t>Ridge *)</a:t>
                      </a:r>
                      <a:endParaRPr sz="1800"/>
                    </a:p>
                  </a:txBody>
                  <a:tcPr marL="91425" marR="91425" marT="91425" marB="91425"/>
                </a:tc>
                <a:tc>
                  <a:txBody>
                    <a:bodyPr/>
                    <a:lstStyle/>
                    <a:p>
                      <a:pPr marL="0" lvl="0" indent="0" algn="ctr" rtl="0">
                        <a:spcBef>
                          <a:spcPts val="0"/>
                        </a:spcBef>
                        <a:spcAft>
                          <a:spcPts val="0"/>
                        </a:spcAft>
                        <a:buNone/>
                      </a:pPr>
                      <a:r>
                        <a:rPr lang="en-US" sz="1800"/>
                        <a:t>NA</a:t>
                      </a:r>
                      <a:endParaRPr sz="1800"/>
                    </a:p>
                  </a:txBody>
                  <a:tcPr marL="91425" marR="91425" marT="91425" marB="91425"/>
                </a:tc>
                <a:tc>
                  <a:txBody>
                    <a:bodyPr/>
                    <a:lstStyle/>
                    <a:p>
                      <a:pPr marL="0" lvl="0" indent="0" algn="ctr" rtl="0">
                        <a:spcBef>
                          <a:spcPts val="0"/>
                        </a:spcBef>
                        <a:spcAft>
                          <a:spcPts val="0"/>
                        </a:spcAft>
                        <a:buNone/>
                      </a:pPr>
                      <a:r>
                        <a:rPr lang="en-US" sz="1800"/>
                        <a:t>77</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0.76</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0.71</a:t>
                      </a:r>
                      <a:endParaRPr sz="18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1800">
                          <a:solidFill>
                            <a:schemeClr val="dk1"/>
                          </a:solidFill>
                        </a:rPr>
                        <a:t>0.51</a:t>
                      </a:r>
                      <a:endParaRPr sz="18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0.51</a:t>
                      </a:r>
                      <a:endParaRPr sz="18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9"/>
                  </a:ext>
                </a:extLst>
              </a:tr>
              <a:tr h="381000">
                <a:tc>
                  <a:txBody>
                    <a:bodyPr/>
                    <a:lstStyle/>
                    <a:p>
                      <a:pPr marL="0" lvl="0" indent="0" algn="l" rtl="0">
                        <a:spcBef>
                          <a:spcPts val="0"/>
                        </a:spcBef>
                        <a:spcAft>
                          <a:spcPts val="0"/>
                        </a:spcAft>
                        <a:buNone/>
                      </a:pPr>
                      <a:r>
                        <a:rPr lang="en-US" sz="1800"/>
                        <a:t>Elastic Net *)</a:t>
                      </a:r>
                      <a:endParaRPr sz="1800"/>
                    </a:p>
                  </a:txBody>
                  <a:tcPr marL="91425" marR="91425" marT="91425" marB="91425"/>
                </a:tc>
                <a:tc>
                  <a:txBody>
                    <a:bodyPr/>
                    <a:lstStyle/>
                    <a:p>
                      <a:pPr marL="0" lvl="0" indent="0" algn="ctr" rtl="0">
                        <a:spcBef>
                          <a:spcPts val="0"/>
                        </a:spcBef>
                        <a:spcAft>
                          <a:spcPts val="0"/>
                        </a:spcAft>
                        <a:buNone/>
                      </a:pPr>
                      <a:r>
                        <a:rPr lang="en-US" sz="1800"/>
                        <a:t>NA</a:t>
                      </a:r>
                      <a:endParaRPr sz="1800"/>
                    </a:p>
                  </a:txBody>
                  <a:tcPr marL="91425" marR="91425" marT="91425" marB="91425"/>
                </a:tc>
                <a:tc>
                  <a:txBody>
                    <a:bodyPr/>
                    <a:lstStyle/>
                    <a:p>
                      <a:pPr marL="0" lvl="0" indent="0" algn="ctr" rtl="0">
                        <a:spcBef>
                          <a:spcPts val="0"/>
                        </a:spcBef>
                        <a:spcAft>
                          <a:spcPts val="0"/>
                        </a:spcAft>
                        <a:buNone/>
                      </a:pPr>
                      <a:r>
                        <a:rPr lang="en-US" sz="1800"/>
                        <a:t>59</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0.76</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0.71</a:t>
                      </a:r>
                      <a:endParaRPr sz="18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1800">
                          <a:solidFill>
                            <a:schemeClr val="dk1"/>
                          </a:solidFill>
                        </a:rPr>
                        <a:t>0.52</a:t>
                      </a:r>
                      <a:endParaRPr sz="18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1800">
                          <a:solidFill>
                            <a:schemeClr val="dk1"/>
                          </a:solidFill>
                        </a:rPr>
                        <a:t>0.51</a:t>
                      </a:r>
                      <a:endParaRPr sz="180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10"/>
                  </a:ext>
                </a:extLst>
              </a:tr>
            </a:tbl>
          </a:graphicData>
        </a:graphic>
      </p:graphicFrame>
      <p:sp>
        <p:nvSpPr>
          <p:cNvPr id="290" name="Google Shape;290;p28"/>
          <p:cNvSpPr txBox="1"/>
          <p:nvPr/>
        </p:nvSpPr>
        <p:spPr>
          <a:xfrm>
            <a:off x="922050" y="5758650"/>
            <a:ext cx="103479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a:solidFill>
                  <a:srgbClr val="0C3512"/>
                </a:solidFill>
                <a:latin typeface="Noto Sans"/>
                <a:ea typeface="Noto Sans"/>
                <a:cs typeface="Noto Sans"/>
                <a:sym typeface="Noto Sans"/>
              </a:rPr>
              <a:t>*) Regularization introduces shrinkage bias in the estimates, violates the MLE property where direct interpretation becomes impossible</a:t>
            </a:r>
            <a:endParaRPr sz="1800">
              <a:solidFill>
                <a:srgbClr val="0C3512"/>
              </a:solidFill>
              <a:latin typeface="Noto Sans"/>
              <a:ea typeface="Noto Sans"/>
              <a:cs typeface="Noto Sans"/>
              <a:sym typeface="No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9"/>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b="1"/>
              <a:t>Modeling: GLM – Model Validation</a:t>
            </a:r>
            <a:endParaRPr b="1"/>
          </a:p>
        </p:txBody>
      </p:sp>
      <p:sp>
        <p:nvSpPr>
          <p:cNvPr id="296" name="Google Shape;296;p29"/>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pic>
        <p:nvPicPr>
          <p:cNvPr id="297" name="Google Shape;297;p29"/>
          <p:cNvPicPr preferRelativeResize="0"/>
          <p:nvPr/>
        </p:nvPicPr>
        <p:blipFill>
          <a:blip r:embed="rId3">
            <a:alphaModFix/>
          </a:blip>
          <a:stretch>
            <a:fillRect/>
          </a:stretch>
        </p:blipFill>
        <p:spPr>
          <a:xfrm>
            <a:off x="1343350" y="1076175"/>
            <a:ext cx="8546350" cy="5057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0"/>
          <p:cNvSpPr txBox="1">
            <a:spLocks noGrp="1"/>
          </p:cNvSpPr>
          <p:nvPr>
            <p:ph type="title"/>
          </p:nvPr>
        </p:nvSpPr>
        <p:spPr>
          <a:xfrm>
            <a:off x="4019909" y="64877"/>
            <a:ext cx="7333800" cy="765600"/>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b="1"/>
              <a:t>Modeling: GLM – Model Validation</a:t>
            </a:r>
            <a:endParaRPr b="1"/>
          </a:p>
        </p:txBody>
      </p:sp>
      <p:sp>
        <p:nvSpPr>
          <p:cNvPr id="303" name="Google Shape;303;p30"/>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pic>
        <p:nvPicPr>
          <p:cNvPr id="304" name="Google Shape;304;p30"/>
          <p:cNvPicPr preferRelativeResize="0"/>
          <p:nvPr/>
        </p:nvPicPr>
        <p:blipFill>
          <a:blip r:embed="rId3">
            <a:alphaModFix/>
          </a:blip>
          <a:stretch>
            <a:fillRect/>
          </a:stretch>
        </p:blipFill>
        <p:spPr>
          <a:xfrm>
            <a:off x="1254825" y="924150"/>
            <a:ext cx="9288799" cy="5478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1"/>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a:t>Model Evaluation</a:t>
            </a:r>
            <a:endParaRPr/>
          </a:p>
        </p:txBody>
      </p:sp>
      <p:sp>
        <p:nvSpPr>
          <p:cNvPr id="310" name="Google Shape;310;p31"/>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graphicFrame>
        <p:nvGraphicFramePr>
          <p:cNvPr id="311" name="Google Shape;311;p31"/>
          <p:cNvGraphicFramePr/>
          <p:nvPr/>
        </p:nvGraphicFramePr>
        <p:xfrm>
          <a:off x="1014963" y="1934100"/>
          <a:ext cx="10162075" cy="4149485"/>
        </p:xfrm>
        <a:graphic>
          <a:graphicData uri="http://schemas.openxmlformats.org/drawingml/2006/table">
            <a:tbl>
              <a:tblPr>
                <a:noFill/>
                <a:tableStyleId>{FC81F1B4-83E2-4D3B-8345-693ECB83A873}</a:tableStyleId>
              </a:tblPr>
              <a:tblGrid>
                <a:gridCol w="3315475">
                  <a:extLst>
                    <a:ext uri="{9D8B030D-6E8A-4147-A177-3AD203B41FA5}">
                      <a16:colId xmlns:a16="http://schemas.microsoft.com/office/drawing/2014/main" val="20000"/>
                    </a:ext>
                  </a:extLst>
                </a:gridCol>
                <a:gridCol w="2282200">
                  <a:extLst>
                    <a:ext uri="{9D8B030D-6E8A-4147-A177-3AD203B41FA5}">
                      <a16:colId xmlns:a16="http://schemas.microsoft.com/office/drawing/2014/main" val="20001"/>
                    </a:ext>
                  </a:extLst>
                </a:gridCol>
                <a:gridCol w="2282200">
                  <a:extLst>
                    <a:ext uri="{9D8B030D-6E8A-4147-A177-3AD203B41FA5}">
                      <a16:colId xmlns:a16="http://schemas.microsoft.com/office/drawing/2014/main" val="20002"/>
                    </a:ext>
                  </a:extLst>
                </a:gridCol>
                <a:gridCol w="2282200">
                  <a:extLst>
                    <a:ext uri="{9D8B030D-6E8A-4147-A177-3AD203B41FA5}">
                      <a16:colId xmlns:a16="http://schemas.microsoft.com/office/drawing/2014/main" val="20003"/>
                    </a:ext>
                  </a:extLst>
                </a:gridCol>
              </a:tblGrid>
              <a:tr h="450525">
                <a:tc>
                  <a:txBody>
                    <a:bodyPr/>
                    <a:lstStyle/>
                    <a:p>
                      <a:pPr marL="0" lvl="0" indent="0" algn="ctr" rtl="0">
                        <a:spcBef>
                          <a:spcPts val="0"/>
                        </a:spcBef>
                        <a:spcAft>
                          <a:spcPts val="0"/>
                        </a:spcAft>
                        <a:buNone/>
                      </a:pPr>
                      <a:r>
                        <a:rPr lang="en-US" sz="1800" b="1">
                          <a:solidFill>
                            <a:schemeClr val="lt1"/>
                          </a:solidFill>
                        </a:rPr>
                        <a:t>Model</a:t>
                      </a:r>
                      <a:endParaRPr sz="1800" b="1">
                        <a:solidFill>
                          <a:schemeClr val="lt1"/>
                        </a:solidFill>
                      </a:endParaRPr>
                    </a:p>
                  </a:txBody>
                  <a:tcPr marL="91425" marR="91425" marT="91425" marB="91425" anchor="ctr">
                    <a:solidFill>
                      <a:srgbClr val="0B3512"/>
                    </a:solidFill>
                  </a:tcPr>
                </a:tc>
                <a:tc>
                  <a:txBody>
                    <a:bodyPr/>
                    <a:lstStyle/>
                    <a:p>
                      <a:pPr marL="0" lvl="0" indent="0" algn="ctr" rtl="0">
                        <a:spcBef>
                          <a:spcPts val="0"/>
                        </a:spcBef>
                        <a:spcAft>
                          <a:spcPts val="0"/>
                        </a:spcAft>
                        <a:buNone/>
                      </a:pPr>
                      <a:r>
                        <a:rPr lang="en-US" sz="1800" b="1">
                          <a:solidFill>
                            <a:schemeClr val="lt1"/>
                          </a:solidFill>
                        </a:rPr>
                        <a:t>Test AUC</a:t>
                      </a:r>
                      <a:endParaRPr sz="1800" b="1">
                        <a:solidFill>
                          <a:schemeClr val="lt1"/>
                        </a:solidFill>
                      </a:endParaRPr>
                    </a:p>
                  </a:txBody>
                  <a:tcPr marL="91425" marR="91425" marT="91425" marB="91425" anchor="ctr">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Test Sensitivity</a:t>
                      </a:r>
                      <a:endParaRPr sz="1800" b="1">
                        <a:solidFill>
                          <a:schemeClr val="lt1"/>
                        </a:solidFill>
                      </a:endParaRPr>
                    </a:p>
                  </a:txBody>
                  <a:tcPr marL="91425" marR="91425" marT="91425" marB="91425" anchor="ctr">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Test F1</a:t>
                      </a:r>
                      <a:endParaRPr sz="1800" b="1">
                        <a:solidFill>
                          <a:schemeClr val="lt1"/>
                        </a:solidFill>
                      </a:endParaRPr>
                    </a:p>
                  </a:txBody>
                  <a:tcPr marL="91425" marR="91425" marT="91425" marB="91425" anchor="ctr">
                    <a:lnB w="9525" cap="flat" cmpd="sng">
                      <a:solidFill>
                        <a:srgbClr val="9E9E9E"/>
                      </a:solidFill>
                      <a:prstDash val="solid"/>
                      <a:round/>
                      <a:headEnd type="none" w="sm" len="sm"/>
                      <a:tailEnd type="none" w="sm" len="sm"/>
                    </a:lnB>
                    <a:solidFill>
                      <a:srgbClr val="0B3512"/>
                    </a:solidFill>
                  </a:tcPr>
                </a:tc>
                <a:extLst>
                  <a:ext uri="{0D108BD9-81ED-4DB2-BD59-A6C34878D82A}">
                    <a16:rowId xmlns:a16="http://schemas.microsoft.com/office/drawing/2014/main" val="10000"/>
                  </a:ext>
                </a:extLst>
              </a:tr>
              <a:tr h="579300">
                <a:tc>
                  <a:txBody>
                    <a:bodyPr/>
                    <a:lstStyle/>
                    <a:p>
                      <a:pPr marL="0" lvl="0" indent="0" algn="l" rtl="0">
                        <a:spcBef>
                          <a:spcPts val="0"/>
                        </a:spcBef>
                        <a:spcAft>
                          <a:spcPts val="0"/>
                        </a:spcAft>
                        <a:buNone/>
                      </a:pPr>
                      <a:r>
                        <a:rPr lang="en-US" sz="1800"/>
                        <a:t>Naive Model (Baseline)</a:t>
                      </a:r>
                      <a:endParaRPr sz="1800"/>
                    </a:p>
                  </a:txBody>
                  <a:tcPr marL="91425" marR="91425" marT="91425" marB="91425" anchor="ctr">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1800">
                          <a:latin typeface="Noto Sans"/>
                          <a:ea typeface="Noto Sans"/>
                          <a:cs typeface="Noto Sans"/>
                          <a:sym typeface="Noto Sans"/>
                        </a:rPr>
                        <a:t>0.65</a:t>
                      </a:r>
                      <a:endParaRPr sz="1800">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latin typeface="Noto Sans"/>
                          <a:ea typeface="Noto Sans"/>
                          <a:cs typeface="Noto Sans"/>
                          <a:sym typeface="Noto Sans"/>
                        </a:rPr>
                        <a:t>0.44</a:t>
                      </a:r>
                      <a:endParaRPr sz="1800">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latin typeface="Noto Sans"/>
                          <a:ea typeface="Noto Sans"/>
                          <a:cs typeface="Noto Sans"/>
                          <a:sym typeface="Noto Sans"/>
                        </a:rPr>
                        <a:t>0.41</a:t>
                      </a:r>
                      <a:endParaRPr sz="1800">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79300">
                <a:tc>
                  <a:txBody>
                    <a:bodyPr/>
                    <a:lstStyle/>
                    <a:p>
                      <a:pPr marL="0" lvl="0" indent="0" algn="l" rtl="0">
                        <a:spcBef>
                          <a:spcPts val="0"/>
                        </a:spcBef>
                        <a:spcAft>
                          <a:spcPts val="0"/>
                        </a:spcAft>
                        <a:buNone/>
                      </a:pPr>
                      <a:r>
                        <a:rPr lang="en-US" sz="1800" b="1">
                          <a:solidFill>
                            <a:srgbClr val="CC0000"/>
                          </a:solidFill>
                        </a:rPr>
                        <a:t>GLM (Untuned)</a:t>
                      </a:r>
                      <a:endParaRPr sz="1800" b="1">
                        <a:solidFill>
                          <a:srgbClr val="CC0000"/>
                        </a:solidFill>
                      </a:endParaRPr>
                    </a:p>
                  </a:txBody>
                  <a:tcPr marL="91425" marR="91425" marT="91425" marB="91425" anchor="ctr"/>
                </a:tc>
                <a:tc>
                  <a:txBody>
                    <a:bodyPr/>
                    <a:lstStyle/>
                    <a:p>
                      <a:pPr marL="0" lvl="0" indent="0" algn="ctr" rtl="0">
                        <a:spcBef>
                          <a:spcPts val="0"/>
                        </a:spcBef>
                        <a:spcAft>
                          <a:spcPts val="0"/>
                        </a:spcAft>
                        <a:buNone/>
                      </a:pPr>
                      <a:r>
                        <a:rPr lang="en-US" sz="1800" b="1">
                          <a:solidFill>
                            <a:srgbClr val="CC0000"/>
                          </a:solidFill>
                        </a:rPr>
                        <a:t>0.72</a:t>
                      </a:r>
                      <a:endParaRPr sz="1800" b="1">
                        <a:solidFill>
                          <a:srgbClr val="CC0000"/>
                        </a:solidFill>
                      </a:endParaRPr>
                    </a:p>
                  </a:txBody>
                  <a:tcPr marL="91425" marR="91425" marT="91425" marB="91425" anchor="ct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a:solidFill>
                            <a:srgbClr val="CC0000"/>
                          </a:solidFill>
                        </a:rPr>
                        <a:t>0.63</a:t>
                      </a:r>
                      <a:endParaRPr sz="1800" b="1">
                        <a:solidFill>
                          <a:srgbClr val="CC0000"/>
                        </a:solidFill>
                      </a:endParaRPr>
                    </a:p>
                  </a:txBody>
                  <a:tcPr marL="91425" marR="91425" marT="91425" marB="91425" anchor="ct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a:solidFill>
                            <a:srgbClr val="CC0000"/>
                          </a:solidFill>
                        </a:rPr>
                        <a:t>0.47</a:t>
                      </a:r>
                      <a:endParaRPr sz="1800" b="1">
                        <a:solidFill>
                          <a:srgbClr val="CC0000"/>
                        </a:solidFill>
                      </a:endParaRPr>
                    </a:p>
                  </a:txBody>
                  <a:tcPr marL="91425" marR="91425" marT="91425" marB="91425" anchor="ct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79300">
                <a:tc>
                  <a:txBody>
                    <a:bodyPr/>
                    <a:lstStyle/>
                    <a:p>
                      <a:pPr marL="0" lvl="0" indent="0" algn="l" rtl="0">
                        <a:spcBef>
                          <a:spcPts val="0"/>
                        </a:spcBef>
                        <a:spcAft>
                          <a:spcPts val="0"/>
                        </a:spcAft>
                        <a:buNone/>
                      </a:pPr>
                      <a:r>
                        <a:rPr lang="en-US" sz="1800" b="1"/>
                        <a:t>GLM (BIC Forward)</a:t>
                      </a:r>
                      <a:endParaRPr sz="1800" b="1"/>
                    </a:p>
                  </a:txBody>
                  <a:tcPr marL="91425" marR="91425" marT="91425" marB="91425" anchor="ctr"/>
                </a:tc>
                <a:tc>
                  <a:txBody>
                    <a:bodyPr/>
                    <a:lstStyle/>
                    <a:p>
                      <a:pPr marL="0" lvl="0" indent="0" algn="ctr" rtl="0">
                        <a:spcBef>
                          <a:spcPts val="0"/>
                        </a:spcBef>
                        <a:spcAft>
                          <a:spcPts val="0"/>
                        </a:spcAft>
                        <a:buNone/>
                      </a:pPr>
                      <a:r>
                        <a:rPr lang="en-US" sz="1800" b="1"/>
                        <a:t>0.76</a:t>
                      </a:r>
                      <a:endParaRPr sz="1800" b="1"/>
                    </a:p>
                  </a:txBody>
                  <a:tcPr marL="91425" marR="91425" marT="91425" marB="91425" anchor="ct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a:t>0.70</a:t>
                      </a:r>
                      <a:endParaRPr sz="1800" b="1"/>
                    </a:p>
                  </a:txBody>
                  <a:tcPr marL="91425" marR="91425" marT="91425" marB="91425" anchor="ct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a:t>0.51</a:t>
                      </a:r>
                      <a:endParaRPr sz="1800" b="1"/>
                    </a:p>
                  </a:txBody>
                  <a:tcPr marL="91425" marR="91425" marT="91425" marB="91425" anchor="ct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43625">
                <a:tc>
                  <a:txBody>
                    <a:bodyPr/>
                    <a:lstStyle/>
                    <a:p>
                      <a:pPr marL="0" lvl="0" indent="0" algn="l" rtl="0">
                        <a:spcBef>
                          <a:spcPts val="0"/>
                        </a:spcBef>
                        <a:spcAft>
                          <a:spcPts val="0"/>
                        </a:spcAft>
                        <a:buNone/>
                      </a:pPr>
                      <a:r>
                        <a:rPr lang="en-US" sz="1800"/>
                        <a:t>Boosting Ensemble (XGBoost)</a:t>
                      </a:r>
                      <a:endParaRPr sz="1800"/>
                    </a:p>
                  </a:txBody>
                  <a:tcPr marL="91425" marR="91425" marT="91425" marB="91425" anchor="ctr">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1800">
                          <a:latin typeface="Noto Sans"/>
                          <a:ea typeface="Noto Sans"/>
                          <a:cs typeface="Noto Sans"/>
                          <a:sym typeface="Noto Sans"/>
                        </a:rPr>
                        <a:t>0.77</a:t>
                      </a:r>
                      <a:endParaRPr sz="1800">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latin typeface="Noto Sans"/>
                          <a:ea typeface="Noto Sans"/>
                          <a:cs typeface="Noto Sans"/>
                          <a:sym typeface="Noto Sans"/>
                        </a:rPr>
                        <a:t>0.69</a:t>
                      </a:r>
                      <a:endParaRPr sz="1800">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latin typeface="Noto Sans"/>
                          <a:ea typeface="Noto Sans"/>
                          <a:cs typeface="Noto Sans"/>
                          <a:sym typeface="Noto Sans"/>
                        </a:rPr>
                        <a:t>0.52</a:t>
                      </a:r>
                      <a:endParaRPr sz="1800">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643625">
                <a:tc>
                  <a:txBody>
                    <a:bodyPr/>
                    <a:lstStyle/>
                    <a:p>
                      <a:pPr marL="0" lvl="0" indent="0" algn="l" rtl="0">
                        <a:spcBef>
                          <a:spcPts val="0"/>
                        </a:spcBef>
                        <a:spcAft>
                          <a:spcPts val="0"/>
                        </a:spcAft>
                        <a:buNone/>
                      </a:pPr>
                      <a:r>
                        <a:rPr lang="en-US" sz="1800"/>
                        <a:t>Stacking Ensemble</a:t>
                      </a:r>
                      <a:endParaRPr sz="1800"/>
                    </a:p>
                    <a:p>
                      <a:pPr marL="0" lvl="0" indent="0" algn="l" rtl="0">
                        <a:spcBef>
                          <a:spcPts val="0"/>
                        </a:spcBef>
                        <a:spcAft>
                          <a:spcPts val="0"/>
                        </a:spcAft>
                        <a:buNone/>
                      </a:pPr>
                      <a:r>
                        <a:rPr lang="en-US" sz="1800"/>
                        <a:t>(RF+LightGBM+SVM)</a:t>
                      </a:r>
                      <a:endParaRPr sz="1800"/>
                    </a:p>
                  </a:txBody>
                  <a:tcPr marL="91425" marR="91425" marT="91425" marB="91425" anchor="ctr">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sz="1800">
                          <a:latin typeface="Noto Sans"/>
                          <a:ea typeface="Noto Sans"/>
                          <a:cs typeface="Noto Sans"/>
                          <a:sym typeface="Noto Sans"/>
                        </a:rPr>
                        <a:t>0.77</a:t>
                      </a:r>
                      <a:endParaRPr sz="1800">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latin typeface="Noto Sans"/>
                          <a:ea typeface="Noto Sans"/>
                          <a:cs typeface="Noto Sans"/>
                          <a:sym typeface="Noto Sans"/>
                        </a:rPr>
                        <a:t>0.70</a:t>
                      </a:r>
                      <a:endParaRPr sz="1800">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latin typeface="Noto Sans"/>
                          <a:ea typeface="Noto Sans"/>
                          <a:cs typeface="Noto Sans"/>
                          <a:sym typeface="Noto Sans"/>
                        </a:rPr>
                        <a:t>0.51</a:t>
                      </a:r>
                      <a:endParaRPr sz="1800">
                        <a:latin typeface="Noto Sans"/>
                        <a:ea typeface="Noto Sans"/>
                        <a:cs typeface="Noto Sans"/>
                        <a:sym typeface="Noto Sans"/>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579300">
                <a:tc>
                  <a:txBody>
                    <a:bodyPr/>
                    <a:lstStyle/>
                    <a:p>
                      <a:pPr marL="0" lvl="0" indent="0" algn="l" rtl="0">
                        <a:spcBef>
                          <a:spcPts val="0"/>
                        </a:spcBef>
                        <a:spcAft>
                          <a:spcPts val="0"/>
                        </a:spcAft>
                        <a:buNone/>
                      </a:pPr>
                      <a:r>
                        <a:rPr lang="en-US" sz="1800"/>
                        <a:t>Neural Net (MLP)</a:t>
                      </a:r>
                      <a:endParaRPr sz="1800"/>
                    </a:p>
                  </a:txBody>
                  <a:tcPr marL="91425" marR="91425" marT="91425" marB="91425" anchor="ctr"/>
                </a:tc>
                <a:tc>
                  <a:txBody>
                    <a:bodyPr/>
                    <a:lstStyle/>
                    <a:p>
                      <a:pPr marL="0" lvl="0" indent="0" algn="ctr" rtl="0">
                        <a:spcBef>
                          <a:spcPts val="0"/>
                        </a:spcBef>
                        <a:spcAft>
                          <a:spcPts val="0"/>
                        </a:spcAft>
                        <a:buNone/>
                      </a:pPr>
                      <a:r>
                        <a:rPr lang="en-US" sz="1800"/>
                        <a:t>0.69</a:t>
                      </a:r>
                      <a:endParaRPr sz="1800"/>
                    </a:p>
                  </a:txBody>
                  <a:tcPr marL="91425" marR="91425" marT="91425" marB="91425" anchor="ct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1800"/>
                        <a:t>0.63</a:t>
                      </a:r>
                      <a:endParaRPr sz="1800"/>
                    </a:p>
                  </a:txBody>
                  <a:tcPr marL="91425" marR="91425" marT="91425" marB="91425" anchor="ct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1800"/>
                        <a:t>0.47</a:t>
                      </a:r>
                      <a:endParaRPr sz="1800"/>
                    </a:p>
                  </a:txBody>
                  <a:tcPr marL="91425" marR="91425" marT="91425" marB="91425" anchor="ctr">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6"/>
                  </a:ext>
                </a:extLst>
              </a:tr>
            </a:tbl>
          </a:graphicData>
        </a:graphic>
      </p:graphicFrame>
      <p:grpSp>
        <p:nvGrpSpPr>
          <p:cNvPr id="312" name="Google Shape;312;p31"/>
          <p:cNvGrpSpPr/>
          <p:nvPr/>
        </p:nvGrpSpPr>
        <p:grpSpPr>
          <a:xfrm>
            <a:off x="406550" y="994175"/>
            <a:ext cx="3924300" cy="514350"/>
            <a:chOff x="7462050" y="7632500"/>
            <a:chExt cx="3924300" cy="514350"/>
          </a:xfrm>
        </p:grpSpPr>
        <p:pic>
          <p:nvPicPr>
            <p:cNvPr id="313" name="Google Shape;313;p31"/>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314" name="Google Shape;314;p31"/>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315" name="Google Shape;315;p31"/>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rPr>
                <a:t>Performance</a:t>
              </a:r>
              <a:endParaRPr sz="1800" b="1">
                <a:solidFill>
                  <a:srgbClr val="0B3512"/>
                </a:solidFil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2"/>
          <p:cNvSpPr txBox="1">
            <a:spLocks noGrp="1"/>
          </p:cNvSpPr>
          <p:nvPr>
            <p:ph type="title"/>
          </p:nvPr>
        </p:nvSpPr>
        <p:spPr>
          <a:xfrm>
            <a:off x="4019909" y="64877"/>
            <a:ext cx="7333800" cy="765600"/>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a:t>Model Evaluation</a:t>
            </a:r>
            <a:endParaRPr b="1"/>
          </a:p>
        </p:txBody>
      </p:sp>
      <p:sp>
        <p:nvSpPr>
          <p:cNvPr id="321" name="Google Shape;321;p32"/>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graphicFrame>
        <p:nvGraphicFramePr>
          <p:cNvPr id="322" name="Google Shape;322;p32"/>
          <p:cNvGraphicFramePr/>
          <p:nvPr/>
        </p:nvGraphicFramePr>
        <p:xfrm>
          <a:off x="1637675" y="1900338"/>
          <a:ext cx="8916650" cy="3200190"/>
        </p:xfrm>
        <a:graphic>
          <a:graphicData uri="http://schemas.openxmlformats.org/drawingml/2006/table">
            <a:tbl>
              <a:tblPr>
                <a:noFill/>
                <a:tableStyleId>{FC81F1B4-83E2-4D3B-8345-693ECB83A873}</a:tableStyleId>
              </a:tblPr>
              <a:tblGrid>
                <a:gridCol w="2512925">
                  <a:extLst>
                    <a:ext uri="{9D8B030D-6E8A-4147-A177-3AD203B41FA5}">
                      <a16:colId xmlns:a16="http://schemas.microsoft.com/office/drawing/2014/main" val="20000"/>
                    </a:ext>
                  </a:extLst>
                </a:gridCol>
                <a:gridCol w="2134575">
                  <a:extLst>
                    <a:ext uri="{9D8B030D-6E8A-4147-A177-3AD203B41FA5}">
                      <a16:colId xmlns:a16="http://schemas.microsoft.com/office/drawing/2014/main" val="20001"/>
                    </a:ext>
                  </a:extLst>
                </a:gridCol>
                <a:gridCol w="2134575">
                  <a:extLst>
                    <a:ext uri="{9D8B030D-6E8A-4147-A177-3AD203B41FA5}">
                      <a16:colId xmlns:a16="http://schemas.microsoft.com/office/drawing/2014/main" val="20002"/>
                    </a:ext>
                  </a:extLst>
                </a:gridCol>
                <a:gridCol w="2134575">
                  <a:extLst>
                    <a:ext uri="{9D8B030D-6E8A-4147-A177-3AD203B41FA5}">
                      <a16:colId xmlns:a16="http://schemas.microsoft.com/office/drawing/2014/main" val="20003"/>
                    </a:ext>
                  </a:extLst>
                </a:gridCol>
              </a:tblGrid>
              <a:tr h="0">
                <a:tc>
                  <a:txBody>
                    <a:bodyPr/>
                    <a:lstStyle/>
                    <a:p>
                      <a:pPr marL="0" lvl="0" indent="0" algn="ctr" rtl="0">
                        <a:spcBef>
                          <a:spcPts val="0"/>
                        </a:spcBef>
                        <a:spcAft>
                          <a:spcPts val="0"/>
                        </a:spcAft>
                        <a:buNone/>
                      </a:pPr>
                      <a:r>
                        <a:rPr lang="en-US" sz="1800" b="1">
                          <a:solidFill>
                            <a:schemeClr val="lt1"/>
                          </a:solidFill>
                        </a:rPr>
                        <a:t>Fold</a:t>
                      </a:r>
                      <a:endParaRPr sz="18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Sensitivity</a:t>
                      </a:r>
                      <a:endParaRPr sz="18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F1</a:t>
                      </a:r>
                      <a:endParaRPr sz="18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AUC</a:t>
                      </a:r>
                      <a:endParaRPr sz="18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US" sz="1800"/>
                        <a:t>1</a:t>
                      </a:r>
                      <a:endParaRPr sz="1800"/>
                    </a:p>
                  </a:txBody>
                  <a:tcPr marL="91425" marR="91425" marT="91425" marB="91425" anchor="ct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0.70</a:t>
                      </a:r>
                      <a:endParaRPr sz="1800"/>
                    </a:p>
                  </a:txBody>
                  <a:tcPr marL="91425" marR="91425" marT="91425" marB="91425" anchor="ct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1800"/>
                        <a:t>0.52</a:t>
                      </a:r>
                      <a:endParaRPr sz="1800"/>
                    </a:p>
                  </a:txBody>
                  <a:tcPr marL="91425" marR="91425" marT="91425" marB="91425" anchor="ct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1800"/>
                        <a:t>0.76</a:t>
                      </a:r>
                      <a:endParaRPr sz="1800"/>
                    </a:p>
                  </a:txBody>
                  <a:tcPr marL="91425" marR="91425" marT="91425" marB="91425" anchor="ctr">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US" sz="1800"/>
                        <a:t>2</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0.67</a:t>
                      </a:r>
                      <a:endParaRPr sz="1800"/>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a:t>0.48</a:t>
                      </a:r>
                      <a:endParaRPr sz="1800"/>
                    </a:p>
                  </a:txBody>
                  <a:tcPr marL="91425" marR="91425" marT="91425" marB="91425" anchor="ctr"/>
                </a:tc>
                <a:tc>
                  <a:txBody>
                    <a:bodyPr/>
                    <a:lstStyle/>
                    <a:p>
                      <a:pPr marL="0" lvl="0" indent="0" algn="ctr" rtl="0">
                        <a:spcBef>
                          <a:spcPts val="0"/>
                        </a:spcBef>
                        <a:spcAft>
                          <a:spcPts val="0"/>
                        </a:spcAft>
                        <a:buNone/>
                      </a:pPr>
                      <a:r>
                        <a:rPr lang="en-US" sz="1800"/>
                        <a:t>0.77</a:t>
                      </a:r>
                      <a:endParaRPr sz="1800"/>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US" sz="1800"/>
                        <a:t>3</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0.66</a:t>
                      </a:r>
                      <a:endParaRPr sz="1800"/>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a:t>0.50</a:t>
                      </a:r>
                      <a:endParaRPr sz="1800"/>
                    </a:p>
                  </a:txBody>
                  <a:tcPr marL="91425" marR="91425" marT="91425" marB="91425" anchor="ctr"/>
                </a:tc>
                <a:tc>
                  <a:txBody>
                    <a:bodyPr/>
                    <a:lstStyle/>
                    <a:p>
                      <a:pPr marL="0" lvl="0" indent="0" algn="ctr" rtl="0">
                        <a:spcBef>
                          <a:spcPts val="0"/>
                        </a:spcBef>
                        <a:spcAft>
                          <a:spcPts val="0"/>
                        </a:spcAft>
                        <a:buNone/>
                      </a:pPr>
                      <a:r>
                        <a:rPr lang="en-US" sz="1800"/>
                        <a:t>0.76</a:t>
                      </a:r>
                      <a:endParaRPr sz="1800"/>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US" sz="1800"/>
                        <a:t>4</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0.71</a:t>
                      </a:r>
                      <a:endParaRPr sz="1800"/>
                    </a:p>
                  </a:txBody>
                  <a:tcPr marL="91425" marR="91425" marT="91425" marB="91425" anchor="ctr">
                    <a:lnL w="9525" cap="flat" cmpd="sng">
                      <a:solidFill>
                        <a:srgbClr val="9E9E9E"/>
                      </a:solidFill>
                      <a:prstDash val="solid"/>
                      <a:round/>
                      <a:headEnd type="none" w="sm" len="sm"/>
                      <a:tailEnd type="none" w="sm" len="sm"/>
                    </a:lnL>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0.52</a:t>
                      </a:r>
                      <a:endParaRPr sz="1800"/>
                    </a:p>
                  </a:txBody>
                  <a:tcPr marL="91425" marR="91425" marT="91425" marB="91425" anchor="ct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0.77</a:t>
                      </a:r>
                      <a:endParaRPr sz="1800"/>
                    </a:p>
                  </a:txBody>
                  <a:tcPr marL="91425" marR="91425" marT="91425" marB="91425" anchor="ctr">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US" sz="1800"/>
                        <a:t>5</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0.70</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0.51</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0.77</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US" sz="1800" b="1"/>
                        <a:t>Average ± SD</a:t>
                      </a:r>
                      <a:endParaRPr sz="18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a:t>0.69 ± 0.02</a:t>
                      </a:r>
                      <a:endParaRPr sz="18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a:t>0.51 ± 0.01</a:t>
                      </a:r>
                      <a:endParaRPr sz="18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a:t>0.77 ± 0.01</a:t>
                      </a:r>
                      <a:endParaRPr sz="18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pSp>
        <p:nvGrpSpPr>
          <p:cNvPr id="323" name="Google Shape;323;p32"/>
          <p:cNvGrpSpPr/>
          <p:nvPr/>
        </p:nvGrpSpPr>
        <p:grpSpPr>
          <a:xfrm>
            <a:off x="406550" y="994175"/>
            <a:ext cx="3924300" cy="514350"/>
            <a:chOff x="7462050" y="7632500"/>
            <a:chExt cx="3924300" cy="514350"/>
          </a:xfrm>
        </p:grpSpPr>
        <p:pic>
          <p:nvPicPr>
            <p:cNvPr id="324" name="Google Shape;324;p32"/>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325" name="Google Shape;325;p32"/>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326" name="Google Shape;326;p32"/>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K-Fold Cross Validation</a:t>
              </a:r>
              <a:endParaRPr sz="1800" b="1">
                <a:solidFill>
                  <a:srgbClr val="0B3512"/>
                </a:solidFill>
                <a:latin typeface="Noto Sans"/>
                <a:ea typeface="Noto Sans"/>
                <a:cs typeface="Noto Sans"/>
                <a:sym typeface="Noto Sans"/>
              </a:endParaRPr>
            </a:p>
          </p:txBody>
        </p:sp>
      </p:grpSp>
      <p:graphicFrame>
        <p:nvGraphicFramePr>
          <p:cNvPr id="327" name="Google Shape;327;p32"/>
          <p:cNvGraphicFramePr/>
          <p:nvPr/>
        </p:nvGraphicFramePr>
        <p:xfrm>
          <a:off x="1637675" y="5312525"/>
          <a:ext cx="8916650" cy="914340"/>
        </p:xfrm>
        <a:graphic>
          <a:graphicData uri="http://schemas.openxmlformats.org/drawingml/2006/table">
            <a:tbl>
              <a:tblPr>
                <a:noFill/>
                <a:tableStyleId>{FC81F1B4-83E2-4D3B-8345-693ECB83A873}</a:tableStyleId>
              </a:tblPr>
              <a:tblGrid>
                <a:gridCol w="2512925">
                  <a:extLst>
                    <a:ext uri="{9D8B030D-6E8A-4147-A177-3AD203B41FA5}">
                      <a16:colId xmlns:a16="http://schemas.microsoft.com/office/drawing/2014/main" val="20000"/>
                    </a:ext>
                  </a:extLst>
                </a:gridCol>
                <a:gridCol w="2134575">
                  <a:extLst>
                    <a:ext uri="{9D8B030D-6E8A-4147-A177-3AD203B41FA5}">
                      <a16:colId xmlns:a16="http://schemas.microsoft.com/office/drawing/2014/main" val="20001"/>
                    </a:ext>
                  </a:extLst>
                </a:gridCol>
                <a:gridCol w="2134575">
                  <a:extLst>
                    <a:ext uri="{9D8B030D-6E8A-4147-A177-3AD203B41FA5}">
                      <a16:colId xmlns:a16="http://schemas.microsoft.com/office/drawing/2014/main" val="20002"/>
                    </a:ext>
                  </a:extLst>
                </a:gridCol>
                <a:gridCol w="2134575">
                  <a:extLst>
                    <a:ext uri="{9D8B030D-6E8A-4147-A177-3AD203B41FA5}">
                      <a16:colId xmlns:a16="http://schemas.microsoft.com/office/drawing/2014/main" val="20003"/>
                    </a:ext>
                  </a:extLst>
                </a:gridCol>
              </a:tblGrid>
              <a:tr h="0">
                <a:tc>
                  <a:txBody>
                    <a:bodyPr/>
                    <a:lstStyle/>
                    <a:p>
                      <a:pPr marL="0" lvl="0" indent="0" algn="ctr" rtl="0">
                        <a:spcBef>
                          <a:spcPts val="0"/>
                        </a:spcBef>
                        <a:spcAft>
                          <a:spcPts val="0"/>
                        </a:spcAft>
                        <a:buNone/>
                      </a:pPr>
                      <a:r>
                        <a:rPr lang="en-US" sz="1800"/>
                        <a:t>Train Data</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0.69</a:t>
                      </a:r>
                      <a:endParaRPr sz="1800"/>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a:t>0.51</a:t>
                      </a:r>
                      <a:endParaRPr sz="1800"/>
                    </a:p>
                  </a:txBody>
                  <a:tcPr marL="91425" marR="91425" marT="91425" marB="91425" anchor="ctr"/>
                </a:tc>
                <a:tc>
                  <a:txBody>
                    <a:bodyPr/>
                    <a:lstStyle/>
                    <a:p>
                      <a:pPr marL="0" lvl="0" indent="0" algn="ctr" rtl="0">
                        <a:spcBef>
                          <a:spcPts val="0"/>
                        </a:spcBef>
                        <a:spcAft>
                          <a:spcPts val="0"/>
                        </a:spcAft>
                        <a:buNone/>
                      </a:pPr>
                      <a:r>
                        <a:rPr lang="en-US" sz="1800"/>
                        <a:t>0.77</a:t>
                      </a:r>
                      <a:endParaRPr sz="1800"/>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US" sz="1800"/>
                        <a:t>Test Data</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0.70</a:t>
                      </a:r>
                      <a:endParaRPr sz="1800"/>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a:t>0.51</a:t>
                      </a:r>
                      <a:endParaRPr sz="1800"/>
                    </a:p>
                  </a:txBody>
                  <a:tcPr marL="91425" marR="91425" marT="91425" marB="91425" anchor="ctr"/>
                </a:tc>
                <a:tc>
                  <a:txBody>
                    <a:bodyPr/>
                    <a:lstStyle/>
                    <a:p>
                      <a:pPr marL="0" lvl="0" indent="0" algn="ctr" rtl="0">
                        <a:spcBef>
                          <a:spcPts val="0"/>
                        </a:spcBef>
                        <a:spcAft>
                          <a:spcPts val="0"/>
                        </a:spcAft>
                        <a:buNone/>
                      </a:pPr>
                      <a:r>
                        <a:rPr lang="en-US" sz="1800"/>
                        <a:t>0.76</a:t>
                      </a:r>
                      <a:endParaRPr sz="1800"/>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3"/>
          <p:cNvSpPr txBox="1">
            <a:spLocks noGrp="1"/>
          </p:cNvSpPr>
          <p:nvPr>
            <p:ph type="title"/>
          </p:nvPr>
        </p:nvSpPr>
        <p:spPr>
          <a:xfrm>
            <a:off x="4019909" y="64877"/>
            <a:ext cx="7333800" cy="765600"/>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a:t>Model Evaluation</a:t>
            </a:r>
            <a:endParaRPr b="1"/>
          </a:p>
        </p:txBody>
      </p:sp>
      <p:sp>
        <p:nvSpPr>
          <p:cNvPr id="333" name="Google Shape;333;p33"/>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graphicFrame>
        <p:nvGraphicFramePr>
          <p:cNvPr id="334" name="Google Shape;334;p33"/>
          <p:cNvGraphicFramePr/>
          <p:nvPr/>
        </p:nvGraphicFramePr>
        <p:xfrm>
          <a:off x="1637675" y="1519825"/>
          <a:ext cx="8916650" cy="4910750"/>
        </p:xfrm>
        <a:graphic>
          <a:graphicData uri="http://schemas.openxmlformats.org/drawingml/2006/table">
            <a:tbl>
              <a:tblPr>
                <a:noFill/>
                <a:tableStyleId>{FC81F1B4-83E2-4D3B-8345-693ECB83A873}</a:tableStyleId>
              </a:tblPr>
              <a:tblGrid>
                <a:gridCol w="2512925">
                  <a:extLst>
                    <a:ext uri="{9D8B030D-6E8A-4147-A177-3AD203B41FA5}">
                      <a16:colId xmlns:a16="http://schemas.microsoft.com/office/drawing/2014/main" val="20000"/>
                    </a:ext>
                  </a:extLst>
                </a:gridCol>
                <a:gridCol w="2134575">
                  <a:extLst>
                    <a:ext uri="{9D8B030D-6E8A-4147-A177-3AD203B41FA5}">
                      <a16:colId xmlns:a16="http://schemas.microsoft.com/office/drawing/2014/main" val="20001"/>
                    </a:ext>
                  </a:extLst>
                </a:gridCol>
                <a:gridCol w="2134575">
                  <a:extLst>
                    <a:ext uri="{9D8B030D-6E8A-4147-A177-3AD203B41FA5}">
                      <a16:colId xmlns:a16="http://schemas.microsoft.com/office/drawing/2014/main" val="20002"/>
                    </a:ext>
                  </a:extLst>
                </a:gridCol>
                <a:gridCol w="2134575">
                  <a:extLst>
                    <a:ext uri="{9D8B030D-6E8A-4147-A177-3AD203B41FA5}">
                      <a16:colId xmlns:a16="http://schemas.microsoft.com/office/drawing/2014/main" val="20003"/>
                    </a:ext>
                  </a:extLst>
                </a:gridCol>
              </a:tblGrid>
              <a:tr h="491075">
                <a:tc>
                  <a:txBody>
                    <a:bodyPr/>
                    <a:lstStyle/>
                    <a:p>
                      <a:pPr marL="0" lvl="0" indent="0" algn="ctr" rtl="0">
                        <a:spcBef>
                          <a:spcPts val="0"/>
                        </a:spcBef>
                        <a:spcAft>
                          <a:spcPts val="0"/>
                        </a:spcAft>
                        <a:buNone/>
                      </a:pPr>
                      <a:r>
                        <a:rPr lang="en-US" sz="1800" b="1">
                          <a:solidFill>
                            <a:schemeClr val="lt1"/>
                          </a:solidFill>
                        </a:rPr>
                        <a:t>Threshold</a:t>
                      </a:r>
                      <a:endParaRPr sz="18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Precision</a:t>
                      </a:r>
                      <a:endParaRPr sz="18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Sensitivity</a:t>
                      </a:r>
                      <a:endParaRPr sz="18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tc>
                  <a:txBody>
                    <a:bodyPr/>
                    <a:lstStyle/>
                    <a:p>
                      <a:pPr marL="0" lvl="0" indent="0" algn="ctr" rtl="0">
                        <a:spcBef>
                          <a:spcPts val="0"/>
                        </a:spcBef>
                        <a:spcAft>
                          <a:spcPts val="0"/>
                        </a:spcAft>
                        <a:buNone/>
                      </a:pPr>
                      <a:r>
                        <a:rPr lang="en-US" sz="1800" b="1">
                          <a:solidFill>
                            <a:schemeClr val="lt1"/>
                          </a:solidFill>
                        </a:rPr>
                        <a:t>F1</a:t>
                      </a:r>
                      <a:endParaRPr sz="18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B3512"/>
                    </a:solidFill>
                  </a:tcPr>
                </a:tc>
                <a:extLst>
                  <a:ext uri="{0D108BD9-81ED-4DB2-BD59-A6C34878D82A}">
                    <a16:rowId xmlns:a16="http://schemas.microsoft.com/office/drawing/2014/main" val="10000"/>
                  </a:ext>
                </a:extLst>
              </a:tr>
              <a:tr h="491075">
                <a:tc>
                  <a:txBody>
                    <a:bodyPr/>
                    <a:lstStyle/>
                    <a:p>
                      <a:pPr marL="0" lvl="0" indent="0" algn="ctr" rtl="0">
                        <a:spcBef>
                          <a:spcPts val="0"/>
                        </a:spcBef>
                        <a:spcAft>
                          <a:spcPts val="0"/>
                        </a:spcAft>
                        <a:buNone/>
                      </a:pPr>
                      <a:r>
                        <a:rPr lang="en-US" sz="1800"/>
                        <a:t>0.20</a:t>
                      </a:r>
                      <a:endParaRPr sz="1800"/>
                    </a:p>
                  </a:txBody>
                  <a:tcPr marL="91425" marR="91425" marT="91425" marB="91425" anchor="ct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0.25</a:t>
                      </a:r>
                      <a:endParaRPr sz="1800"/>
                    </a:p>
                  </a:txBody>
                  <a:tcPr marL="91425" marR="91425" marT="91425" marB="91425" anchor="ct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1800"/>
                        <a:t>0.98</a:t>
                      </a:r>
                      <a:endParaRPr sz="1800"/>
                    </a:p>
                  </a:txBody>
                  <a:tcPr marL="91425" marR="91425" marT="91425" marB="91425" anchor="ct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1800"/>
                        <a:t>0.40</a:t>
                      </a:r>
                      <a:endParaRPr sz="1800"/>
                    </a:p>
                  </a:txBody>
                  <a:tcPr marL="91425" marR="91425" marT="91425" marB="91425" anchor="ctr">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r h="491075">
                <a:tc>
                  <a:txBody>
                    <a:bodyPr/>
                    <a:lstStyle/>
                    <a:p>
                      <a:pPr marL="0" lvl="0" indent="0" algn="ctr" rtl="0">
                        <a:spcBef>
                          <a:spcPts val="0"/>
                        </a:spcBef>
                        <a:spcAft>
                          <a:spcPts val="0"/>
                        </a:spcAft>
                        <a:buNone/>
                      </a:pPr>
                      <a:r>
                        <a:rPr lang="en-US" sz="1800"/>
                        <a:t>0.25</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0.27</a:t>
                      </a:r>
                      <a:endParaRPr sz="1800"/>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a:t>0.94</a:t>
                      </a:r>
                      <a:endParaRPr sz="1800"/>
                    </a:p>
                  </a:txBody>
                  <a:tcPr marL="91425" marR="91425" marT="91425" marB="91425" anchor="ctr"/>
                </a:tc>
                <a:tc>
                  <a:txBody>
                    <a:bodyPr/>
                    <a:lstStyle/>
                    <a:p>
                      <a:pPr marL="0" lvl="0" indent="0" algn="ctr" rtl="0">
                        <a:spcBef>
                          <a:spcPts val="0"/>
                        </a:spcBef>
                        <a:spcAft>
                          <a:spcPts val="0"/>
                        </a:spcAft>
                        <a:buNone/>
                      </a:pPr>
                      <a:r>
                        <a:rPr lang="en-US" sz="1800"/>
                        <a:t>0.42</a:t>
                      </a:r>
                      <a:endParaRPr sz="1800"/>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2"/>
                  </a:ext>
                </a:extLst>
              </a:tr>
              <a:tr h="491075">
                <a:tc>
                  <a:txBody>
                    <a:bodyPr/>
                    <a:lstStyle/>
                    <a:p>
                      <a:pPr marL="0" lvl="0" indent="0" algn="ctr" rtl="0">
                        <a:spcBef>
                          <a:spcPts val="0"/>
                        </a:spcBef>
                        <a:spcAft>
                          <a:spcPts val="0"/>
                        </a:spcAft>
                        <a:buNone/>
                      </a:pPr>
                      <a:r>
                        <a:rPr lang="en-US" sz="1800"/>
                        <a:t>0.30</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0.29</a:t>
                      </a:r>
                      <a:endParaRPr sz="1800"/>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a:t>0.89</a:t>
                      </a:r>
                      <a:endParaRPr sz="1800"/>
                    </a:p>
                  </a:txBody>
                  <a:tcPr marL="91425" marR="91425" marT="91425" marB="91425" anchor="ctr"/>
                </a:tc>
                <a:tc>
                  <a:txBody>
                    <a:bodyPr/>
                    <a:lstStyle/>
                    <a:p>
                      <a:pPr marL="0" lvl="0" indent="0" algn="ctr" rtl="0">
                        <a:spcBef>
                          <a:spcPts val="0"/>
                        </a:spcBef>
                        <a:spcAft>
                          <a:spcPts val="0"/>
                        </a:spcAft>
                        <a:buNone/>
                      </a:pPr>
                      <a:r>
                        <a:rPr lang="en-US" sz="1800"/>
                        <a:t>0.44</a:t>
                      </a:r>
                      <a:endParaRPr sz="1800"/>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3"/>
                  </a:ext>
                </a:extLst>
              </a:tr>
              <a:tr h="491075">
                <a:tc>
                  <a:txBody>
                    <a:bodyPr/>
                    <a:lstStyle/>
                    <a:p>
                      <a:pPr marL="0" lvl="0" indent="0" algn="ctr" rtl="0">
                        <a:spcBef>
                          <a:spcPts val="0"/>
                        </a:spcBef>
                        <a:spcAft>
                          <a:spcPts val="0"/>
                        </a:spcAft>
                        <a:buNone/>
                      </a:pPr>
                      <a:r>
                        <a:rPr lang="en-US" sz="1800" b="1"/>
                        <a:t>0.35</a:t>
                      </a:r>
                      <a:endParaRPr sz="18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a:t>0.31</a:t>
                      </a:r>
                      <a:endParaRPr sz="1800" b="1"/>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b="1"/>
                        <a:t>0.84</a:t>
                      </a:r>
                      <a:endParaRPr sz="1800" b="1"/>
                    </a:p>
                  </a:txBody>
                  <a:tcPr marL="91425" marR="91425" marT="91425" marB="91425" anchor="ctr"/>
                </a:tc>
                <a:tc>
                  <a:txBody>
                    <a:bodyPr/>
                    <a:lstStyle/>
                    <a:p>
                      <a:pPr marL="0" lvl="0" indent="0" algn="ctr" rtl="0">
                        <a:spcBef>
                          <a:spcPts val="0"/>
                        </a:spcBef>
                        <a:spcAft>
                          <a:spcPts val="0"/>
                        </a:spcAft>
                        <a:buNone/>
                      </a:pPr>
                      <a:r>
                        <a:rPr lang="en-US" sz="1800" b="1"/>
                        <a:t>0.46</a:t>
                      </a:r>
                      <a:endParaRPr sz="1800" b="1"/>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4"/>
                  </a:ext>
                </a:extLst>
              </a:tr>
              <a:tr h="491075">
                <a:tc>
                  <a:txBody>
                    <a:bodyPr/>
                    <a:lstStyle/>
                    <a:p>
                      <a:pPr marL="0" lvl="0" indent="0" algn="ctr" rtl="0">
                        <a:spcBef>
                          <a:spcPts val="0"/>
                        </a:spcBef>
                        <a:spcAft>
                          <a:spcPts val="0"/>
                        </a:spcAft>
                        <a:buNone/>
                      </a:pPr>
                      <a:r>
                        <a:rPr lang="en-US" sz="1800"/>
                        <a:t>0.40</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0.35</a:t>
                      </a:r>
                      <a:endParaRPr sz="1800"/>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a:t>0.80</a:t>
                      </a:r>
                      <a:endParaRPr sz="1800"/>
                    </a:p>
                  </a:txBody>
                  <a:tcPr marL="91425" marR="91425" marT="91425" marB="91425" anchor="ctr"/>
                </a:tc>
                <a:tc>
                  <a:txBody>
                    <a:bodyPr/>
                    <a:lstStyle/>
                    <a:p>
                      <a:pPr marL="0" lvl="0" indent="0" algn="ctr" rtl="0">
                        <a:spcBef>
                          <a:spcPts val="0"/>
                        </a:spcBef>
                        <a:spcAft>
                          <a:spcPts val="0"/>
                        </a:spcAft>
                        <a:buNone/>
                      </a:pPr>
                      <a:r>
                        <a:rPr lang="en-US" sz="1800"/>
                        <a:t>0.48</a:t>
                      </a:r>
                      <a:endParaRPr sz="1800"/>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5"/>
                  </a:ext>
                </a:extLst>
              </a:tr>
              <a:tr h="491075">
                <a:tc>
                  <a:txBody>
                    <a:bodyPr/>
                    <a:lstStyle/>
                    <a:p>
                      <a:pPr marL="0" lvl="0" indent="0" algn="ctr" rtl="0">
                        <a:spcBef>
                          <a:spcPts val="0"/>
                        </a:spcBef>
                        <a:spcAft>
                          <a:spcPts val="0"/>
                        </a:spcAft>
                        <a:buNone/>
                      </a:pPr>
                      <a:r>
                        <a:rPr lang="en-US" sz="1800"/>
                        <a:t>0.45</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0.38</a:t>
                      </a:r>
                      <a:endParaRPr sz="1800"/>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a:t>0.76</a:t>
                      </a:r>
                      <a:endParaRPr sz="1800"/>
                    </a:p>
                  </a:txBody>
                  <a:tcPr marL="91425" marR="91425" marT="91425" marB="91425" anchor="ctr"/>
                </a:tc>
                <a:tc>
                  <a:txBody>
                    <a:bodyPr/>
                    <a:lstStyle/>
                    <a:p>
                      <a:pPr marL="0" lvl="0" indent="0" algn="ctr" rtl="0">
                        <a:spcBef>
                          <a:spcPts val="0"/>
                        </a:spcBef>
                        <a:spcAft>
                          <a:spcPts val="0"/>
                        </a:spcAft>
                        <a:buNone/>
                      </a:pPr>
                      <a:r>
                        <a:rPr lang="en-US" sz="1800">
                          <a:solidFill>
                            <a:schemeClr val="dk1"/>
                          </a:solidFill>
                        </a:rPr>
                        <a:t>0.50</a:t>
                      </a:r>
                      <a:endParaRPr sz="1800">
                        <a:solidFill>
                          <a:schemeClr val="dk1"/>
                        </a:solidFill>
                      </a:endParaRPr>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6"/>
                  </a:ext>
                </a:extLst>
              </a:tr>
              <a:tr h="491075">
                <a:tc>
                  <a:txBody>
                    <a:bodyPr/>
                    <a:lstStyle/>
                    <a:p>
                      <a:pPr marL="0" lvl="0" indent="0" algn="ctr" rtl="0">
                        <a:spcBef>
                          <a:spcPts val="0"/>
                        </a:spcBef>
                        <a:spcAft>
                          <a:spcPts val="0"/>
                        </a:spcAft>
                        <a:buNone/>
                      </a:pPr>
                      <a:r>
                        <a:rPr lang="en-US" sz="1800" b="1"/>
                        <a:t>0.50</a:t>
                      </a:r>
                      <a:endParaRPr sz="1800" b="1"/>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b="1"/>
                        <a:t>0.40</a:t>
                      </a:r>
                      <a:endParaRPr sz="1800" b="1"/>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b="1"/>
                        <a:t>0.70</a:t>
                      </a:r>
                      <a:endParaRPr sz="1800" b="1"/>
                    </a:p>
                  </a:txBody>
                  <a:tcPr marL="91425" marR="91425" marT="91425" marB="91425" anchor="ctr"/>
                </a:tc>
                <a:tc>
                  <a:txBody>
                    <a:bodyPr/>
                    <a:lstStyle/>
                    <a:p>
                      <a:pPr marL="0" lvl="0" indent="0" algn="ctr" rtl="0">
                        <a:spcBef>
                          <a:spcPts val="0"/>
                        </a:spcBef>
                        <a:spcAft>
                          <a:spcPts val="0"/>
                        </a:spcAft>
                        <a:buNone/>
                      </a:pPr>
                      <a:r>
                        <a:rPr lang="en-US" sz="1800" b="1">
                          <a:solidFill>
                            <a:schemeClr val="dk1"/>
                          </a:solidFill>
                        </a:rPr>
                        <a:t>0.51</a:t>
                      </a:r>
                      <a:endParaRPr sz="1800" b="1">
                        <a:solidFill>
                          <a:schemeClr val="dk1"/>
                        </a:solidFill>
                      </a:endParaRPr>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7"/>
                  </a:ext>
                </a:extLst>
              </a:tr>
              <a:tr h="491075">
                <a:tc>
                  <a:txBody>
                    <a:bodyPr/>
                    <a:lstStyle/>
                    <a:p>
                      <a:pPr marL="0" lvl="0" indent="0" algn="ctr" rtl="0">
                        <a:spcBef>
                          <a:spcPts val="0"/>
                        </a:spcBef>
                        <a:spcAft>
                          <a:spcPts val="0"/>
                        </a:spcAft>
                        <a:buNone/>
                      </a:pPr>
                      <a:r>
                        <a:rPr lang="en-US" sz="1800"/>
                        <a:t>0.55</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0.42</a:t>
                      </a:r>
                      <a:endParaRPr sz="1800"/>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a:t>0.63</a:t>
                      </a:r>
                      <a:endParaRPr sz="1800"/>
                    </a:p>
                  </a:txBody>
                  <a:tcPr marL="91425" marR="91425" marT="91425" marB="91425" anchor="ctr"/>
                </a:tc>
                <a:tc>
                  <a:txBody>
                    <a:bodyPr/>
                    <a:lstStyle/>
                    <a:p>
                      <a:pPr marL="0" lvl="0" indent="0" algn="ctr" rtl="0">
                        <a:spcBef>
                          <a:spcPts val="0"/>
                        </a:spcBef>
                        <a:spcAft>
                          <a:spcPts val="0"/>
                        </a:spcAft>
                        <a:buNone/>
                      </a:pPr>
                      <a:r>
                        <a:rPr lang="en-US" sz="1800">
                          <a:solidFill>
                            <a:schemeClr val="dk1"/>
                          </a:solidFill>
                        </a:rPr>
                        <a:t>0.51</a:t>
                      </a:r>
                      <a:endParaRPr sz="1800">
                        <a:solidFill>
                          <a:schemeClr val="dk1"/>
                        </a:solidFill>
                      </a:endParaRPr>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8"/>
                  </a:ext>
                </a:extLst>
              </a:tr>
              <a:tr h="491075">
                <a:tc>
                  <a:txBody>
                    <a:bodyPr/>
                    <a:lstStyle/>
                    <a:p>
                      <a:pPr marL="0" lvl="0" indent="0" algn="ctr" rtl="0">
                        <a:spcBef>
                          <a:spcPts val="0"/>
                        </a:spcBef>
                        <a:spcAft>
                          <a:spcPts val="0"/>
                        </a:spcAft>
                        <a:buNone/>
                      </a:pPr>
                      <a:r>
                        <a:rPr lang="en-US" sz="1800"/>
                        <a:t>0.60</a:t>
                      </a:r>
                      <a:endParaRPr sz="1800"/>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1800"/>
                        <a:t>0.44</a:t>
                      </a:r>
                      <a:endParaRPr sz="1800"/>
                    </a:p>
                  </a:txBody>
                  <a:tcPr marL="91425" marR="91425" marT="91425" marB="91425" anchor="ctr">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US" sz="1800"/>
                        <a:t>0.55</a:t>
                      </a:r>
                      <a:endParaRPr sz="1800"/>
                    </a:p>
                  </a:txBody>
                  <a:tcPr marL="91425" marR="91425" marT="91425" marB="91425" anchor="ctr"/>
                </a:tc>
                <a:tc>
                  <a:txBody>
                    <a:bodyPr/>
                    <a:lstStyle/>
                    <a:p>
                      <a:pPr marL="0" lvl="0" indent="0" algn="ctr" rtl="0">
                        <a:spcBef>
                          <a:spcPts val="0"/>
                        </a:spcBef>
                        <a:spcAft>
                          <a:spcPts val="0"/>
                        </a:spcAft>
                        <a:buNone/>
                      </a:pPr>
                      <a:r>
                        <a:rPr lang="en-US" sz="1800">
                          <a:solidFill>
                            <a:schemeClr val="dk1"/>
                          </a:solidFill>
                        </a:rPr>
                        <a:t>0.49</a:t>
                      </a:r>
                      <a:endParaRPr sz="1800">
                        <a:solidFill>
                          <a:schemeClr val="dk1"/>
                        </a:solidFill>
                      </a:endParaRPr>
                    </a:p>
                  </a:txBody>
                  <a:tcPr marL="91425" marR="91425" marT="91425" marB="91425" anchor="ctr">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9"/>
                  </a:ext>
                </a:extLst>
              </a:tr>
            </a:tbl>
          </a:graphicData>
        </a:graphic>
      </p:graphicFrame>
      <p:grpSp>
        <p:nvGrpSpPr>
          <p:cNvPr id="335" name="Google Shape;335;p33"/>
          <p:cNvGrpSpPr/>
          <p:nvPr/>
        </p:nvGrpSpPr>
        <p:grpSpPr>
          <a:xfrm>
            <a:off x="406550" y="994175"/>
            <a:ext cx="3924300" cy="514350"/>
            <a:chOff x="7462050" y="7632500"/>
            <a:chExt cx="3924300" cy="514350"/>
          </a:xfrm>
        </p:grpSpPr>
        <p:pic>
          <p:nvPicPr>
            <p:cNvPr id="336" name="Google Shape;336;p33"/>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337" name="Google Shape;337;p33"/>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338" name="Google Shape;338;p33"/>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Threshold Adjustment</a:t>
              </a:r>
              <a:endParaRPr sz="1800" b="1">
                <a:solidFill>
                  <a:srgbClr val="0B3512"/>
                </a:solidFill>
                <a:latin typeface="Noto Sans"/>
                <a:ea typeface="Noto Sans"/>
                <a:cs typeface="Noto Sans"/>
                <a:sym typeface="Noto San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4"/>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0C3512"/>
              </a:buClr>
              <a:buSzPts val="4400"/>
              <a:buFont typeface="Play"/>
              <a:buNone/>
            </a:pPr>
            <a:r>
              <a:rPr lang="en-US"/>
              <a:t>Model Evaluation</a:t>
            </a:r>
            <a:endParaRPr/>
          </a:p>
        </p:txBody>
      </p:sp>
      <p:sp>
        <p:nvSpPr>
          <p:cNvPr id="344" name="Google Shape;344;p34"/>
          <p:cNvSpPr txBox="1">
            <a:spLocks noGrp="1"/>
          </p:cNvSpPr>
          <p:nvPr>
            <p:ph type="body" idx="1"/>
          </p:nvPr>
        </p:nvSpPr>
        <p:spPr>
          <a:xfrm>
            <a:off x="406550" y="1672225"/>
            <a:ext cx="11394300" cy="42411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1000"/>
              </a:spcBef>
              <a:spcAft>
                <a:spcPts val="0"/>
              </a:spcAft>
              <a:buNone/>
            </a:pPr>
            <a:r>
              <a:rPr lang="en-US" sz="2000"/>
              <a:t>Below is some tools that useful to help interpretation for black-box ML model (Ensemble Trees, Neural Nets, etc.):</a:t>
            </a:r>
            <a:endParaRPr sz="2000"/>
          </a:p>
          <a:p>
            <a:pPr marL="457200" lvl="0" indent="-355600" algn="l" rtl="0">
              <a:lnSpc>
                <a:spcPct val="150000"/>
              </a:lnSpc>
              <a:spcBef>
                <a:spcPts val="1000"/>
              </a:spcBef>
              <a:spcAft>
                <a:spcPts val="0"/>
              </a:spcAft>
              <a:buSzPts val="2000"/>
              <a:buChar char="•"/>
            </a:pPr>
            <a:r>
              <a:rPr lang="en-US" sz="2000"/>
              <a:t>Variable importance plots</a:t>
            </a:r>
            <a:endParaRPr sz="2000"/>
          </a:p>
          <a:p>
            <a:pPr marL="457200" lvl="0" indent="-355600" algn="l" rtl="0">
              <a:lnSpc>
                <a:spcPct val="150000"/>
              </a:lnSpc>
              <a:spcBef>
                <a:spcPts val="0"/>
              </a:spcBef>
              <a:spcAft>
                <a:spcPts val="0"/>
              </a:spcAft>
              <a:buSzPts val="2000"/>
              <a:buChar char="•"/>
            </a:pPr>
            <a:r>
              <a:rPr lang="en-US" sz="2000" b="1"/>
              <a:t>Partial dependence plots</a:t>
            </a:r>
            <a:endParaRPr sz="2000" b="1"/>
          </a:p>
          <a:p>
            <a:pPr marL="457200" lvl="0" indent="-355600" algn="l" rtl="0">
              <a:lnSpc>
                <a:spcPct val="150000"/>
              </a:lnSpc>
              <a:spcBef>
                <a:spcPts val="0"/>
              </a:spcBef>
              <a:spcAft>
                <a:spcPts val="0"/>
              </a:spcAft>
              <a:buSzPts val="2000"/>
              <a:buChar char="•"/>
            </a:pPr>
            <a:r>
              <a:rPr lang="en-US" sz="2000"/>
              <a:t>Individual conditional expectation plots</a:t>
            </a:r>
            <a:endParaRPr sz="2000"/>
          </a:p>
          <a:p>
            <a:pPr marL="457200" lvl="0" indent="-355600" algn="l" rtl="0">
              <a:lnSpc>
                <a:spcPct val="150000"/>
              </a:lnSpc>
              <a:spcBef>
                <a:spcPts val="0"/>
              </a:spcBef>
              <a:spcAft>
                <a:spcPts val="0"/>
              </a:spcAft>
              <a:buSzPts val="2000"/>
              <a:buChar char="•"/>
            </a:pPr>
            <a:r>
              <a:rPr lang="en-US" sz="2000" b="1"/>
              <a:t>Shapley values</a:t>
            </a:r>
            <a:endParaRPr sz="2000" b="1"/>
          </a:p>
          <a:p>
            <a:pPr marL="457200" lvl="0" indent="-355600" algn="l" rtl="0">
              <a:lnSpc>
                <a:spcPct val="150000"/>
              </a:lnSpc>
              <a:spcBef>
                <a:spcPts val="0"/>
              </a:spcBef>
              <a:spcAft>
                <a:spcPts val="0"/>
              </a:spcAft>
              <a:buSzPts val="2000"/>
              <a:buChar char="•"/>
            </a:pPr>
            <a:r>
              <a:rPr lang="en-US" sz="2000"/>
              <a:t>Lift and gain charts</a:t>
            </a:r>
            <a:endParaRPr sz="2000"/>
          </a:p>
        </p:txBody>
      </p:sp>
      <p:sp>
        <p:nvSpPr>
          <p:cNvPr id="345" name="Google Shape;345;p34"/>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grpSp>
        <p:nvGrpSpPr>
          <p:cNvPr id="346" name="Google Shape;346;p34"/>
          <p:cNvGrpSpPr/>
          <p:nvPr/>
        </p:nvGrpSpPr>
        <p:grpSpPr>
          <a:xfrm>
            <a:off x="406550" y="994175"/>
            <a:ext cx="3924300" cy="514350"/>
            <a:chOff x="7462050" y="7632500"/>
            <a:chExt cx="3924300" cy="514350"/>
          </a:xfrm>
        </p:grpSpPr>
        <p:pic>
          <p:nvPicPr>
            <p:cNvPr id="347" name="Google Shape;347;p34"/>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348" name="Google Shape;348;p34"/>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349" name="Google Shape;349;p34"/>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Model Evaluation</a:t>
              </a:r>
              <a:endParaRPr sz="1800" b="1">
                <a:solidFill>
                  <a:srgbClr val="0B3512"/>
                </a:solidFill>
                <a:latin typeface="Noto Sans"/>
                <a:ea typeface="Noto Sans"/>
                <a:cs typeface="Noto Sans"/>
                <a:sym typeface="Noto San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5"/>
          <p:cNvSpPr txBox="1">
            <a:spLocks noGrp="1"/>
          </p:cNvSpPr>
          <p:nvPr>
            <p:ph type="title"/>
          </p:nvPr>
        </p:nvSpPr>
        <p:spPr>
          <a:xfrm>
            <a:off x="4019909" y="64877"/>
            <a:ext cx="7333800" cy="765600"/>
          </a:xfrm>
          <a:prstGeom prst="rect">
            <a:avLst/>
          </a:prstGeom>
        </p:spPr>
        <p:txBody>
          <a:bodyPr spcFirstLastPara="1" wrap="square" lIns="91425" tIns="45700" rIns="91425" bIns="45700" anchor="ctr" anchorCtr="0">
            <a:normAutofit/>
          </a:bodyPr>
          <a:lstStyle/>
          <a:p>
            <a:pPr marL="0" lvl="0" indent="0" algn="r" rtl="0">
              <a:spcBef>
                <a:spcPts val="0"/>
              </a:spcBef>
              <a:spcAft>
                <a:spcPts val="0"/>
              </a:spcAft>
              <a:buNone/>
            </a:pPr>
            <a:r>
              <a:rPr lang="en-US"/>
              <a:t>Conclusion</a:t>
            </a:r>
            <a:endParaRPr/>
          </a:p>
        </p:txBody>
      </p:sp>
      <p:sp>
        <p:nvSpPr>
          <p:cNvPr id="356" name="Google Shape;356;p35"/>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
        <p:nvSpPr>
          <p:cNvPr id="357" name="Google Shape;357;p35"/>
          <p:cNvSpPr txBox="1">
            <a:spLocks noGrp="1"/>
          </p:cNvSpPr>
          <p:nvPr>
            <p:ph type="body" idx="1"/>
          </p:nvPr>
        </p:nvSpPr>
        <p:spPr>
          <a:xfrm>
            <a:off x="398850" y="1432325"/>
            <a:ext cx="11394300" cy="5068500"/>
          </a:xfrm>
          <a:prstGeom prst="rect">
            <a:avLst/>
          </a:prstGeom>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None/>
            </a:pPr>
            <a:endParaRPr dirty="0"/>
          </a:p>
          <a:p>
            <a:pPr marL="114300" lvl="0" indent="0" algn="l" rtl="0">
              <a:lnSpc>
                <a:spcPct val="115000"/>
              </a:lnSpc>
              <a:spcBef>
                <a:spcPts val="0"/>
              </a:spcBef>
              <a:spcAft>
                <a:spcPts val="0"/>
              </a:spcAft>
              <a:buSzPts val="1800"/>
              <a:buNone/>
            </a:pPr>
            <a:r>
              <a:rPr lang="en-US" b="1" dirty="0"/>
              <a:t>Sleeping Start Hours</a:t>
            </a:r>
          </a:p>
          <a:p>
            <a:pPr marL="114300" lvl="0" indent="0" algn="l" rtl="0">
              <a:lnSpc>
                <a:spcPct val="115000"/>
              </a:lnSpc>
              <a:spcBef>
                <a:spcPts val="0"/>
              </a:spcBef>
              <a:spcAft>
                <a:spcPts val="0"/>
              </a:spcAft>
              <a:buSzPts val="1800"/>
              <a:buNone/>
            </a:pPr>
            <a:r>
              <a:rPr lang="en-US" dirty="0"/>
              <a:t>Bedtime between 18:00-23:00 shows strong negative coefficients (-1.886), suggesting sleeping early significantly reduce sleep deprivation risk. The strongest protective effects appears between 19:00-21:00 (-2.272) with peak at 20:00 (-2.396).</a:t>
            </a:r>
          </a:p>
          <a:p>
            <a:pPr marL="114300" lvl="0" indent="0" algn="l" rtl="0">
              <a:lnSpc>
                <a:spcPct val="115000"/>
              </a:lnSpc>
              <a:spcBef>
                <a:spcPts val="0"/>
              </a:spcBef>
              <a:spcAft>
                <a:spcPts val="0"/>
              </a:spcAft>
              <a:buSzPts val="1800"/>
              <a:buNone/>
            </a:pPr>
            <a:endParaRPr lang="en-US" b="1" dirty="0"/>
          </a:p>
          <a:p>
            <a:pPr marL="114300" lvl="0" indent="0" algn="l" rtl="0">
              <a:lnSpc>
                <a:spcPct val="115000"/>
              </a:lnSpc>
              <a:spcBef>
                <a:spcPts val="0"/>
              </a:spcBef>
              <a:spcAft>
                <a:spcPts val="0"/>
              </a:spcAft>
              <a:buSzPts val="1800"/>
              <a:buNone/>
            </a:pPr>
            <a:r>
              <a:rPr lang="en-US" b="1" dirty="0"/>
              <a:t>Health Factors</a:t>
            </a:r>
          </a:p>
          <a:p>
            <a:pPr marL="114300" lvl="0" indent="0" algn="l" rtl="0">
              <a:lnSpc>
                <a:spcPct val="115000"/>
              </a:lnSpc>
              <a:spcBef>
                <a:spcPts val="0"/>
              </a:spcBef>
              <a:spcAft>
                <a:spcPts val="0"/>
              </a:spcAft>
              <a:buSzPts val="1800"/>
              <a:buNone/>
            </a:pPr>
            <a:r>
              <a:rPr lang="en-US" dirty="0"/>
              <a:t>Tobacco use (+0.217) increases the risk, while stable or moderate weight change (-0.245) has reduced sleep deprivation risk.</a:t>
            </a:r>
          </a:p>
          <a:p>
            <a:pPr marL="114300" lvl="0" indent="0" algn="l" rtl="0">
              <a:lnSpc>
                <a:spcPct val="115000"/>
              </a:lnSpc>
              <a:spcBef>
                <a:spcPts val="0"/>
              </a:spcBef>
              <a:spcAft>
                <a:spcPts val="0"/>
              </a:spcAft>
              <a:buSzPts val="1800"/>
              <a:buNone/>
            </a:pPr>
            <a:endParaRPr lang="en-US" b="1" dirty="0"/>
          </a:p>
          <a:p>
            <a:pPr marL="114300" lvl="0" indent="0" algn="l" rtl="0">
              <a:lnSpc>
                <a:spcPct val="115000"/>
              </a:lnSpc>
              <a:spcBef>
                <a:spcPts val="0"/>
              </a:spcBef>
              <a:spcAft>
                <a:spcPts val="0"/>
              </a:spcAft>
              <a:buSzPts val="1800"/>
              <a:buNone/>
            </a:pPr>
            <a:r>
              <a:rPr lang="en-US" b="1" dirty="0"/>
              <a:t>Demographics</a:t>
            </a:r>
          </a:p>
          <a:p>
            <a:pPr marL="114300" lvl="0" indent="0" algn="l" rtl="0">
              <a:lnSpc>
                <a:spcPct val="115000"/>
              </a:lnSpc>
              <a:spcBef>
                <a:spcPts val="0"/>
              </a:spcBef>
              <a:spcAft>
                <a:spcPts val="0"/>
              </a:spcAft>
              <a:buSzPts val="1800"/>
              <a:buNone/>
            </a:pPr>
            <a:r>
              <a:rPr lang="en-US" dirty="0"/>
              <a:t>Males have lower risk than females (-0.337) and college graduates (-0.342) tend to significantly lower risk compared to other education group. Black racial group show observable higher sleep deprivation risk (+0.406) compared to the rest of racial group (-0.125).</a:t>
            </a:r>
          </a:p>
          <a:p>
            <a:pPr marL="114300" lvl="0" indent="0" algn="l" rtl="0">
              <a:lnSpc>
                <a:spcPct val="115000"/>
              </a:lnSpc>
              <a:spcBef>
                <a:spcPts val="0"/>
              </a:spcBef>
              <a:spcAft>
                <a:spcPts val="0"/>
              </a:spcAft>
              <a:buSzPts val="1800"/>
              <a:buNone/>
            </a:pPr>
            <a:endParaRPr lang="en-US" b="1" dirty="0"/>
          </a:p>
          <a:p>
            <a:pPr marL="114300" lvl="0" indent="0" algn="l" rtl="0">
              <a:lnSpc>
                <a:spcPct val="115000"/>
              </a:lnSpc>
              <a:spcBef>
                <a:spcPts val="0"/>
              </a:spcBef>
              <a:spcAft>
                <a:spcPts val="0"/>
              </a:spcAft>
              <a:buSzPts val="1800"/>
              <a:buNone/>
            </a:pPr>
            <a:r>
              <a:rPr lang="en-US" b="1" dirty="0"/>
              <a:t>Interaction Effect (sleep start hours x gender)</a:t>
            </a:r>
          </a:p>
          <a:p>
            <a:pPr marL="114300" lvl="0" indent="0" algn="l" rtl="0">
              <a:lnSpc>
                <a:spcPct val="115000"/>
              </a:lnSpc>
              <a:spcBef>
                <a:spcPts val="0"/>
              </a:spcBef>
              <a:spcAft>
                <a:spcPts val="0"/>
              </a:spcAft>
              <a:buSzPts val="1800"/>
              <a:buNone/>
            </a:pPr>
            <a:r>
              <a:rPr lang="en-US" dirty="0"/>
              <a:t>Sleep timing patterns impact males (+0.562) differently than females.</a:t>
            </a:r>
            <a:endParaRPr dirty="0"/>
          </a:p>
        </p:txBody>
      </p:sp>
      <p:grpSp>
        <p:nvGrpSpPr>
          <p:cNvPr id="358" name="Google Shape;358;p35"/>
          <p:cNvGrpSpPr/>
          <p:nvPr/>
        </p:nvGrpSpPr>
        <p:grpSpPr>
          <a:xfrm>
            <a:off x="406550" y="994175"/>
            <a:ext cx="3924300" cy="514350"/>
            <a:chOff x="7462050" y="7632500"/>
            <a:chExt cx="3924300" cy="514350"/>
          </a:xfrm>
        </p:grpSpPr>
        <p:pic>
          <p:nvPicPr>
            <p:cNvPr id="359" name="Google Shape;359;p35"/>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360" name="Google Shape;360;p35"/>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361" name="Google Shape;361;p35"/>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Insights</a:t>
              </a:r>
              <a:endParaRPr sz="1800" b="1">
                <a:solidFill>
                  <a:srgbClr val="0B3512"/>
                </a:solidFill>
                <a:latin typeface="Noto Sans"/>
                <a:ea typeface="Noto Sans"/>
                <a:cs typeface="Noto Sans"/>
                <a:sym typeface="Noto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6"/>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a:t>Challenges</a:t>
            </a:r>
            <a:endParaRPr/>
          </a:p>
        </p:txBody>
      </p:sp>
      <p:sp>
        <p:nvSpPr>
          <p:cNvPr id="367" name="Google Shape;367;p36"/>
          <p:cNvSpPr txBox="1">
            <a:spLocks noGrp="1"/>
          </p:cNvSpPr>
          <p:nvPr>
            <p:ph type="body" idx="1"/>
          </p:nvPr>
        </p:nvSpPr>
        <p:spPr>
          <a:xfrm>
            <a:off x="406550" y="1672225"/>
            <a:ext cx="11394300" cy="1570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C3512"/>
              </a:buClr>
              <a:buSzPts val="2400"/>
              <a:buNone/>
            </a:pPr>
            <a:r>
              <a:rPr lang="en-US" b="1"/>
              <a:t>Measurement Limitations:</a:t>
            </a:r>
            <a:r>
              <a:rPr lang="en-US"/>
              <a:t> Sleep timing is self-reported in NHANES, it may introduce recall bias or misreporting. </a:t>
            </a:r>
            <a:endParaRPr/>
          </a:p>
          <a:p>
            <a:pPr marL="0" lvl="0" indent="0" algn="l" rtl="0">
              <a:lnSpc>
                <a:spcPct val="90000"/>
              </a:lnSpc>
              <a:spcBef>
                <a:spcPts val="0"/>
              </a:spcBef>
              <a:spcAft>
                <a:spcPts val="0"/>
              </a:spcAft>
              <a:buClr>
                <a:srgbClr val="0C3512"/>
              </a:buClr>
              <a:buSzPts val="2400"/>
              <a:buNone/>
            </a:pPr>
            <a:endParaRPr/>
          </a:p>
          <a:p>
            <a:pPr marL="0" lvl="0" indent="0" algn="l" rtl="0">
              <a:lnSpc>
                <a:spcPct val="90000"/>
              </a:lnSpc>
              <a:spcBef>
                <a:spcPts val="0"/>
              </a:spcBef>
              <a:spcAft>
                <a:spcPts val="0"/>
              </a:spcAft>
              <a:buClr>
                <a:srgbClr val="0C3512"/>
              </a:buClr>
              <a:buSzPts val="2400"/>
              <a:buNone/>
            </a:pPr>
            <a:r>
              <a:rPr lang="en-US" b="1"/>
              <a:t>Causality vs. Association:</a:t>
            </a:r>
            <a:r>
              <a:rPr lang="en-US"/>
              <a:t> The results are associational, it might require stronger causal designs to explore causes of sleep deprivation risk (e.g., experimental studies).</a:t>
            </a:r>
            <a:endParaRPr/>
          </a:p>
        </p:txBody>
      </p:sp>
      <p:sp>
        <p:nvSpPr>
          <p:cNvPr id="368" name="Google Shape;368;p36"/>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grpSp>
        <p:nvGrpSpPr>
          <p:cNvPr id="369" name="Google Shape;369;p36"/>
          <p:cNvGrpSpPr/>
          <p:nvPr/>
        </p:nvGrpSpPr>
        <p:grpSpPr>
          <a:xfrm>
            <a:off x="406550" y="994175"/>
            <a:ext cx="3924300" cy="514350"/>
            <a:chOff x="7462050" y="7632500"/>
            <a:chExt cx="3924300" cy="514350"/>
          </a:xfrm>
        </p:grpSpPr>
        <p:pic>
          <p:nvPicPr>
            <p:cNvPr id="370" name="Google Shape;370;p36"/>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371" name="Google Shape;371;p36"/>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372" name="Google Shape;372;p36"/>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Challenges</a:t>
              </a:r>
              <a:endParaRPr sz="1800" b="1">
                <a:solidFill>
                  <a:srgbClr val="0B3512"/>
                </a:solidFill>
                <a:latin typeface="Noto Sans"/>
                <a:ea typeface="Noto Sans"/>
                <a:cs typeface="Noto Sans"/>
                <a:sym typeface="Noto Sans"/>
              </a:endParaRPr>
            </a:p>
          </p:txBody>
        </p:sp>
      </p:grpSp>
      <p:grpSp>
        <p:nvGrpSpPr>
          <p:cNvPr id="373" name="Google Shape;373;p36"/>
          <p:cNvGrpSpPr/>
          <p:nvPr/>
        </p:nvGrpSpPr>
        <p:grpSpPr>
          <a:xfrm>
            <a:off x="406550" y="3406725"/>
            <a:ext cx="3924300" cy="514350"/>
            <a:chOff x="7462050" y="7632500"/>
            <a:chExt cx="3924300" cy="514350"/>
          </a:xfrm>
        </p:grpSpPr>
        <p:pic>
          <p:nvPicPr>
            <p:cNvPr id="374" name="Google Shape;374;p36"/>
            <p:cNvPicPr preferRelativeResize="0"/>
            <p:nvPr/>
          </p:nvPicPr>
          <p:blipFill>
            <a:blip r:embed="rId3">
              <a:alphaModFix/>
            </a:blip>
            <a:stretch>
              <a:fillRect/>
            </a:stretch>
          </p:blipFill>
          <p:spPr>
            <a:xfrm>
              <a:off x="7462050" y="8127800"/>
              <a:ext cx="3924300" cy="19050"/>
            </a:xfrm>
            <a:prstGeom prst="rect">
              <a:avLst/>
            </a:prstGeom>
            <a:noFill/>
            <a:ln>
              <a:noFill/>
            </a:ln>
          </p:spPr>
        </p:pic>
        <p:pic>
          <p:nvPicPr>
            <p:cNvPr id="375" name="Google Shape;375;p36"/>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376" name="Google Shape;376;p36"/>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Future Directions</a:t>
              </a:r>
              <a:endParaRPr sz="1800" b="1">
                <a:solidFill>
                  <a:srgbClr val="0B3512"/>
                </a:solidFill>
                <a:latin typeface="Noto Sans"/>
                <a:ea typeface="Noto Sans"/>
                <a:cs typeface="Noto Sans"/>
                <a:sym typeface="Noto Sans"/>
              </a:endParaRPr>
            </a:p>
          </p:txBody>
        </p:sp>
      </p:grpSp>
      <p:sp>
        <p:nvSpPr>
          <p:cNvPr id="377" name="Google Shape;377;p36"/>
          <p:cNvSpPr txBox="1">
            <a:spLocks noGrp="1"/>
          </p:cNvSpPr>
          <p:nvPr>
            <p:ph type="body" idx="1"/>
          </p:nvPr>
        </p:nvSpPr>
        <p:spPr>
          <a:xfrm>
            <a:off x="406550" y="4110625"/>
            <a:ext cx="11394300" cy="157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0C3512"/>
              </a:buClr>
              <a:buSzPts val="2400"/>
              <a:buNone/>
            </a:pPr>
            <a:r>
              <a:rPr lang="en-US" b="1"/>
              <a:t>Causal Modeling:</a:t>
            </a:r>
            <a:r>
              <a:rPr lang="en-US"/>
              <a:t> Apply causal inference methods (PS matching/weighting, structural causal model)</a:t>
            </a:r>
            <a:endParaRPr/>
          </a:p>
          <a:p>
            <a:pPr marL="0" lvl="0" indent="0" algn="l" rtl="0">
              <a:spcBef>
                <a:spcPts val="0"/>
              </a:spcBef>
              <a:spcAft>
                <a:spcPts val="0"/>
              </a:spcAft>
              <a:buClr>
                <a:srgbClr val="0C3512"/>
              </a:buClr>
              <a:buSzPts val="2400"/>
              <a:buNone/>
            </a:pPr>
            <a:endParaRPr/>
          </a:p>
          <a:p>
            <a:pPr marL="0" lvl="0" indent="0" algn="l" rtl="0">
              <a:spcBef>
                <a:spcPts val="0"/>
              </a:spcBef>
              <a:spcAft>
                <a:spcPts val="0"/>
              </a:spcAft>
              <a:buClr>
                <a:srgbClr val="0C3512"/>
              </a:buClr>
              <a:buSzPts val="2400"/>
              <a:buNone/>
            </a:pPr>
            <a:r>
              <a:rPr lang="en-US" b="1"/>
              <a:t>Subgroup Analyses:</a:t>
            </a:r>
            <a:r>
              <a:rPr lang="en-US"/>
              <a:t> Explore heterogeneity more deeply by occupation, SES, mental health to better understand risk profiles</a:t>
            </a:r>
            <a:endParaRPr/>
          </a:p>
          <a:p>
            <a:pPr marL="228600" lvl="0" indent="-76200" algn="l" rtl="0">
              <a:lnSpc>
                <a:spcPct val="90000"/>
              </a:lnSpc>
              <a:spcBef>
                <a:spcPts val="0"/>
              </a:spcBef>
              <a:spcAft>
                <a:spcPts val="0"/>
              </a:spcAft>
              <a:buClr>
                <a:srgbClr val="0C3512"/>
              </a:buClr>
              <a:buSzPts val="2400"/>
              <a:buNone/>
            </a:pP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7"/>
          <p:cNvSpPr txBox="1">
            <a:spLocks noGrp="1"/>
          </p:cNvSpPr>
          <p:nvPr>
            <p:ph type="title"/>
          </p:nvPr>
        </p:nvSpPr>
        <p:spPr>
          <a:xfrm>
            <a:off x="4019909" y="64877"/>
            <a:ext cx="7333889" cy="76559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a:t>Appendix: References</a:t>
            </a:r>
            <a:endParaRPr/>
          </a:p>
        </p:txBody>
      </p:sp>
      <p:sp>
        <p:nvSpPr>
          <p:cNvPr id="383" name="Google Shape;383;p37"/>
          <p:cNvSpPr txBox="1"/>
          <p:nvPr/>
        </p:nvSpPr>
        <p:spPr>
          <a:xfrm>
            <a:off x="6219464" y="1790329"/>
            <a:ext cx="5134335" cy="4113054"/>
          </a:xfrm>
          <a:prstGeom prst="rect">
            <a:avLst/>
          </a:prstGeom>
          <a:noFill/>
          <a:ln>
            <a:noFill/>
          </a:ln>
        </p:spPr>
        <p:txBody>
          <a:bodyPr spcFirstLastPara="1" wrap="square" lIns="91425" tIns="45700" rIns="91425" bIns="45700" anchor="t" anchorCtr="0">
            <a:normAutofit/>
          </a:bodyPr>
          <a:lstStyle/>
          <a:p>
            <a:pPr marL="0" marR="0" lvl="0" indent="0" algn="l" rtl="0">
              <a:lnSpc>
                <a:spcPct val="150000"/>
              </a:lnSpc>
              <a:spcBef>
                <a:spcPts val="0"/>
              </a:spcBef>
              <a:spcAft>
                <a:spcPts val="0"/>
              </a:spcAft>
              <a:buClr>
                <a:srgbClr val="E89756"/>
              </a:buClr>
              <a:buSzPts val="1800"/>
              <a:buFont typeface="Noto Sans Symbols"/>
              <a:buNone/>
            </a:pPr>
            <a:endParaRPr sz="1800" b="0" i="0" u="none" strike="noStrike" cap="none">
              <a:solidFill>
                <a:srgbClr val="000000"/>
              </a:solidFill>
              <a:latin typeface="Calibri"/>
              <a:ea typeface="Calibri"/>
              <a:cs typeface="Calibri"/>
              <a:sym typeface="Calibri"/>
            </a:endParaRPr>
          </a:p>
        </p:txBody>
      </p:sp>
      <p:sp>
        <p:nvSpPr>
          <p:cNvPr id="384" name="Google Shape;384;p37"/>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
        <p:nvSpPr>
          <p:cNvPr id="385" name="Google Shape;385;p37"/>
          <p:cNvSpPr txBox="1">
            <a:spLocks noGrp="1"/>
          </p:cNvSpPr>
          <p:nvPr>
            <p:ph type="body" idx="1"/>
          </p:nvPr>
        </p:nvSpPr>
        <p:spPr>
          <a:xfrm>
            <a:off x="406550" y="986900"/>
            <a:ext cx="11394300" cy="49263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[1] G´eron, A. (2019). Hands-On Machine Learning with Scikit-Learn, Keras, and Tensor-</a:t>
            </a:r>
            <a:endParaRPr/>
          </a:p>
          <a:p>
            <a:pPr marL="0" lvl="0" indent="0" algn="l" rtl="0">
              <a:spcBef>
                <a:spcPts val="1000"/>
              </a:spcBef>
              <a:spcAft>
                <a:spcPts val="0"/>
              </a:spcAft>
              <a:buNone/>
            </a:pPr>
            <a:r>
              <a:rPr lang="en-US"/>
              <a:t>Flow. O’Reilly Media.</a:t>
            </a:r>
            <a:endParaRPr/>
          </a:p>
          <a:p>
            <a:pPr marL="0" lvl="0" indent="0" algn="l" rtl="0">
              <a:spcBef>
                <a:spcPts val="1000"/>
              </a:spcBef>
              <a:spcAft>
                <a:spcPts val="0"/>
              </a:spcAft>
              <a:buNone/>
            </a:pPr>
            <a:r>
              <a:rPr lang="en-US"/>
              <a:t>[2] James, G., Witten, D., Hastie, T., &amp; Tibshirani, R. (2013). An Introduction to Statistical</a:t>
            </a:r>
            <a:endParaRPr/>
          </a:p>
          <a:p>
            <a:pPr marL="0" lvl="0" indent="0" algn="l" rtl="0">
              <a:spcBef>
                <a:spcPts val="1000"/>
              </a:spcBef>
              <a:spcAft>
                <a:spcPts val="0"/>
              </a:spcAft>
              <a:buNone/>
            </a:pPr>
            <a:r>
              <a:rPr lang="en-US"/>
              <a:t>Learning. Springer.</a:t>
            </a:r>
            <a:endParaRPr/>
          </a:p>
          <a:p>
            <a:pPr marL="0" lvl="0" indent="0" algn="l" rtl="0">
              <a:spcBef>
                <a:spcPts val="100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C3512"/>
              </a:buClr>
              <a:buSzPts val="6000"/>
              <a:buFont typeface="Calibri"/>
              <a:buNone/>
            </a:pPr>
            <a:r>
              <a:rPr lang="en-US" b="1">
                <a:latin typeface="Calibri"/>
                <a:ea typeface="Calibri"/>
                <a:cs typeface="Calibri"/>
                <a:sym typeface="Calibri"/>
              </a:rPr>
              <a:t>End of Presentation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394"/>
        <p:cNvGrpSpPr/>
        <p:nvPr/>
      </p:nvGrpSpPr>
      <p:grpSpPr>
        <a:xfrm>
          <a:off x="0" y="0"/>
          <a:ext cx="0" cy="0"/>
          <a:chOff x="0" y="0"/>
          <a:chExt cx="0" cy="0"/>
        </a:xfrm>
      </p:grpSpPr>
      <p:sp>
        <p:nvSpPr>
          <p:cNvPr id="395" name="Google Shape;395;p39"/>
          <p:cNvSpPr txBox="1">
            <a:spLocks noGrp="1"/>
          </p:cNvSpPr>
          <p:nvPr>
            <p:ph type="title"/>
          </p:nvPr>
        </p:nvSpPr>
        <p:spPr>
          <a:xfrm>
            <a:off x="4019909" y="64877"/>
            <a:ext cx="7333800" cy="765600"/>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Play"/>
              <a:buNone/>
            </a:pPr>
            <a:r>
              <a:rPr lang="en-US"/>
              <a:t>Templates (To-be deleted)</a:t>
            </a:r>
            <a:endParaRPr/>
          </a:p>
        </p:txBody>
      </p:sp>
      <p:sp>
        <p:nvSpPr>
          <p:cNvPr id="396" name="Google Shape;396;p39"/>
          <p:cNvSpPr txBox="1"/>
          <p:nvPr/>
        </p:nvSpPr>
        <p:spPr>
          <a:xfrm>
            <a:off x="6219464" y="1790329"/>
            <a:ext cx="5134200" cy="4113000"/>
          </a:xfrm>
          <a:prstGeom prst="rect">
            <a:avLst/>
          </a:prstGeom>
          <a:noFill/>
          <a:ln>
            <a:noFill/>
          </a:ln>
        </p:spPr>
        <p:txBody>
          <a:bodyPr spcFirstLastPara="1" wrap="square" lIns="91425" tIns="45700" rIns="91425" bIns="45700" anchor="t" anchorCtr="0">
            <a:normAutofit/>
          </a:bodyPr>
          <a:lstStyle/>
          <a:p>
            <a:pPr marL="0" marR="0" lvl="0" indent="0" algn="l" rtl="0">
              <a:lnSpc>
                <a:spcPct val="150000"/>
              </a:lnSpc>
              <a:spcBef>
                <a:spcPts val="0"/>
              </a:spcBef>
              <a:spcAft>
                <a:spcPts val="0"/>
              </a:spcAft>
              <a:buClr>
                <a:srgbClr val="E89756"/>
              </a:buClr>
              <a:buSzPts val="1800"/>
              <a:buFont typeface="Noto Sans Symbols"/>
              <a:buNone/>
            </a:pPr>
            <a:endParaRPr sz="1800" b="0" i="0" u="none" strike="noStrike" cap="none">
              <a:solidFill>
                <a:srgbClr val="000000"/>
              </a:solidFill>
              <a:latin typeface="Calibri"/>
              <a:ea typeface="Calibri"/>
              <a:cs typeface="Calibri"/>
              <a:sym typeface="Calibri"/>
            </a:endParaRPr>
          </a:p>
        </p:txBody>
      </p:sp>
      <p:sp>
        <p:nvSpPr>
          <p:cNvPr id="397" name="Google Shape;397;p39"/>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grpSp>
        <p:nvGrpSpPr>
          <p:cNvPr id="398" name="Google Shape;398;p39"/>
          <p:cNvGrpSpPr/>
          <p:nvPr/>
        </p:nvGrpSpPr>
        <p:grpSpPr>
          <a:xfrm>
            <a:off x="401637" y="1711275"/>
            <a:ext cx="7848750" cy="522696"/>
            <a:chOff x="-3828700" y="5865400"/>
            <a:chExt cx="7848750" cy="522696"/>
          </a:xfrm>
        </p:grpSpPr>
        <p:pic>
          <p:nvPicPr>
            <p:cNvPr id="399" name="Google Shape;399;p39"/>
            <p:cNvPicPr preferRelativeResize="0"/>
            <p:nvPr/>
          </p:nvPicPr>
          <p:blipFill>
            <a:blip r:embed="rId3">
              <a:alphaModFix/>
            </a:blip>
            <a:stretch>
              <a:fillRect/>
            </a:stretch>
          </p:blipFill>
          <p:spPr>
            <a:xfrm>
              <a:off x="-3828698" y="6349996"/>
              <a:ext cx="7848600" cy="38100"/>
            </a:xfrm>
            <a:prstGeom prst="rect">
              <a:avLst/>
            </a:prstGeom>
            <a:noFill/>
            <a:ln>
              <a:noFill/>
            </a:ln>
          </p:spPr>
        </p:pic>
        <p:pic>
          <p:nvPicPr>
            <p:cNvPr id="400" name="Google Shape;400;p39"/>
            <p:cNvPicPr preferRelativeResize="0"/>
            <p:nvPr/>
          </p:nvPicPr>
          <p:blipFill>
            <a:blip r:embed="rId4">
              <a:alphaModFix/>
            </a:blip>
            <a:stretch>
              <a:fillRect/>
            </a:stretch>
          </p:blipFill>
          <p:spPr>
            <a:xfrm>
              <a:off x="-3828700" y="5865400"/>
              <a:ext cx="133350" cy="495300"/>
            </a:xfrm>
            <a:prstGeom prst="rect">
              <a:avLst/>
            </a:prstGeom>
            <a:noFill/>
            <a:ln>
              <a:noFill/>
            </a:ln>
          </p:spPr>
        </p:pic>
        <p:sp>
          <p:nvSpPr>
            <p:cNvPr id="401" name="Google Shape;401;p39"/>
            <p:cNvSpPr txBox="1"/>
            <p:nvPr/>
          </p:nvSpPr>
          <p:spPr>
            <a:xfrm>
              <a:off x="-3695350" y="5882200"/>
              <a:ext cx="77154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XGBoost Classifier</a:t>
              </a:r>
              <a:endParaRPr sz="1800" b="1">
                <a:solidFill>
                  <a:srgbClr val="0B3512"/>
                </a:solidFill>
                <a:latin typeface="Noto Sans"/>
                <a:ea typeface="Noto Sans"/>
                <a:cs typeface="Noto Sans"/>
                <a:sym typeface="Noto Sans"/>
              </a:endParaRPr>
            </a:p>
          </p:txBody>
        </p:sp>
      </p:grpSp>
      <p:grpSp>
        <p:nvGrpSpPr>
          <p:cNvPr id="402" name="Google Shape;402;p39"/>
          <p:cNvGrpSpPr/>
          <p:nvPr/>
        </p:nvGrpSpPr>
        <p:grpSpPr>
          <a:xfrm>
            <a:off x="406550" y="994175"/>
            <a:ext cx="3924300" cy="514350"/>
            <a:chOff x="7462050" y="7632500"/>
            <a:chExt cx="3924300" cy="514350"/>
          </a:xfrm>
        </p:grpSpPr>
        <p:pic>
          <p:nvPicPr>
            <p:cNvPr id="403" name="Google Shape;403;p39"/>
            <p:cNvPicPr preferRelativeResize="0"/>
            <p:nvPr/>
          </p:nvPicPr>
          <p:blipFill>
            <a:blip r:embed="rId5">
              <a:alphaModFix/>
            </a:blip>
            <a:stretch>
              <a:fillRect/>
            </a:stretch>
          </p:blipFill>
          <p:spPr>
            <a:xfrm>
              <a:off x="7462050" y="8127800"/>
              <a:ext cx="3924300" cy="19050"/>
            </a:xfrm>
            <a:prstGeom prst="rect">
              <a:avLst/>
            </a:prstGeom>
            <a:noFill/>
            <a:ln>
              <a:noFill/>
            </a:ln>
          </p:spPr>
        </p:pic>
        <p:pic>
          <p:nvPicPr>
            <p:cNvPr id="404" name="Google Shape;404;p39"/>
            <p:cNvPicPr preferRelativeResize="0"/>
            <p:nvPr/>
          </p:nvPicPr>
          <p:blipFill>
            <a:blip r:embed="rId4">
              <a:alphaModFix/>
            </a:blip>
            <a:stretch>
              <a:fillRect/>
            </a:stretch>
          </p:blipFill>
          <p:spPr>
            <a:xfrm>
              <a:off x="7462050" y="7632500"/>
              <a:ext cx="133350" cy="495300"/>
            </a:xfrm>
            <a:prstGeom prst="rect">
              <a:avLst/>
            </a:prstGeom>
            <a:noFill/>
            <a:ln>
              <a:noFill/>
            </a:ln>
          </p:spPr>
        </p:pic>
        <p:sp>
          <p:nvSpPr>
            <p:cNvPr id="405" name="Google Shape;405;p39"/>
            <p:cNvSpPr txBox="1"/>
            <p:nvPr/>
          </p:nvSpPr>
          <p:spPr>
            <a:xfrm>
              <a:off x="7595400" y="76541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rgbClr val="0B3512"/>
                  </a:solidFill>
                  <a:latin typeface="Noto Sans"/>
                  <a:ea typeface="Noto Sans"/>
                  <a:cs typeface="Noto Sans"/>
                  <a:sym typeface="Noto Sans"/>
                </a:rPr>
                <a:t>Model Evaluation</a:t>
              </a:r>
              <a:endParaRPr sz="1800" b="1">
                <a:solidFill>
                  <a:srgbClr val="0B3512"/>
                </a:solidFill>
                <a:latin typeface="Noto Sans"/>
                <a:ea typeface="Noto Sans"/>
                <a:cs typeface="Noto Sans"/>
                <a:sym typeface="Noto San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409"/>
        <p:cNvGrpSpPr/>
        <p:nvPr/>
      </p:nvGrpSpPr>
      <p:grpSpPr>
        <a:xfrm>
          <a:off x="0" y="0"/>
          <a:ext cx="0" cy="0"/>
          <a:chOff x="0" y="0"/>
          <a:chExt cx="0" cy="0"/>
        </a:xfrm>
      </p:grpSpPr>
      <p:sp>
        <p:nvSpPr>
          <p:cNvPr id="410" name="Google Shape;410;p40"/>
          <p:cNvSpPr txBox="1">
            <a:spLocks noGrp="1"/>
          </p:cNvSpPr>
          <p:nvPr>
            <p:ph type="title"/>
          </p:nvPr>
        </p:nvSpPr>
        <p:spPr>
          <a:xfrm>
            <a:off x="4019909" y="64877"/>
            <a:ext cx="7333800" cy="765600"/>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0C3512"/>
              </a:buClr>
              <a:buSzPts val="4400"/>
              <a:buFont typeface="Calibri"/>
              <a:buNone/>
            </a:pPr>
            <a:r>
              <a:rPr lang="en-US" b="1">
                <a:latin typeface="Calibri"/>
                <a:ea typeface="Calibri"/>
                <a:cs typeface="Calibri"/>
                <a:sym typeface="Calibri"/>
              </a:rPr>
              <a:t>Introduction</a:t>
            </a:r>
            <a:endParaRPr b="1"/>
          </a:p>
        </p:txBody>
      </p:sp>
      <p:sp>
        <p:nvSpPr>
          <p:cNvPr id="411" name="Google Shape;411;p40"/>
          <p:cNvSpPr txBox="1">
            <a:spLocks noGrp="1"/>
          </p:cNvSpPr>
          <p:nvPr>
            <p:ph type="sldNum" idx="12"/>
          </p:nvPr>
        </p:nvSpPr>
        <p:spPr>
          <a:xfrm>
            <a:off x="10774391" y="6492875"/>
            <a:ext cx="1347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
        <p:nvSpPr>
          <p:cNvPr id="412" name="Google Shape;412;p40"/>
          <p:cNvSpPr/>
          <p:nvPr/>
        </p:nvSpPr>
        <p:spPr>
          <a:xfrm>
            <a:off x="559425" y="1020525"/>
            <a:ext cx="2030616" cy="470232"/>
          </a:xfrm>
          <a:prstGeom prst="flowChartTerminator">
            <a:avLst/>
          </a:prstGeom>
          <a:solidFill>
            <a:srgbClr val="0B351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b="1">
                <a:solidFill>
                  <a:schemeClr val="lt1"/>
                </a:solidFill>
                <a:latin typeface="Noto Sans"/>
                <a:ea typeface="Noto Sans"/>
                <a:cs typeface="Noto Sans"/>
                <a:sym typeface="Noto Sans"/>
              </a:rPr>
              <a:t>Problem</a:t>
            </a:r>
            <a:endParaRPr sz="1800" b="1">
              <a:solidFill>
                <a:schemeClr val="lt1"/>
              </a:solidFill>
              <a:latin typeface="Noto Sans"/>
              <a:ea typeface="Noto Sans"/>
              <a:cs typeface="Noto Sans"/>
              <a:sym typeface="Noto Sans"/>
            </a:endParaRPr>
          </a:p>
        </p:txBody>
      </p:sp>
      <p:sp>
        <p:nvSpPr>
          <p:cNvPr id="413" name="Google Shape;413;p40"/>
          <p:cNvSpPr/>
          <p:nvPr/>
        </p:nvSpPr>
        <p:spPr>
          <a:xfrm>
            <a:off x="559425" y="1663300"/>
            <a:ext cx="11241300" cy="1846200"/>
          </a:xfrm>
          <a:prstGeom prst="roundRect">
            <a:avLst>
              <a:gd name="adj" fmla="val 16667"/>
            </a:avLst>
          </a:prstGeom>
          <a:noFill/>
          <a:ln w="19050" cap="flat" cmpd="sng">
            <a:solidFill>
              <a:srgbClr val="0B3512"/>
            </a:solidFill>
            <a:prstDash val="solid"/>
            <a:round/>
            <a:headEnd type="none" w="sm" len="sm"/>
            <a:tailEnd type="none" w="sm" len="sm"/>
          </a:ln>
        </p:spPr>
        <p:txBody>
          <a:bodyPr spcFirstLastPara="1" wrap="square" lIns="91425" tIns="91425" rIns="91425" bIns="91425" anchor="ctr" anchorCtr="0">
            <a:noAutofit/>
          </a:bodyPr>
          <a:lstStyle/>
          <a:p>
            <a:pPr marL="228600" lvl="0" indent="-190500" algn="l" rtl="0">
              <a:lnSpc>
                <a:spcPct val="90000"/>
              </a:lnSpc>
              <a:spcBef>
                <a:spcPts val="1000"/>
              </a:spcBef>
              <a:spcAft>
                <a:spcPts val="0"/>
              </a:spcAft>
              <a:buClr>
                <a:srgbClr val="0C3512"/>
              </a:buClr>
              <a:buSzPts val="1800"/>
              <a:buFont typeface="Noto Sans"/>
              <a:buChar char="•"/>
            </a:pPr>
            <a:r>
              <a:rPr lang="en-US" sz="1800">
                <a:solidFill>
                  <a:srgbClr val="0C3512"/>
                </a:solidFill>
                <a:latin typeface="Noto Sans"/>
                <a:ea typeface="Noto Sans"/>
                <a:cs typeface="Noto Sans"/>
                <a:sym typeface="Noto Sans"/>
              </a:rPr>
              <a:t>Sleep deprivation is a widespread but underdiagnosed health issue.</a:t>
            </a:r>
            <a:endParaRPr sz="1800">
              <a:solidFill>
                <a:srgbClr val="0C3512"/>
              </a:solidFill>
              <a:latin typeface="Noto Sans"/>
              <a:ea typeface="Noto Sans"/>
              <a:cs typeface="Noto Sans"/>
              <a:sym typeface="Noto Sans"/>
            </a:endParaRPr>
          </a:p>
          <a:p>
            <a:pPr marL="228600" lvl="0" indent="-190500" algn="l" rtl="0">
              <a:lnSpc>
                <a:spcPct val="90000"/>
              </a:lnSpc>
              <a:spcBef>
                <a:spcPts val="1000"/>
              </a:spcBef>
              <a:spcAft>
                <a:spcPts val="0"/>
              </a:spcAft>
              <a:buClr>
                <a:srgbClr val="0C3512"/>
              </a:buClr>
              <a:buSzPts val="1800"/>
              <a:buFont typeface="Noto Sans"/>
              <a:buChar char="•"/>
            </a:pPr>
            <a:r>
              <a:rPr lang="en-US" sz="1800">
                <a:solidFill>
                  <a:srgbClr val="0C3512"/>
                </a:solidFill>
                <a:latin typeface="Noto Sans"/>
                <a:ea typeface="Noto Sans"/>
                <a:cs typeface="Noto Sans"/>
                <a:sym typeface="Noto Sans"/>
              </a:rPr>
              <a:t>Symptoms like fatigue often mimic other conditions (e.g., depression, hypertension), making detection difficult.</a:t>
            </a:r>
            <a:endParaRPr sz="1800">
              <a:solidFill>
                <a:srgbClr val="0C3512"/>
              </a:solidFill>
              <a:latin typeface="Noto Sans"/>
              <a:ea typeface="Noto Sans"/>
              <a:cs typeface="Noto Sans"/>
              <a:sym typeface="Noto Sans"/>
            </a:endParaRPr>
          </a:p>
          <a:p>
            <a:pPr marL="228600" lvl="0" indent="-190500" algn="l" rtl="0">
              <a:lnSpc>
                <a:spcPct val="115000"/>
              </a:lnSpc>
              <a:spcBef>
                <a:spcPts val="0"/>
              </a:spcBef>
              <a:spcAft>
                <a:spcPts val="0"/>
              </a:spcAft>
              <a:buClr>
                <a:srgbClr val="0C3512"/>
              </a:buClr>
              <a:buSzPts val="1800"/>
              <a:buFont typeface="Noto Sans"/>
              <a:buChar char="•"/>
            </a:pPr>
            <a:r>
              <a:rPr lang="en-US" sz="1800">
                <a:solidFill>
                  <a:srgbClr val="0C3512"/>
                </a:solidFill>
                <a:latin typeface="Noto Sans"/>
                <a:ea typeface="Noto Sans"/>
                <a:cs typeface="Noto Sans"/>
                <a:sym typeface="Noto Sans"/>
              </a:rPr>
              <a:t>While traditional identification relies on self-reported sleep questionnaires, incorporating health, demographic, and lifestyle factors can more robustly flag sleep deprivation</a:t>
            </a:r>
            <a:r>
              <a:rPr lang="en-US" sz="1800">
                <a:solidFill>
                  <a:srgbClr val="0C3512"/>
                </a:solidFill>
                <a:highlight>
                  <a:srgbClr val="FFF2CC"/>
                </a:highlight>
                <a:latin typeface="Noto Sans"/>
                <a:ea typeface="Noto Sans"/>
                <a:cs typeface="Noto Sans"/>
                <a:sym typeface="Noto Sans"/>
              </a:rPr>
              <a:t> risk.</a:t>
            </a:r>
            <a:endParaRPr sz="1800">
              <a:solidFill>
                <a:srgbClr val="0C3512"/>
              </a:solidFill>
              <a:latin typeface="Noto Sans"/>
              <a:ea typeface="Noto Sans"/>
              <a:cs typeface="Noto Sans"/>
              <a:sym typeface="Noto Sans"/>
            </a:endParaRPr>
          </a:p>
        </p:txBody>
      </p:sp>
      <p:sp>
        <p:nvSpPr>
          <p:cNvPr id="414" name="Google Shape;414;p40"/>
          <p:cNvSpPr/>
          <p:nvPr/>
        </p:nvSpPr>
        <p:spPr>
          <a:xfrm>
            <a:off x="559425" y="3687525"/>
            <a:ext cx="2030616" cy="470232"/>
          </a:xfrm>
          <a:prstGeom prst="flowChartTerminator">
            <a:avLst/>
          </a:prstGeom>
          <a:solidFill>
            <a:srgbClr val="0B351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b="1">
                <a:solidFill>
                  <a:schemeClr val="lt1"/>
                </a:solidFill>
                <a:latin typeface="Noto Sans"/>
                <a:ea typeface="Noto Sans"/>
                <a:cs typeface="Noto Sans"/>
                <a:sym typeface="Noto Sans"/>
              </a:rPr>
              <a:t>Project Goal</a:t>
            </a:r>
            <a:endParaRPr sz="1800" b="1">
              <a:solidFill>
                <a:schemeClr val="lt1"/>
              </a:solidFill>
              <a:latin typeface="Noto Sans"/>
              <a:ea typeface="Noto Sans"/>
              <a:cs typeface="Noto Sans"/>
              <a:sym typeface="Noto Sans"/>
            </a:endParaRPr>
          </a:p>
        </p:txBody>
      </p:sp>
      <p:sp>
        <p:nvSpPr>
          <p:cNvPr id="415" name="Google Shape;415;p40"/>
          <p:cNvSpPr/>
          <p:nvPr/>
        </p:nvSpPr>
        <p:spPr>
          <a:xfrm>
            <a:off x="559425" y="4335775"/>
            <a:ext cx="11241300" cy="2083200"/>
          </a:xfrm>
          <a:prstGeom prst="roundRect">
            <a:avLst>
              <a:gd name="adj" fmla="val 16667"/>
            </a:avLst>
          </a:prstGeom>
          <a:noFill/>
          <a:ln w="19050" cap="flat" cmpd="sng">
            <a:solidFill>
              <a:srgbClr val="0B3512"/>
            </a:solidFill>
            <a:prstDash val="solid"/>
            <a:round/>
            <a:headEnd type="none" w="sm" len="sm"/>
            <a:tailEnd type="none" w="sm" len="sm"/>
          </a:ln>
        </p:spPr>
        <p:txBody>
          <a:bodyPr spcFirstLastPara="1" wrap="square" lIns="91425" tIns="91425" rIns="91425" bIns="91425" anchor="ctr" anchorCtr="0">
            <a:noAutofit/>
          </a:bodyPr>
          <a:lstStyle/>
          <a:p>
            <a:pPr marL="228600" marR="0" lvl="0" indent="-190500" algn="l" rtl="0">
              <a:lnSpc>
                <a:spcPct val="90000"/>
              </a:lnSpc>
              <a:spcBef>
                <a:spcPts val="1000"/>
              </a:spcBef>
              <a:spcAft>
                <a:spcPts val="0"/>
              </a:spcAft>
              <a:buClr>
                <a:srgbClr val="0C3512"/>
              </a:buClr>
              <a:buSzPts val="1800"/>
              <a:buFont typeface="Noto Sans"/>
              <a:buChar char="•"/>
            </a:pPr>
            <a:r>
              <a:rPr lang="en-US" sz="1800">
                <a:solidFill>
                  <a:srgbClr val="0C3512"/>
                </a:solidFill>
                <a:highlight>
                  <a:srgbClr val="FFF2CC"/>
                </a:highlight>
                <a:latin typeface="Noto Sans"/>
                <a:ea typeface="Noto Sans"/>
                <a:cs typeface="Noto Sans"/>
                <a:sym typeface="Noto Sans"/>
              </a:rPr>
              <a:t>Develop a predictive model to flag individuals at risk of sleep deprivation using existing clinical and survey data</a:t>
            </a:r>
            <a:endParaRPr sz="1800">
              <a:solidFill>
                <a:srgbClr val="0C3512"/>
              </a:solidFill>
              <a:highlight>
                <a:srgbClr val="FFF2CC"/>
              </a:highlight>
              <a:latin typeface="Noto Sans"/>
              <a:ea typeface="Noto Sans"/>
              <a:cs typeface="Noto Sans"/>
              <a:sym typeface="Noto Sans"/>
            </a:endParaRPr>
          </a:p>
          <a:p>
            <a:pPr marL="228600" marR="0" lvl="0" indent="-190500" algn="l" rtl="0">
              <a:lnSpc>
                <a:spcPct val="90000"/>
              </a:lnSpc>
              <a:spcBef>
                <a:spcPts val="1000"/>
              </a:spcBef>
              <a:spcAft>
                <a:spcPts val="0"/>
              </a:spcAft>
              <a:buClr>
                <a:srgbClr val="0C3512"/>
              </a:buClr>
              <a:buSzPts val="1800"/>
              <a:buFont typeface="Noto Sans"/>
              <a:buChar char="•"/>
            </a:pPr>
            <a:r>
              <a:rPr lang="en-US" sz="1800">
                <a:solidFill>
                  <a:srgbClr val="0C3512"/>
                </a:solidFill>
                <a:highlight>
                  <a:srgbClr val="FFF2CC"/>
                </a:highlight>
                <a:latin typeface="Noto Sans"/>
                <a:ea typeface="Noto Sans"/>
                <a:cs typeface="Noto Sans"/>
                <a:sym typeface="Noto Sans"/>
              </a:rPr>
              <a:t>Identify key determinants of sleep deprivation, focusing on demographic factors, health behaviors, and biological markers.</a:t>
            </a:r>
            <a:endParaRPr sz="1800">
              <a:solidFill>
                <a:srgbClr val="0C3512"/>
              </a:solidFill>
              <a:highlight>
                <a:srgbClr val="FFF2CC"/>
              </a:highlight>
              <a:latin typeface="Noto Sans"/>
              <a:ea typeface="Noto Sans"/>
              <a:cs typeface="Noto Sans"/>
              <a:sym typeface="Noto Sans"/>
            </a:endParaRPr>
          </a:p>
          <a:p>
            <a:pPr marL="228600" marR="0" lvl="0" indent="-190500" algn="l" rtl="0">
              <a:lnSpc>
                <a:spcPct val="90000"/>
              </a:lnSpc>
              <a:spcBef>
                <a:spcPts val="1000"/>
              </a:spcBef>
              <a:spcAft>
                <a:spcPts val="0"/>
              </a:spcAft>
              <a:buClr>
                <a:srgbClr val="0C3512"/>
              </a:buClr>
              <a:buSzPts val="1800"/>
              <a:buFont typeface="Noto Sans"/>
              <a:buChar char="•"/>
            </a:pPr>
            <a:r>
              <a:rPr lang="en-US" sz="1800">
                <a:solidFill>
                  <a:srgbClr val="0C3512"/>
                </a:solidFill>
                <a:highlight>
                  <a:srgbClr val="FFF2CC"/>
                </a:highlight>
                <a:latin typeface="Noto Sans"/>
                <a:ea typeface="Noto Sans"/>
                <a:cs typeface="Noto Sans"/>
                <a:sym typeface="Noto Sans"/>
              </a:rPr>
              <a:t>Support healthcare providers with a low-cost, scalable screening tool for routine visits.</a:t>
            </a:r>
            <a:endParaRPr sz="1800">
              <a:solidFill>
                <a:srgbClr val="0C3512"/>
              </a:solidFill>
              <a:highlight>
                <a:srgbClr val="FFF2CC"/>
              </a:highlight>
              <a:latin typeface="Noto Sans"/>
              <a:ea typeface="Noto Sans"/>
              <a:cs typeface="Noto Sans"/>
              <a:sym typeface="Noto Sans"/>
            </a:endParaRPr>
          </a:p>
          <a:p>
            <a:pPr marL="228600" marR="0" lvl="0" indent="-190500" algn="l" rtl="0">
              <a:lnSpc>
                <a:spcPct val="90000"/>
              </a:lnSpc>
              <a:spcBef>
                <a:spcPts val="1000"/>
              </a:spcBef>
              <a:spcAft>
                <a:spcPts val="0"/>
              </a:spcAft>
              <a:buClr>
                <a:srgbClr val="0C3512"/>
              </a:buClr>
              <a:buSzPts val="1800"/>
              <a:buFont typeface="Noto Sans"/>
              <a:buChar char="•"/>
            </a:pPr>
            <a:r>
              <a:rPr lang="en-US" sz="1800">
                <a:solidFill>
                  <a:srgbClr val="0C3512"/>
                </a:solidFill>
                <a:highlight>
                  <a:srgbClr val="FFF2CC"/>
                </a:highlight>
                <a:latin typeface="Noto Sans"/>
                <a:ea typeface="Noto Sans"/>
                <a:cs typeface="Noto Sans"/>
                <a:sym typeface="Noto Sans"/>
              </a:rPr>
              <a:t>Raise public and clinical awareness about sleep health using U.S. population-level data (NHANES).</a:t>
            </a:r>
            <a:endParaRPr sz="1800">
              <a:solidFill>
                <a:srgbClr val="0C3512"/>
              </a:solidFill>
              <a:latin typeface="Noto Sans"/>
              <a:ea typeface="Noto Sans"/>
              <a:cs typeface="Noto Sans"/>
              <a:sym typeface="Noto Sa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4548</Words>
  <Application>Microsoft Office PowerPoint</Application>
  <PresentationFormat>Widescreen</PresentationFormat>
  <Paragraphs>601</Paragraphs>
  <Slides>28</Slides>
  <Notes>28</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Roboto Mono</vt:lpstr>
      <vt:lpstr>Play</vt:lpstr>
      <vt:lpstr>Noto Sans Symbols</vt:lpstr>
      <vt:lpstr>Garamond</vt:lpstr>
      <vt:lpstr>Noto Sans</vt:lpstr>
      <vt:lpstr>Office Theme</vt:lpstr>
      <vt:lpstr>Inferring Sleep Deprivation Risk Patterns from NHANES Data</vt:lpstr>
      <vt:lpstr>Outline</vt:lpstr>
      <vt:lpstr>Introduction</vt:lpstr>
      <vt:lpstr>Dataset Overview</vt:lpstr>
      <vt:lpstr>Dataset Overview</vt:lpstr>
      <vt:lpstr>Data Cleaning &amp; Preprocessing</vt:lpstr>
      <vt:lpstr>Data Cleaning &amp; Preprocessing</vt:lpstr>
      <vt:lpstr>EDA on Selected Features</vt:lpstr>
      <vt:lpstr>EDA on Selected Features</vt:lpstr>
      <vt:lpstr>EDA on Selected Features</vt:lpstr>
      <vt:lpstr>Feature Engineering</vt:lpstr>
      <vt:lpstr>Modeling: Baseline (Rule-based)</vt:lpstr>
      <vt:lpstr>Modeling: Ensemble (Boosting)</vt:lpstr>
      <vt:lpstr>Modeling: Neural Network</vt:lpstr>
      <vt:lpstr>Modeling: Ensemble (Stacking)</vt:lpstr>
      <vt:lpstr>Modeling: GLM – Model Selection</vt:lpstr>
      <vt:lpstr>Modeling: GLM – Model Validation</vt:lpstr>
      <vt:lpstr>Modeling: GLM – Model Validation</vt:lpstr>
      <vt:lpstr>Model Evaluation</vt:lpstr>
      <vt:lpstr>Model Evaluation</vt:lpstr>
      <vt:lpstr>Model Evaluation</vt:lpstr>
      <vt:lpstr>Model Evaluation</vt:lpstr>
      <vt:lpstr>Conclusion</vt:lpstr>
      <vt:lpstr>Challenges</vt:lpstr>
      <vt:lpstr>Appendix: References</vt:lpstr>
      <vt:lpstr>End of Presentation</vt:lpstr>
      <vt:lpstr>Templates (To-be deleted)</vt:lpstr>
      <vt:lpstr>Introduction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Pietono, Victor</cp:lastModifiedBy>
  <cp:revision>2</cp:revision>
  <dcterms:modified xsi:type="dcterms:W3CDTF">2025-05-01T22:54:22Z</dcterms:modified>
</cp:coreProperties>
</file>